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ARR (Rs. Lakhs)</c:v>
                </c:pt>
              </c:strCache>
            </c:strRef>
          </c:tx>
          <c:spPr>
            <a:solidFill>
              <a:srgbClr val="00B37D"/>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M12</c:v>
                  </c:pt>
                  <c:pt idx="1">
                    <c:v>M18</c:v>
                  </c:pt>
                  <c:pt idx="2">
                    <c:v>M24</c:v>
                  </c:pt>
                  <c:pt idx="3">
                    <c:v>M30</c:v>
                  </c:pt>
                  <c:pt idx="4">
                    <c:v>M36</c:v>
                  </c:pt>
                </c:lvl>
              </c:multiLvlStrCache>
            </c:multiLvlStrRef>
          </c:cat>
          <c:val>
            <c:numRef>
              <c:f>Sheet1!$B$2:$B$6</c:f>
              <c:numCache>
                <c:formatCode>General</c:formatCode>
                <c:ptCount val="5"/>
                <c:pt idx="0">
                  <c:v>13</c:v>
                </c:pt>
                <c:pt idx="1">
                  <c:v>37.8</c:v>
                </c:pt>
                <c:pt idx="2">
                  <c:v>193</c:v>
                </c:pt>
                <c:pt idx="3">
                  <c:v>750</c:v>
                </c:pt>
                <c:pt idx="4">
                  <c:v>1800</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8888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33333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888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A1A1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6858000" y="-1371600"/>
            <a:ext cx="4572000" cy="4572000"/>
          </a:xfrm>
          <a:prstGeom prst="ellipse">
            <a:avLst/>
          </a:prstGeom>
          <a:solidFill>
            <a:srgbClr val="00B37D">
              <a:alpha val="15000"/>
            </a:srgbClr>
          </a:solidFill>
          <a:ln w="12700">
            <a:solidFill>
              <a:srgbClr val="00B37D"/>
            </a:solidFill>
            <a:prstDash val="solid"/>
          </a:ln>
        </p:spPr>
      </p:sp>
      <p:sp>
        <p:nvSpPr>
          <p:cNvPr id="3" name="Shape 1"/>
          <p:cNvSpPr/>
          <p:nvPr/>
        </p:nvSpPr>
        <p:spPr>
          <a:xfrm>
            <a:off x="-914400" y="3200400"/>
            <a:ext cx="2743200" cy="2743200"/>
          </a:xfrm>
          <a:prstGeom prst="ellipse">
            <a:avLst/>
          </a:prstGeom>
          <a:solidFill>
            <a:srgbClr val="00B37D">
              <a:alpha val="10000"/>
            </a:srgbClr>
          </a:solidFill>
          <a:ln w="12700">
            <a:solidFill>
              <a:srgbClr val="00B37D"/>
            </a:solidFill>
            <a:prstDash val="solid"/>
          </a:ln>
        </p:spPr>
      </p:sp>
      <p:sp>
        <p:nvSpPr>
          <p:cNvPr id="4" name="Text 2"/>
          <p:cNvSpPr/>
          <p:nvPr/>
        </p:nvSpPr>
        <p:spPr>
          <a:xfrm>
            <a:off x="457200" y="320040"/>
            <a:ext cx="1280160" cy="64008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Avi</a:t>
            </a:r>
            <a:endParaRPr lang="en-US" sz="4200" dirty="0"/>
          </a:p>
        </p:txBody>
      </p:sp>
      <p:sp>
        <p:nvSpPr>
          <p:cNvPr id="5" name="Text 3"/>
          <p:cNvSpPr/>
          <p:nvPr/>
        </p:nvSpPr>
        <p:spPr>
          <a:xfrm>
            <a:off x="1463040" y="320040"/>
            <a:ext cx="914400" cy="640080"/>
          </a:xfrm>
          <a:prstGeom prst="rect">
            <a:avLst/>
          </a:prstGeom>
          <a:noFill/>
          <a:ln/>
        </p:spPr>
        <p:txBody>
          <a:bodyPr wrap="square" lIns="0" tIns="0" rIns="0" bIns="0" rtlCol="0" anchor="ctr"/>
          <a:lstStyle/>
          <a:p>
            <a:pPr indent="0" marL="0">
              <a:buNone/>
            </a:pPr>
            <a:r>
              <a:rPr lang="en-US" sz="4200" b="1" dirty="0">
                <a:solidFill>
                  <a:srgbClr val="00B37D"/>
                </a:solidFill>
                <a:latin typeface="Calibri" pitchFamily="34" charset="0"/>
                <a:ea typeface="Calibri" pitchFamily="34" charset="-122"/>
                <a:cs typeface="Calibri" pitchFamily="34" charset="-120"/>
              </a:rPr>
              <a:t>QR</a:t>
            </a:r>
            <a:endParaRPr lang="en-US" sz="4200" dirty="0"/>
          </a:p>
        </p:txBody>
      </p:sp>
      <p:sp>
        <p:nvSpPr>
          <p:cNvPr id="6" name="Text 4"/>
          <p:cNvSpPr/>
          <p:nvPr/>
        </p:nvSpPr>
        <p:spPr>
          <a:xfrm>
            <a:off x="457200" y="914400"/>
            <a:ext cx="4572000" cy="274320"/>
          </a:xfrm>
          <a:prstGeom prst="rect">
            <a:avLst/>
          </a:prstGeom>
          <a:noFill/>
          <a:ln/>
        </p:spPr>
        <p:txBody>
          <a:bodyPr wrap="square" rtlCol="0" anchor="ctr"/>
          <a:lstStyle/>
          <a:p>
            <a:pPr indent="0" marL="0">
              <a:buNone/>
            </a:pPr>
            <a:r>
              <a:rPr lang="en-US" sz="1000" i="1" dirty="0">
                <a:solidFill>
                  <a:srgbClr val="888888"/>
                </a:solidFill>
                <a:latin typeface="Calibri" pitchFamily="34" charset="0"/>
                <a:ea typeface="Calibri" pitchFamily="34" charset="-122"/>
                <a:cs typeface="Calibri" pitchFamily="34" charset="-120"/>
              </a:rPr>
              <a:t>pronounced  A · V · I · Q · R</a:t>
            </a:r>
            <a:endParaRPr lang="en-US" sz="1000" dirty="0"/>
          </a:p>
        </p:txBody>
      </p:sp>
      <p:sp>
        <p:nvSpPr>
          <p:cNvPr id="7" name="Text 5"/>
          <p:cNvSpPr/>
          <p:nvPr/>
        </p:nvSpPr>
        <p:spPr>
          <a:xfrm>
            <a:off x="457200" y="1371600"/>
            <a:ext cx="68580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From paper menu to live QR in 15 minutes.</a:t>
            </a:r>
            <a:endParaRPr lang="en-US" sz="2800" dirty="0"/>
          </a:p>
        </p:txBody>
      </p:sp>
      <p:sp>
        <p:nvSpPr>
          <p:cNvPr id="8" name="Text 6"/>
          <p:cNvSpPr/>
          <p:nvPr/>
        </p:nvSpPr>
        <p:spPr>
          <a:xfrm>
            <a:off x="457200" y="2103120"/>
            <a:ext cx="5943600" cy="640080"/>
          </a:xfrm>
          <a:prstGeom prst="rect">
            <a:avLst/>
          </a:prstGeom>
          <a:noFill/>
          <a:ln/>
        </p:spPr>
        <p:txBody>
          <a:bodyPr wrap="square" rtlCol="0" anchor="ctr"/>
          <a:lstStyle/>
          <a:p>
            <a:pPr indent="0" marL="0">
              <a:buNone/>
            </a:pPr>
            <a:r>
              <a:rPr lang="en-US" sz="1300" dirty="0">
                <a:solidFill>
                  <a:srgbClr val="CCCCCC"/>
                </a:solidFill>
                <a:latin typeface="Calibri" pitchFamily="34" charset="0"/>
                <a:ea typeface="Calibri" pitchFamily="34" charset="-122"/>
                <a:cs typeface="Calibri" pitchFamily="34" charset="-120"/>
              </a:rPr>
              <a:t>The only QR ordering platform with AI-powered OCR, dynamic pricing, and permanent QR codes — built for India's 7.5 million restaurants.</a:t>
            </a:r>
            <a:endParaRPr lang="en-US" sz="1300" dirty="0"/>
          </a:p>
        </p:txBody>
      </p:sp>
      <p:sp>
        <p:nvSpPr>
          <p:cNvPr id="9" name="Shape 7"/>
          <p:cNvSpPr/>
          <p:nvPr/>
        </p:nvSpPr>
        <p:spPr>
          <a:xfrm>
            <a:off x="457200" y="2926080"/>
            <a:ext cx="1920240" cy="822960"/>
          </a:xfrm>
          <a:prstGeom prst="roundRect">
            <a:avLst>
              <a:gd name="adj" fmla="val 8889"/>
            </a:avLst>
          </a:prstGeom>
          <a:solidFill>
            <a:srgbClr val="222222"/>
          </a:solidFill>
          <a:ln w="12700">
            <a:solidFill>
              <a:srgbClr val="00B37D"/>
            </a:solidFill>
            <a:prstDash val="solid"/>
          </a:ln>
        </p:spPr>
      </p:sp>
      <p:sp>
        <p:nvSpPr>
          <p:cNvPr id="10" name="Text 8"/>
          <p:cNvSpPr/>
          <p:nvPr/>
        </p:nvSpPr>
        <p:spPr>
          <a:xfrm>
            <a:off x="502920" y="2971800"/>
            <a:ext cx="1828800" cy="365760"/>
          </a:xfrm>
          <a:prstGeom prst="rect">
            <a:avLst/>
          </a:prstGeom>
          <a:noFill/>
          <a:ln/>
        </p:spPr>
        <p:txBody>
          <a:bodyPr wrap="square" rtlCol="0" anchor="ctr"/>
          <a:lstStyle/>
          <a:p>
            <a:pPr algn="ctr" indent="0" marL="0">
              <a:buNone/>
            </a:pPr>
            <a:r>
              <a:rPr lang="en-US" sz="1800" b="1" dirty="0">
                <a:solidFill>
                  <a:srgbClr val="00B37D"/>
                </a:solidFill>
                <a:latin typeface="Calibri" pitchFamily="34" charset="0"/>
                <a:ea typeface="Calibri" pitchFamily="34" charset="-122"/>
                <a:cs typeface="Calibri" pitchFamily="34" charset="-120"/>
              </a:rPr>
              <a:t>Rs.1.5Cr</a:t>
            </a:r>
            <a:endParaRPr lang="en-US" sz="1800" dirty="0"/>
          </a:p>
        </p:txBody>
      </p:sp>
      <p:sp>
        <p:nvSpPr>
          <p:cNvPr id="11" name="Text 9"/>
          <p:cNvSpPr/>
          <p:nvPr/>
        </p:nvSpPr>
        <p:spPr>
          <a:xfrm>
            <a:off x="502920" y="3337560"/>
            <a:ext cx="1828800" cy="274320"/>
          </a:xfrm>
          <a:prstGeom prst="rect">
            <a:avLst/>
          </a:prstGeom>
          <a:noFill/>
          <a:ln/>
        </p:spPr>
        <p:txBody>
          <a:bodyPr wrap="square" rtlCol="0" anchor="ctr"/>
          <a:lstStyle/>
          <a:p>
            <a:pPr algn="ctr" indent="0" marL="0">
              <a:buNone/>
            </a:pPr>
            <a:r>
              <a:rPr lang="en-US" sz="900" dirty="0">
                <a:solidFill>
                  <a:srgbClr val="888888"/>
                </a:solidFill>
                <a:latin typeface="Calibri" pitchFamily="34" charset="0"/>
                <a:ea typeface="Calibri" pitchFamily="34" charset="-122"/>
                <a:cs typeface="Calibri" pitchFamily="34" charset="-120"/>
              </a:rPr>
              <a:t>Seed ask</a:t>
            </a:r>
            <a:endParaRPr lang="en-US" sz="900" dirty="0"/>
          </a:p>
        </p:txBody>
      </p:sp>
      <p:sp>
        <p:nvSpPr>
          <p:cNvPr id="12" name="Shape 10"/>
          <p:cNvSpPr/>
          <p:nvPr/>
        </p:nvSpPr>
        <p:spPr>
          <a:xfrm>
            <a:off x="2560320" y="2926080"/>
            <a:ext cx="1920240" cy="822960"/>
          </a:xfrm>
          <a:prstGeom prst="roundRect">
            <a:avLst>
              <a:gd name="adj" fmla="val 8889"/>
            </a:avLst>
          </a:prstGeom>
          <a:solidFill>
            <a:srgbClr val="222222"/>
          </a:solidFill>
          <a:ln w="12700">
            <a:solidFill>
              <a:srgbClr val="00B37D"/>
            </a:solidFill>
            <a:prstDash val="solid"/>
          </a:ln>
        </p:spPr>
      </p:sp>
      <p:sp>
        <p:nvSpPr>
          <p:cNvPr id="13" name="Text 11"/>
          <p:cNvSpPr/>
          <p:nvPr/>
        </p:nvSpPr>
        <p:spPr>
          <a:xfrm>
            <a:off x="2606040" y="2971800"/>
            <a:ext cx="1828800" cy="365760"/>
          </a:xfrm>
          <a:prstGeom prst="rect">
            <a:avLst/>
          </a:prstGeom>
          <a:noFill/>
          <a:ln/>
        </p:spPr>
        <p:txBody>
          <a:bodyPr wrap="square" rtlCol="0" anchor="ctr"/>
          <a:lstStyle/>
          <a:p>
            <a:pPr algn="ctr" indent="0" marL="0">
              <a:buNone/>
            </a:pPr>
            <a:r>
              <a:rPr lang="en-US" sz="1800" b="1" dirty="0">
                <a:solidFill>
                  <a:srgbClr val="00B37D"/>
                </a:solidFill>
                <a:latin typeface="Calibri" pitchFamily="34" charset="0"/>
                <a:ea typeface="Calibri" pitchFamily="34" charset="-122"/>
                <a:cs typeface="Calibri" pitchFamily="34" charset="-120"/>
              </a:rPr>
              <a:t>15 min</a:t>
            </a:r>
            <a:endParaRPr lang="en-US" sz="1800" dirty="0"/>
          </a:p>
        </p:txBody>
      </p:sp>
      <p:sp>
        <p:nvSpPr>
          <p:cNvPr id="14" name="Text 12"/>
          <p:cNvSpPr/>
          <p:nvPr/>
        </p:nvSpPr>
        <p:spPr>
          <a:xfrm>
            <a:off x="2606040" y="3337560"/>
            <a:ext cx="1828800" cy="274320"/>
          </a:xfrm>
          <a:prstGeom prst="rect">
            <a:avLst/>
          </a:prstGeom>
          <a:noFill/>
          <a:ln/>
        </p:spPr>
        <p:txBody>
          <a:bodyPr wrap="square" rtlCol="0" anchor="ctr"/>
          <a:lstStyle/>
          <a:p>
            <a:pPr algn="ctr" indent="0" marL="0">
              <a:buNone/>
            </a:pPr>
            <a:r>
              <a:rPr lang="en-US" sz="900" dirty="0">
                <a:solidFill>
                  <a:srgbClr val="888888"/>
                </a:solidFill>
                <a:latin typeface="Calibri" pitchFamily="34" charset="0"/>
                <a:ea typeface="Calibri" pitchFamily="34" charset="-122"/>
                <a:cs typeface="Calibri" pitchFamily="34" charset="-120"/>
              </a:rPr>
              <a:t>Time to live</a:t>
            </a:r>
            <a:endParaRPr lang="en-US" sz="900" dirty="0"/>
          </a:p>
        </p:txBody>
      </p:sp>
      <p:sp>
        <p:nvSpPr>
          <p:cNvPr id="15" name="Shape 13"/>
          <p:cNvSpPr/>
          <p:nvPr/>
        </p:nvSpPr>
        <p:spPr>
          <a:xfrm>
            <a:off x="4663440" y="2926080"/>
            <a:ext cx="1920240" cy="822960"/>
          </a:xfrm>
          <a:prstGeom prst="roundRect">
            <a:avLst>
              <a:gd name="adj" fmla="val 8889"/>
            </a:avLst>
          </a:prstGeom>
          <a:solidFill>
            <a:srgbClr val="222222"/>
          </a:solidFill>
          <a:ln w="12700">
            <a:solidFill>
              <a:srgbClr val="00B37D"/>
            </a:solidFill>
            <a:prstDash val="solid"/>
          </a:ln>
        </p:spPr>
      </p:sp>
      <p:sp>
        <p:nvSpPr>
          <p:cNvPr id="16" name="Text 14"/>
          <p:cNvSpPr/>
          <p:nvPr/>
        </p:nvSpPr>
        <p:spPr>
          <a:xfrm>
            <a:off x="4709160" y="2971800"/>
            <a:ext cx="1828800" cy="365760"/>
          </a:xfrm>
          <a:prstGeom prst="rect">
            <a:avLst/>
          </a:prstGeom>
          <a:noFill/>
          <a:ln/>
        </p:spPr>
        <p:txBody>
          <a:bodyPr wrap="square" rtlCol="0" anchor="ctr"/>
          <a:lstStyle/>
          <a:p>
            <a:pPr algn="ctr" indent="0" marL="0">
              <a:buNone/>
            </a:pPr>
            <a:r>
              <a:rPr lang="en-US" sz="1800" b="1" dirty="0">
                <a:solidFill>
                  <a:srgbClr val="00B37D"/>
                </a:solidFill>
                <a:latin typeface="Calibri" pitchFamily="34" charset="0"/>
                <a:ea typeface="Calibri" pitchFamily="34" charset="-122"/>
                <a:cs typeface="Calibri" pitchFamily="34" charset="-120"/>
              </a:rPr>
              <a:t>5,000</a:t>
            </a:r>
            <a:endParaRPr lang="en-US" sz="1800" dirty="0"/>
          </a:p>
        </p:txBody>
      </p:sp>
      <p:sp>
        <p:nvSpPr>
          <p:cNvPr id="17" name="Text 15"/>
          <p:cNvSpPr/>
          <p:nvPr/>
        </p:nvSpPr>
        <p:spPr>
          <a:xfrm>
            <a:off x="4709160" y="3337560"/>
            <a:ext cx="1828800" cy="274320"/>
          </a:xfrm>
          <a:prstGeom prst="rect">
            <a:avLst/>
          </a:prstGeom>
          <a:noFill/>
          <a:ln/>
        </p:spPr>
        <p:txBody>
          <a:bodyPr wrap="square" rtlCol="0" anchor="ctr"/>
          <a:lstStyle/>
          <a:p>
            <a:pPr algn="ctr" indent="0" marL="0">
              <a:buNone/>
            </a:pPr>
            <a:r>
              <a:rPr lang="en-US" sz="900" dirty="0">
                <a:solidFill>
                  <a:srgbClr val="888888"/>
                </a:solidFill>
                <a:latin typeface="Calibri" pitchFamily="34" charset="0"/>
                <a:ea typeface="Calibri" pitchFamily="34" charset="-122"/>
                <a:cs typeface="Calibri" pitchFamily="34" charset="-120"/>
              </a:rPr>
              <a:t>Outlets by Y3</a:t>
            </a:r>
            <a:endParaRPr lang="en-US" sz="900" dirty="0"/>
          </a:p>
        </p:txBody>
      </p:sp>
      <p:sp>
        <p:nvSpPr>
          <p:cNvPr id="18" name="Shape 16"/>
          <p:cNvSpPr/>
          <p:nvPr/>
        </p:nvSpPr>
        <p:spPr>
          <a:xfrm>
            <a:off x="6766560" y="2926080"/>
            <a:ext cx="1920240" cy="822960"/>
          </a:xfrm>
          <a:prstGeom prst="roundRect">
            <a:avLst>
              <a:gd name="adj" fmla="val 8889"/>
            </a:avLst>
          </a:prstGeom>
          <a:solidFill>
            <a:srgbClr val="222222"/>
          </a:solidFill>
          <a:ln w="12700">
            <a:solidFill>
              <a:srgbClr val="00B37D"/>
            </a:solidFill>
            <a:prstDash val="solid"/>
          </a:ln>
        </p:spPr>
      </p:sp>
      <p:sp>
        <p:nvSpPr>
          <p:cNvPr id="19" name="Text 17"/>
          <p:cNvSpPr/>
          <p:nvPr/>
        </p:nvSpPr>
        <p:spPr>
          <a:xfrm>
            <a:off x="6812280" y="2971800"/>
            <a:ext cx="1828800" cy="365760"/>
          </a:xfrm>
          <a:prstGeom prst="rect">
            <a:avLst/>
          </a:prstGeom>
          <a:noFill/>
          <a:ln/>
        </p:spPr>
        <p:txBody>
          <a:bodyPr wrap="square" rtlCol="0" anchor="ctr"/>
          <a:lstStyle/>
          <a:p>
            <a:pPr algn="ctr" indent="0" marL="0">
              <a:buNone/>
            </a:pPr>
            <a:r>
              <a:rPr lang="en-US" sz="1800" b="1" dirty="0">
                <a:solidFill>
                  <a:srgbClr val="00B37D"/>
                </a:solidFill>
                <a:latin typeface="Calibri" pitchFamily="34" charset="0"/>
                <a:ea typeface="Calibri" pitchFamily="34" charset="-122"/>
                <a:cs typeface="Calibri" pitchFamily="34" charset="-120"/>
              </a:rPr>
              <a:t>Rs.18Cr</a:t>
            </a:r>
            <a:endParaRPr lang="en-US" sz="1800" dirty="0"/>
          </a:p>
        </p:txBody>
      </p:sp>
      <p:sp>
        <p:nvSpPr>
          <p:cNvPr id="20" name="Text 18"/>
          <p:cNvSpPr/>
          <p:nvPr/>
        </p:nvSpPr>
        <p:spPr>
          <a:xfrm>
            <a:off x="6812280" y="3337560"/>
            <a:ext cx="1828800" cy="274320"/>
          </a:xfrm>
          <a:prstGeom prst="rect">
            <a:avLst/>
          </a:prstGeom>
          <a:noFill/>
          <a:ln/>
        </p:spPr>
        <p:txBody>
          <a:bodyPr wrap="square" rtlCol="0" anchor="ctr"/>
          <a:lstStyle/>
          <a:p>
            <a:pPr algn="ctr" indent="0" marL="0">
              <a:buNone/>
            </a:pPr>
            <a:r>
              <a:rPr lang="en-US" sz="900" dirty="0">
                <a:solidFill>
                  <a:srgbClr val="888888"/>
                </a:solidFill>
                <a:latin typeface="Calibri" pitchFamily="34" charset="0"/>
                <a:ea typeface="Calibri" pitchFamily="34" charset="-122"/>
                <a:cs typeface="Calibri" pitchFamily="34" charset="-120"/>
              </a:rPr>
              <a:t>Y3 ARR target</a:t>
            </a:r>
            <a:endParaRPr lang="en-US" sz="900" dirty="0"/>
          </a:p>
        </p:txBody>
      </p:sp>
      <p:sp>
        <p:nvSpPr>
          <p:cNvPr id="21" name="Shape 19"/>
          <p:cNvSpPr/>
          <p:nvPr/>
        </p:nvSpPr>
        <p:spPr>
          <a:xfrm>
            <a:off x="457200" y="3931920"/>
            <a:ext cx="4114800" cy="548640"/>
          </a:xfrm>
          <a:prstGeom prst="roundRect">
            <a:avLst>
              <a:gd name="adj" fmla="val 13333"/>
            </a:avLst>
          </a:prstGeom>
          <a:solidFill>
            <a:srgbClr val="00B37D"/>
          </a:solidFill>
          <a:ln w="12700">
            <a:solidFill>
              <a:srgbClr val="00B37D"/>
            </a:solidFill>
            <a:prstDash val="solid"/>
          </a:ln>
        </p:spPr>
      </p:sp>
      <p:sp>
        <p:nvSpPr>
          <p:cNvPr id="22" name="Text 20"/>
          <p:cNvSpPr/>
          <p:nvPr/>
        </p:nvSpPr>
        <p:spPr>
          <a:xfrm>
            <a:off x="502920" y="4005072"/>
            <a:ext cx="4023360" cy="402336"/>
          </a:xfrm>
          <a:prstGeom prst="rect">
            <a:avLst/>
          </a:prstGeom>
          <a:noFill/>
          <a:ln/>
        </p:spPr>
        <p:txBody>
          <a:bodyPr wrap="square" rtlCol="0" anchor="ctr"/>
          <a:lstStyle/>
          <a:p>
            <a:pPr algn="ctr" indent="0" marL="0">
              <a:buNone/>
            </a:pPr>
            <a:r>
              <a:rPr lang="en-US" sz="1000" b="1" dirty="0">
                <a:solidFill>
                  <a:srgbClr val="111111"/>
                </a:solidFill>
                <a:latin typeface="Calibri" pitchFamily="34" charset="0"/>
                <a:ea typeface="Calibri" pitchFamily="34" charset="-122"/>
                <a:cs typeface="Calibri" pitchFamily="34" charset="-120"/>
              </a:rPr>
              <a:t>🎉  LAUNCH OFFER: FREE for 90 days — First 500 restaurants in India</a:t>
            </a:r>
            <a:endParaRPr lang="en-US" sz="1000" dirty="0"/>
          </a:p>
        </p:txBody>
      </p:sp>
      <p:sp>
        <p:nvSpPr>
          <p:cNvPr id="23" name="Text 21"/>
          <p:cNvSpPr/>
          <p:nvPr/>
        </p:nvSpPr>
        <p:spPr>
          <a:xfrm>
            <a:off x="457200" y="4617720"/>
            <a:ext cx="4572000" cy="182880"/>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AviQR Technologies Pvt Ltd</a:t>
            </a:r>
            <a:endParaRPr lang="en-US" sz="900" dirty="0"/>
          </a:p>
        </p:txBody>
      </p:sp>
      <p:sp>
        <p:nvSpPr>
          <p:cNvPr id="24" name="Text 22"/>
          <p:cNvSpPr/>
          <p:nvPr/>
        </p:nvSpPr>
        <p:spPr>
          <a:xfrm>
            <a:off x="457200" y="4800600"/>
            <a:ext cx="7772400" cy="182880"/>
          </a:xfrm>
          <a:prstGeom prst="rect">
            <a:avLst/>
          </a:prstGeom>
          <a:noFill/>
          <a:ln/>
        </p:spPr>
        <p:txBody>
          <a:bodyPr wrap="square" rtlCol="0" anchor="ctr"/>
          <a:lstStyle/>
          <a:p>
            <a:pPr indent="0" marL="0">
              <a:buNone/>
            </a:pPr>
            <a:r>
              <a:rPr lang="en-US" sz="800" dirty="0">
                <a:solidFill>
                  <a:srgbClr val="888888"/>
                </a:solidFill>
                <a:latin typeface="Calibri" pitchFamily="34" charset="0"/>
                <a:ea typeface="Calibri" pitchFamily="34" charset="-122"/>
                <a:cs typeface="Calibri" pitchFamily="34" charset="-120"/>
              </a:rPr>
              <a:t>Sujeet N  |  sujeetn75@gmail.com  |  +91 88729 47878  |  SEED ROUND · INDIA · JUNE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rtlCol="0" anchor="ctr"/>
          <a:lstStyle/>
          <a:p>
            <a:pPr indent="0" marL="0">
              <a:buNone/>
            </a:pPr>
            <a:r>
              <a:rPr lang="en-US" sz="900" b="1" spc="400" kern="0" dirty="0">
                <a:solidFill>
                  <a:srgbClr val="00B37D"/>
                </a:solidFill>
                <a:latin typeface="Calibri" pitchFamily="34" charset="0"/>
                <a:ea typeface="Calibri" pitchFamily="34" charset="-122"/>
                <a:cs typeface="Calibri" pitchFamily="34" charset="-120"/>
              </a:rPr>
              <a:t>THE PROBLEM</a:t>
            </a:r>
            <a:endParaRPr lang="en-US" sz="900" dirty="0"/>
          </a:p>
        </p:txBody>
      </p:sp>
      <p:sp>
        <p:nvSpPr>
          <p:cNvPr id="3" name="Text 1"/>
          <p:cNvSpPr/>
          <p:nvPr/>
        </p:nvSpPr>
        <p:spPr>
          <a:xfrm>
            <a:off x="365760" y="502920"/>
            <a:ext cx="8229600" cy="91440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Paper menus are broken.</a:t>
            </a:r>
            <a:endParaRPr lang="en-US" sz="2600" dirty="0"/>
          </a:p>
          <a:p>
            <a:pPr indent="0" marL="0">
              <a:buNone/>
            </a:pPr>
            <a:r>
              <a:rPr lang="en-US" sz="2600" b="1" dirty="0">
                <a:solidFill>
                  <a:srgbClr val="FFFFFF"/>
                </a:solidFill>
                <a:latin typeface="Calibri" pitchFamily="34" charset="0"/>
                <a:ea typeface="Calibri" pitchFamily="34" charset="-122"/>
                <a:cs typeface="Calibri" pitchFamily="34" charset="-120"/>
              </a:rPr>
              <a:t>Everyone knows it. No one fixed it.</a:t>
            </a:r>
            <a:endParaRPr lang="en-US" sz="2600" dirty="0"/>
          </a:p>
        </p:txBody>
      </p:sp>
      <p:sp>
        <p:nvSpPr>
          <p:cNvPr id="4" name="Shape 2"/>
          <p:cNvSpPr/>
          <p:nvPr/>
        </p:nvSpPr>
        <p:spPr>
          <a:xfrm>
            <a:off x="365760" y="1600200"/>
            <a:ext cx="2651760" cy="2560320"/>
          </a:xfrm>
          <a:prstGeom prst="roundRect">
            <a:avLst>
              <a:gd name="adj" fmla="val 3571"/>
            </a:avLst>
          </a:prstGeom>
          <a:solidFill>
            <a:srgbClr val="1A1A1A"/>
          </a:solidFill>
          <a:ln w="12700">
            <a:solidFill>
              <a:srgbClr val="333333"/>
            </a:solidFill>
            <a:prstDash val="solid"/>
          </a:ln>
          <a:effectLst>
            <a:outerShdw sx="100000" sy="100000" kx="0" ky="0" algn="bl" rotWithShape="0" blurRad="101600" dist="38100" dir="2700000">
              <a:srgbClr val="000000">
                <a:alpha val="20000"/>
              </a:srgbClr>
            </a:outerShdw>
          </a:effectLst>
        </p:spPr>
      </p:sp>
      <p:sp>
        <p:nvSpPr>
          <p:cNvPr id="5" name="Text 3"/>
          <p:cNvSpPr/>
          <p:nvPr/>
        </p:nvSpPr>
        <p:spPr>
          <a:xfrm>
            <a:off x="502920" y="1737360"/>
            <a:ext cx="457200" cy="457200"/>
          </a:xfrm>
          <a:prstGeom prst="rect">
            <a:avLst/>
          </a:prstGeom>
          <a:noFill/>
          <a:ln/>
        </p:spPr>
        <p:txBody>
          <a:bodyPr wrap="square" rtlCol="0" anchor="ctr"/>
          <a:lstStyle/>
          <a:p>
            <a:pPr algn="l" indent="0" marL="0">
              <a:buNone/>
            </a:pPr>
            <a:r>
              <a:rPr lang="en-US" sz="2200" dirty="0">
                <a:solidFill>
                  <a:srgbClr val="000000"/>
                </a:solidFill>
              </a:rPr>
              <a:t>📱</a:t>
            </a:r>
            <a:endParaRPr lang="en-US" sz="2200" dirty="0"/>
          </a:p>
        </p:txBody>
      </p:sp>
      <p:sp>
        <p:nvSpPr>
          <p:cNvPr id="6" name="Text 4"/>
          <p:cNvSpPr/>
          <p:nvPr/>
        </p:nvSpPr>
        <p:spPr>
          <a:xfrm>
            <a:off x="457200" y="2286000"/>
            <a:ext cx="2468880" cy="4572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Customers won't download apps</a:t>
            </a:r>
            <a:endParaRPr lang="en-US" sz="1200" dirty="0"/>
          </a:p>
        </p:txBody>
      </p:sp>
      <p:sp>
        <p:nvSpPr>
          <p:cNvPr id="7" name="Text 5"/>
          <p:cNvSpPr/>
          <p:nvPr/>
        </p:nvSpPr>
        <p:spPr>
          <a:xfrm>
            <a:off x="457200" y="2788920"/>
            <a:ext cx="2468880" cy="1188720"/>
          </a:xfrm>
          <a:prstGeom prst="rect">
            <a:avLst/>
          </a:prstGeom>
          <a:noFill/>
          <a:ln/>
        </p:spPr>
        <p:txBody>
          <a:bodyPr wrap="square" rtlCol="0" anchor="ctr"/>
          <a:lstStyle/>
          <a:p>
            <a:pPr indent="0" marL="0">
              <a:buNone/>
            </a:pPr>
            <a:r>
              <a:rPr lang="en-US" sz="1000" dirty="0">
                <a:solidFill>
                  <a:srgbClr val="CCCCCC"/>
                </a:solidFill>
                <a:latin typeface="Calibri" pitchFamily="34" charset="0"/>
                <a:ea typeface="Calibri" pitchFamily="34" charset="-122"/>
                <a:cs typeface="Calibri" pitchFamily="34" charset="-120"/>
              </a:rPr>
              <a:t>64% of diners abandon ordering if asked to install an app. Your app has 12 reviews and a 3.1 star rating.</a:t>
            </a:r>
            <a:endParaRPr lang="en-US" sz="1000" dirty="0"/>
          </a:p>
        </p:txBody>
      </p:sp>
      <p:sp>
        <p:nvSpPr>
          <p:cNvPr id="8" name="Shape 6"/>
          <p:cNvSpPr/>
          <p:nvPr/>
        </p:nvSpPr>
        <p:spPr>
          <a:xfrm>
            <a:off x="3200400" y="1600200"/>
            <a:ext cx="2651760" cy="2560320"/>
          </a:xfrm>
          <a:prstGeom prst="roundRect">
            <a:avLst>
              <a:gd name="adj" fmla="val 3571"/>
            </a:avLst>
          </a:prstGeom>
          <a:solidFill>
            <a:srgbClr val="1A1A1A"/>
          </a:solidFill>
          <a:ln w="12700">
            <a:solidFill>
              <a:srgbClr val="333333"/>
            </a:solidFill>
            <a:prstDash val="solid"/>
          </a:ln>
          <a:effectLst>
            <a:outerShdw sx="100000" sy="100000" kx="0" ky="0" algn="bl" rotWithShape="0" blurRad="101600" dist="38100" dir="2700000">
              <a:srgbClr val="000000">
                <a:alpha val="20000"/>
              </a:srgbClr>
            </a:outerShdw>
          </a:effectLst>
        </p:spPr>
      </p:sp>
      <p:sp>
        <p:nvSpPr>
          <p:cNvPr id="9" name="Text 7"/>
          <p:cNvSpPr/>
          <p:nvPr/>
        </p:nvSpPr>
        <p:spPr>
          <a:xfrm>
            <a:off x="3337560" y="1737360"/>
            <a:ext cx="457200" cy="457200"/>
          </a:xfrm>
          <a:prstGeom prst="rect">
            <a:avLst/>
          </a:prstGeom>
          <a:noFill/>
          <a:ln/>
        </p:spPr>
        <p:txBody>
          <a:bodyPr wrap="square" rtlCol="0" anchor="ctr"/>
          <a:lstStyle/>
          <a:p>
            <a:pPr algn="l" indent="0" marL="0">
              <a:buNone/>
            </a:pPr>
            <a:r>
              <a:rPr lang="en-US" sz="2200" dirty="0">
                <a:solidFill>
                  <a:srgbClr val="000000"/>
                </a:solidFill>
              </a:rPr>
              <a:t>⌨️</a:t>
            </a:r>
            <a:endParaRPr lang="en-US" sz="2200" dirty="0"/>
          </a:p>
        </p:txBody>
      </p:sp>
      <p:sp>
        <p:nvSpPr>
          <p:cNvPr id="10" name="Text 8"/>
          <p:cNvSpPr/>
          <p:nvPr/>
        </p:nvSpPr>
        <p:spPr>
          <a:xfrm>
            <a:off x="3291840" y="2286000"/>
            <a:ext cx="2468880" cy="4572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Menu digitisation is a nightmare</a:t>
            </a:r>
            <a:endParaRPr lang="en-US" sz="1200" dirty="0"/>
          </a:p>
        </p:txBody>
      </p:sp>
      <p:sp>
        <p:nvSpPr>
          <p:cNvPr id="11" name="Text 9"/>
          <p:cNvSpPr/>
          <p:nvPr/>
        </p:nvSpPr>
        <p:spPr>
          <a:xfrm>
            <a:off x="3291840" y="2788920"/>
            <a:ext cx="2468880" cy="1188720"/>
          </a:xfrm>
          <a:prstGeom prst="rect">
            <a:avLst/>
          </a:prstGeom>
          <a:noFill/>
          <a:ln/>
        </p:spPr>
        <p:txBody>
          <a:bodyPr wrap="square" rtlCol="0" anchor="ctr"/>
          <a:lstStyle/>
          <a:p>
            <a:pPr indent="0" marL="0">
              <a:buNone/>
            </a:pPr>
            <a:r>
              <a:rPr lang="en-US" sz="1000" dirty="0">
                <a:solidFill>
                  <a:srgbClr val="CCCCCC"/>
                </a:solidFill>
                <a:latin typeface="Calibri" pitchFamily="34" charset="0"/>
                <a:ea typeface="Calibri" pitchFamily="34" charset="-122"/>
                <a:cs typeface="Calibri" pitchFamily="34" charset="-120"/>
              </a:rPr>
              <a:t>Restaurant owners type every item by hand. A 200-item menu takes a full day. It never gets done. 94% abandon within 30 days.</a:t>
            </a:r>
            <a:endParaRPr lang="en-US" sz="1000" dirty="0"/>
          </a:p>
        </p:txBody>
      </p:sp>
      <p:sp>
        <p:nvSpPr>
          <p:cNvPr id="12" name="Shape 10"/>
          <p:cNvSpPr/>
          <p:nvPr/>
        </p:nvSpPr>
        <p:spPr>
          <a:xfrm>
            <a:off x="6035040" y="1600200"/>
            <a:ext cx="2651760" cy="2560320"/>
          </a:xfrm>
          <a:prstGeom prst="roundRect">
            <a:avLst>
              <a:gd name="adj" fmla="val 3571"/>
            </a:avLst>
          </a:prstGeom>
          <a:solidFill>
            <a:srgbClr val="1A1A1A"/>
          </a:solidFill>
          <a:ln w="12700">
            <a:solidFill>
              <a:srgbClr val="333333"/>
            </a:solidFill>
            <a:prstDash val="solid"/>
          </a:ln>
          <a:effectLst>
            <a:outerShdw sx="100000" sy="100000" kx="0" ky="0" algn="bl" rotWithShape="0" blurRad="101600" dist="38100" dir="2700000">
              <a:srgbClr val="000000">
                <a:alpha val="20000"/>
              </a:srgbClr>
            </a:outerShdw>
          </a:effectLst>
        </p:spPr>
      </p:sp>
      <p:sp>
        <p:nvSpPr>
          <p:cNvPr id="13" name="Text 11"/>
          <p:cNvSpPr/>
          <p:nvPr/>
        </p:nvSpPr>
        <p:spPr>
          <a:xfrm>
            <a:off x="6172200" y="1737360"/>
            <a:ext cx="457200" cy="457200"/>
          </a:xfrm>
          <a:prstGeom prst="rect">
            <a:avLst/>
          </a:prstGeom>
          <a:noFill/>
          <a:ln/>
        </p:spPr>
        <p:txBody>
          <a:bodyPr wrap="square" rtlCol="0" anchor="ctr"/>
          <a:lstStyle/>
          <a:p>
            <a:pPr algn="l" indent="0" marL="0">
              <a:buNone/>
            </a:pPr>
            <a:r>
              <a:rPr lang="en-US" sz="2200" dirty="0">
                <a:solidFill>
                  <a:srgbClr val="000000"/>
                </a:solidFill>
              </a:rPr>
              <a:t>🔗</a:t>
            </a:r>
            <a:endParaRPr lang="en-US" sz="2200" dirty="0"/>
          </a:p>
        </p:txBody>
      </p:sp>
      <p:sp>
        <p:nvSpPr>
          <p:cNvPr id="14" name="Text 12"/>
          <p:cNvSpPr/>
          <p:nvPr/>
        </p:nvSpPr>
        <p:spPr>
          <a:xfrm>
            <a:off x="6126480" y="2286000"/>
            <a:ext cx="2468880" cy="45720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Prices change, QR codes break</a:t>
            </a:r>
            <a:endParaRPr lang="en-US" sz="1200" dirty="0"/>
          </a:p>
        </p:txBody>
      </p:sp>
      <p:sp>
        <p:nvSpPr>
          <p:cNvPr id="15" name="Text 13"/>
          <p:cNvSpPr/>
          <p:nvPr/>
        </p:nvSpPr>
        <p:spPr>
          <a:xfrm>
            <a:off x="6126480" y="2788920"/>
            <a:ext cx="2468880" cy="1188720"/>
          </a:xfrm>
          <a:prstGeom prst="rect">
            <a:avLst/>
          </a:prstGeom>
          <a:noFill/>
          <a:ln/>
        </p:spPr>
        <p:txBody>
          <a:bodyPr wrap="square" rtlCol="0" anchor="ctr"/>
          <a:lstStyle/>
          <a:p>
            <a:pPr indent="0" marL="0">
              <a:buNone/>
            </a:pPr>
            <a:r>
              <a:rPr lang="en-US" sz="1000" dirty="0">
                <a:solidFill>
                  <a:srgbClr val="CCCCCC"/>
                </a:solidFill>
                <a:latin typeface="Calibri" pitchFamily="34" charset="0"/>
                <a:ea typeface="Calibri" pitchFamily="34" charset="-122"/>
                <a:cs typeface="Calibri" pitchFamily="34" charset="-120"/>
              </a:rPr>
              <a:t>Owners print a QR, change prices, and the code shows the wrong menu. So they stop using it entirely.</a:t>
            </a:r>
            <a:endParaRPr lang="en-US" sz="1000" dirty="0"/>
          </a:p>
        </p:txBody>
      </p:sp>
      <p:sp>
        <p:nvSpPr>
          <p:cNvPr id="16" name="Shape 14"/>
          <p:cNvSpPr/>
          <p:nvPr/>
        </p:nvSpPr>
        <p:spPr>
          <a:xfrm>
            <a:off x="365760" y="4297680"/>
            <a:ext cx="8412480" cy="502920"/>
          </a:xfrm>
          <a:prstGeom prst="roundRect">
            <a:avLst>
              <a:gd name="adj" fmla="val 14545"/>
            </a:avLst>
          </a:prstGeom>
          <a:solidFill>
            <a:srgbClr val="222222"/>
          </a:solidFill>
          <a:ln w="12700">
            <a:solidFill>
              <a:srgbClr val="00B37D"/>
            </a:solidFill>
            <a:prstDash val="solid"/>
          </a:ln>
        </p:spPr>
      </p:sp>
      <p:sp>
        <p:nvSpPr>
          <p:cNvPr id="17" name="Text 15"/>
          <p:cNvSpPr/>
          <p:nvPr/>
        </p:nvSpPr>
        <p:spPr>
          <a:xfrm>
            <a:off x="457200" y="4370832"/>
            <a:ext cx="8229600" cy="347472"/>
          </a:xfrm>
          <a:prstGeom prst="rect">
            <a:avLst/>
          </a:prstGeom>
          <a:noFill/>
          <a:ln/>
        </p:spPr>
        <p:txBody>
          <a:bodyPr wrap="square" rtlCol="0" anchor="ctr"/>
          <a:lstStyle/>
          <a:p>
            <a:pPr algn="ctr" indent="0" marL="0">
              <a:buNone/>
            </a:pPr>
            <a:r>
              <a:rPr lang="en-US" sz="1100" b="1" dirty="0">
                <a:solidFill>
                  <a:srgbClr val="00B37D"/>
                </a:solidFill>
                <a:latin typeface="Calibri" pitchFamily="34" charset="0"/>
                <a:ea typeface="Calibri" pitchFamily="34" charset="-122"/>
                <a:cs typeface="Calibri" pitchFamily="34" charset="-120"/>
              </a:rPr>
              <a:t>7.5 million restaurants in India. Fewer than 3% have a working digital menu customers actually use.</a:t>
            </a:r>
            <a:endParaRPr lang="en-US" sz="1100" dirty="0"/>
          </a:p>
        </p:txBody>
      </p:sp>
      <p:sp>
        <p:nvSpPr>
          <p:cNvPr id="18" name="Text 16"/>
          <p:cNvSpPr/>
          <p:nvPr/>
        </p:nvSpPr>
        <p:spPr>
          <a:xfrm>
            <a:off x="365760" y="4846320"/>
            <a:ext cx="6400800" cy="182880"/>
          </a:xfrm>
          <a:prstGeom prst="rect">
            <a:avLst/>
          </a:prstGeom>
          <a:noFill/>
          <a:ln/>
        </p:spPr>
        <p:txBody>
          <a:bodyPr wrap="square" rtlCol="0" anchor="ctr"/>
          <a:lstStyle/>
          <a:p>
            <a:pPr algn="l" indent="0" marL="0">
              <a:buNone/>
            </a:pPr>
            <a:r>
              <a:rPr lang="en-US" sz="800" dirty="0">
                <a:solidFill>
                  <a:srgbClr val="888888"/>
                </a:solidFill>
                <a:latin typeface="Calibri" pitchFamily="34" charset="0"/>
                <a:ea typeface="Calibri" pitchFamily="34" charset="-122"/>
                <a:cs typeface="Calibri" pitchFamily="34" charset="-120"/>
              </a:rPr>
              <a:t>aviqr.com  ·  Confidential  ·  June 2026</a:t>
            </a:r>
            <a:endParaRPr lang="en-US" sz="800" dirty="0"/>
          </a:p>
        </p:txBody>
      </p:sp>
      <p:sp>
        <p:nvSpPr>
          <p:cNvPr id="19" name="Text 17"/>
          <p:cNvSpPr/>
          <p:nvPr/>
        </p:nvSpPr>
        <p:spPr>
          <a:xfrm>
            <a:off x="7772400" y="4846320"/>
            <a:ext cx="914400" cy="18288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2 / 18</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rtlCol="0" anchor="ctr"/>
          <a:lstStyle/>
          <a:p>
            <a:pPr indent="0" marL="0">
              <a:buNone/>
            </a:pPr>
            <a:r>
              <a:rPr lang="en-US" sz="900" b="1" spc="400" kern="0" dirty="0">
                <a:solidFill>
                  <a:srgbClr val="00B37D"/>
                </a:solidFill>
                <a:latin typeface="Calibri" pitchFamily="34" charset="0"/>
                <a:ea typeface="Calibri" pitchFamily="34" charset="-122"/>
                <a:cs typeface="Calibri" pitchFamily="34" charset="-120"/>
              </a:rPr>
              <a:t>THE SOLUTION</a:t>
            </a:r>
            <a:endParaRPr lang="en-US" sz="900" dirty="0"/>
          </a:p>
        </p:txBody>
      </p:sp>
      <p:sp>
        <p:nvSpPr>
          <p:cNvPr id="3" name="Text 1"/>
          <p:cNvSpPr/>
          <p:nvPr/>
        </p:nvSpPr>
        <p:spPr>
          <a:xfrm>
            <a:off x="365760" y="502920"/>
            <a:ext cx="8229600" cy="5486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Photo. Menu. Live. 15 minutes.</a:t>
            </a:r>
            <a:endParaRPr lang="en-US" sz="2800" dirty="0"/>
          </a:p>
        </p:txBody>
      </p:sp>
      <p:sp>
        <p:nvSpPr>
          <p:cNvPr id="4" name="Text 2"/>
          <p:cNvSpPr/>
          <p:nvPr/>
        </p:nvSpPr>
        <p:spPr>
          <a:xfrm>
            <a:off x="365760" y="1051560"/>
            <a:ext cx="8229600" cy="320040"/>
          </a:xfrm>
          <a:prstGeom prst="rect">
            <a:avLst/>
          </a:prstGeom>
          <a:noFill/>
          <a:ln/>
        </p:spPr>
        <p:txBody>
          <a:bodyPr wrap="square" rtlCol="0" anchor="ctr"/>
          <a:lstStyle/>
          <a:p>
            <a:pPr indent="0" marL="0">
              <a:buNone/>
            </a:pPr>
            <a:r>
              <a:rPr lang="en-US" sz="1200" dirty="0">
                <a:solidFill>
                  <a:srgbClr val="CCCCCC"/>
                </a:solidFill>
                <a:latin typeface="Calibri" pitchFamily="34" charset="0"/>
                <a:ea typeface="Calibri" pitchFamily="34" charset="-122"/>
                <a:cs typeface="Calibri" pitchFamily="34" charset="-120"/>
              </a:rPr>
              <a:t>A restaurant owner WhatsApps us their printed menu. We hand them back a working QR code.</a:t>
            </a:r>
            <a:endParaRPr lang="en-US" sz="1200" dirty="0"/>
          </a:p>
        </p:txBody>
      </p:sp>
      <p:sp>
        <p:nvSpPr>
          <p:cNvPr id="5" name="Shape 3"/>
          <p:cNvSpPr/>
          <p:nvPr/>
        </p:nvSpPr>
        <p:spPr>
          <a:xfrm>
            <a:off x="2194560" y="2286000"/>
            <a:ext cx="274320" cy="0"/>
          </a:xfrm>
          <a:prstGeom prst="line">
            <a:avLst/>
          </a:prstGeom>
          <a:noFill/>
          <a:ln w="25400">
            <a:solidFill>
              <a:srgbClr val="00B37D"/>
            </a:solidFill>
            <a:prstDash val="solid"/>
          </a:ln>
        </p:spPr>
      </p:sp>
      <p:sp>
        <p:nvSpPr>
          <p:cNvPr id="6" name="Shape 4"/>
          <p:cNvSpPr/>
          <p:nvPr/>
        </p:nvSpPr>
        <p:spPr>
          <a:xfrm>
            <a:off x="320040" y="1508760"/>
            <a:ext cx="1965960" cy="2834640"/>
          </a:xfrm>
          <a:prstGeom prst="roundRect">
            <a:avLst>
              <a:gd name="adj" fmla="val 4651"/>
            </a:avLst>
          </a:prstGeom>
          <a:solidFill>
            <a:srgbClr val="1A1A1A"/>
          </a:solidFill>
          <a:ln w="12700">
            <a:solidFill>
              <a:srgbClr val="333333"/>
            </a:solidFill>
            <a:prstDash val="solid"/>
          </a:ln>
        </p:spPr>
      </p:sp>
      <p:sp>
        <p:nvSpPr>
          <p:cNvPr id="7" name="Shape 5"/>
          <p:cNvSpPr/>
          <p:nvPr/>
        </p:nvSpPr>
        <p:spPr>
          <a:xfrm>
            <a:off x="978408" y="1600200"/>
            <a:ext cx="594360" cy="594360"/>
          </a:xfrm>
          <a:prstGeom prst="ellipse">
            <a:avLst/>
          </a:prstGeom>
          <a:solidFill>
            <a:srgbClr val="00B37D"/>
          </a:solidFill>
          <a:ln w="12700">
            <a:solidFill>
              <a:srgbClr val="00B37D"/>
            </a:solidFill>
            <a:prstDash val="solid"/>
          </a:ln>
        </p:spPr>
      </p:sp>
      <p:sp>
        <p:nvSpPr>
          <p:cNvPr id="8" name="Text 6"/>
          <p:cNvSpPr/>
          <p:nvPr/>
        </p:nvSpPr>
        <p:spPr>
          <a:xfrm>
            <a:off x="978408" y="1627632"/>
            <a:ext cx="594360" cy="530352"/>
          </a:xfrm>
          <a:prstGeom prst="rect">
            <a:avLst/>
          </a:prstGeom>
          <a:noFill/>
          <a:ln/>
        </p:spPr>
        <p:txBody>
          <a:bodyPr wrap="square" rtlCol="0" anchor="ctr"/>
          <a:lstStyle/>
          <a:p>
            <a:pPr algn="ctr" indent="0" marL="0">
              <a:buNone/>
            </a:pPr>
            <a:r>
              <a:rPr lang="en-US" sz="1600" b="1" dirty="0">
                <a:solidFill>
                  <a:srgbClr val="111111"/>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411480" y="2304288"/>
            <a:ext cx="1783080" cy="256032"/>
          </a:xfrm>
          <a:prstGeom prst="rect">
            <a:avLst/>
          </a:prstGeom>
          <a:noFill/>
          <a:ln/>
        </p:spPr>
        <p:txBody>
          <a:bodyPr wrap="square" rtlCol="0" anchor="ctr"/>
          <a:lstStyle/>
          <a:p>
            <a:pPr algn="ctr" indent="0" marL="0">
              <a:buNone/>
            </a:pPr>
            <a:r>
              <a:rPr lang="en-US" sz="900" b="1" dirty="0">
                <a:solidFill>
                  <a:srgbClr val="00B37D"/>
                </a:solidFill>
                <a:latin typeface="Calibri" pitchFamily="34" charset="0"/>
                <a:ea typeface="Calibri" pitchFamily="34" charset="-122"/>
                <a:cs typeface="Calibri" pitchFamily="34" charset="-120"/>
              </a:rPr>
              <a:t>30 sec</a:t>
            </a:r>
            <a:endParaRPr lang="en-US" sz="900" dirty="0"/>
          </a:p>
        </p:txBody>
      </p:sp>
      <p:sp>
        <p:nvSpPr>
          <p:cNvPr id="10" name="Text 8"/>
          <p:cNvSpPr/>
          <p:nvPr/>
        </p:nvSpPr>
        <p:spPr>
          <a:xfrm>
            <a:off x="393192" y="2606040"/>
            <a:ext cx="1819656"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WhatsApp the menu</a:t>
            </a:r>
            <a:endParaRPr lang="en-US" sz="1100" dirty="0"/>
          </a:p>
        </p:txBody>
      </p:sp>
      <p:sp>
        <p:nvSpPr>
          <p:cNvPr id="11" name="Text 9"/>
          <p:cNvSpPr/>
          <p:nvPr/>
        </p:nvSpPr>
        <p:spPr>
          <a:xfrm>
            <a:off x="411480" y="3017520"/>
            <a:ext cx="1783080" cy="118872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Owner sends a photo of their paper menu to our WhatsApp number.</a:t>
            </a:r>
            <a:endParaRPr lang="en-US" sz="900" dirty="0"/>
          </a:p>
        </p:txBody>
      </p:sp>
      <p:sp>
        <p:nvSpPr>
          <p:cNvPr id="12" name="Shape 10"/>
          <p:cNvSpPr/>
          <p:nvPr/>
        </p:nvSpPr>
        <p:spPr>
          <a:xfrm>
            <a:off x="4343400" y="2286000"/>
            <a:ext cx="274320" cy="0"/>
          </a:xfrm>
          <a:prstGeom prst="line">
            <a:avLst/>
          </a:prstGeom>
          <a:noFill/>
          <a:ln w="25400">
            <a:solidFill>
              <a:srgbClr val="00B37D"/>
            </a:solidFill>
            <a:prstDash val="solid"/>
          </a:ln>
        </p:spPr>
      </p:sp>
      <p:sp>
        <p:nvSpPr>
          <p:cNvPr id="13" name="Shape 11"/>
          <p:cNvSpPr/>
          <p:nvPr/>
        </p:nvSpPr>
        <p:spPr>
          <a:xfrm>
            <a:off x="2468880" y="1508760"/>
            <a:ext cx="1965960" cy="2834640"/>
          </a:xfrm>
          <a:prstGeom prst="roundRect">
            <a:avLst>
              <a:gd name="adj" fmla="val 4651"/>
            </a:avLst>
          </a:prstGeom>
          <a:solidFill>
            <a:srgbClr val="1A1A1A"/>
          </a:solidFill>
          <a:ln w="12700">
            <a:solidFill>
              <a:srgbClr val="333333"/>
            </a:solidFill>
            <a:prstDash val="solid"/>
          </a:ln>
        </p:spPr>
      </p:sp>
      <p:sp>
        <p:nvSpPr>
          <p:cNvPr id="14" name="Shape 12"/>
          <p:cNvSpPr/>
          <p:nvPr/>
        </p:nvSpPr>
        <p:spPr>
          <a:xfrm>
            <a:off x="3127248" y="1600200"/>
            <a:ext cx="594360" cy="594360"/>
          </a:xfrm>
          <a:prstGeom prst="ellipse">
            <a:avLst/>
          </a:prstGeom>
          <a:solidFill>
            <a:srgbClr val="00B37D"/>
          </a:solidFill>
          <a:ln w="12700">
            <a:solidFill>
              <a:srgbClr val="00B37D"/>
            </a:solidFill>
            <a:prstDash val="solid"/>
          </a:ln>
        </p:spPr>
      </p:sp>
      <p:sp>
        <p:nvSpPr>
          <p:cNvPr id="15" name="Text 13"/>
          <p:cNvSpPr/>
          <p:nvPr/>
        </p:nvSpPr>
        <p:spPr>
          <a:xfrm>
            <a:off x="3127248" y="1627632"/>
            <a:ext cx="594360" cy="530352"/>
          </a:xfrm>
          <a:prstGeom prst="rect">
            <a:avLst/>
          </a:prstGeom>
          <a:noFill/>
          <a:ln/>
        </p:spPr>
        <p:txBody>
          <a:bodyPr wrap="square" rtlCol="0" anchor="ctr"/>
          <a:lstStyle/>
          <a:p>
            <a:pPr algn="ctr" indent="0" marL="0">
              <a:buNone/>
            </a:pPr>
            <a:r>
              <a:rPr lang="en-US" sz="1600" b="1" dirty="0">
                <a:solidFill>
                  <a:srgbClr val="111111"/>
                </a:solidFill>
                <a:latin typeface="Calibri" pitchFamily="34" charset="0"/>
                <a:ea typeface="Calibri" pitchFamily="34" charset="-122"/>
                <a:cs typeface="Calibri" pitchFamily="34" charset="-120"/>
              </a:rPr>
              <a:t>2</a:t>
            </a:r>
            <a:endParaRPr lang="en-US" sz="1600" dirty="0"/>
          </a:p>
        </p:txBody>
      </p:sp>
      <p:sp>
        <p:nvSpPr>
          <p:cNvPr id="16" name="Text 14"/>
          <p:cNvSpPr/>
          <p:nvPr/>
        </p:nvSpPr>
        <p:spPr>
          <a:xfrm>
            <a:off x="2560320" y="2304288"/>
            <a:ext cx="1783080" cy="256032"/>
          </a:xfrm>
          <a:prstGeom prst="rect">
            <a:avLst/>
          </a:prstGeom>
          <a:noFill/>
          <a:ln/>
        </p:spPr>
        <p:txBody>
          <a:bodyPr wrap="square" rtlCol="0" anchor="ctr"/>
          <a:lstStyle/>
          <a:p>
            <a:pPr algn="ctr" indent="0" marL="0">
              <a:buNone/>
            </a:pPr>
            <a:r>
              <a:rPr lang="en-US" sz="900" b="1" dirty="0">
                <a:solidFill>
                  <a:srgbClr val="00B37D"/>
                </a:solidFill>
                <a:latin typeface="Calibri" pitchFamily="34" charset="0"/>
                <a:ea typeface="Calibri" pitchFamily="34" charset="-122"/>
                <a:cs typeface="Calibri" pitchFamily="34" charset="-120"/>
              </a:rPr>
              <a:t>2 min</a:t>
            </a:r>
            <a:endParaRPr lang="en-US" sz="900" dirty="0"/>
          </a:p>
        </p:txBody>
      </p:sp>
      <p:sp>
        <p:nvSpPr>
          <p:cNvPr id="17" name="Text 15"/>
          <p:cNvSpPr/>
          <p:nvPr/>
        </p:nvSpPr>
        <p:spPr>
          <a:xfrm>
            <a:off x="2542032" y="2606040"/>
            <a:ext cx="1819656"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AI OCR reads it all</a:t>
            </a:r>
            <a:endParaRPr lang="en-US" sz="1100" dirty="0"/>
          </a:p>
        </p:txBody>
      </p:sp>
      <p:sp>
        <p:nvSpPr>
          <p:cNvPr id="18" name="Text 16"/>
          <p:cNvSpPr/>
          <p:nvPr/>
        </p:nvSpPr>
        <p:spPr>
          <a:xfrm>
            <a:off x="2560320" y="3017520"/>
            <a:ext cx="1783080" cy="118872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Our AI model reads item names, prices, and sections. Hindi &amp; regional language friendly.</a:t>
            </a:r>
            <a:endParaRPr lang="en-US" sz="900" dirty="0"/>
          </a:p>
        </p:txBody>
      </p:sp>
      <p:sp>
        <p:nvSpPr>
          <p:cNvPr id="19" name="Shape 17"/>
          <p:cNvSpPr/>
          <p:nvPr/>
        </p:nvSpPr>
        <p:spPr>
          <a:xfrm>
            <a:off x="6492240" y="2286000"/>
            <a:ext cx="274320" cy="0"/>
          </a:xfrm>
          <a:prstGeom prst="line">
            <a:avLst/>
          </a:prstGeom>
          <a:noFill/>
          <a:ln w="25400">
            <a:solidFill>
              <a:srgbClr val="00B37D"/>
            </a:solidFill>
            <a:prstDash val="solid"/>
          </a:ln>
        </p:spPr>
      </p:sp>
      <p:sp>
        <p:nvSpPr>
          <p:cNvPr id="20" name="Shape 18"/>
          <p:cNvSpPr/>
          <p:nvPr/>
        </p:nvSpPr>
        <p:spPr>
          <a:xfrm>
            <a:off x="4617720" y="1508760"/>
            <a:ext cx="1965960" cy="2834640"/>
          </a:xfrm>
          <a:prstGeom prst="roundRect">
            <a:avLst>
              <a:gd name="adj" fmla="val 4651"/>
            </a:avLst>
          </a:prstGeom>
          <a:solidFill>
            <a:srgbClr val="1A1A1A"/>
          </a:solidFill>
          <a:ln w="12700">
            <a:solidFill>
              <a:srgbClr val="333333"/>
            </a:solidFill>
            <a:prstDash val="solid"/>
          </a:ln>
        </p:spPr>
      </p:sp>
      <p:sp>
        <p:nvSpPr>
          <p:cNvPr id="21" name="Shape 19"/>
          <p:cNvSpPr/>
          <p:nvPr/>
        </p:nvSpPr>
        <p:spPr>
          <a:xfrm>
            <a:off x="5276088" y="1600200"/>
            <a:ext cx="594360" cy="594360"/>
          </a:xfrm>
          <a:prstGeom prst="ellipse">
            <a:avLst/>
          </a:prstGeom>
          <a:solidFill>
            <a:srgbClr val="00B37D"/>
          </a:solidFill>
          <a:ln w="12700">
            <a:solidFill>
              <a:srgbClr val="00B37D"/>
            </a:solidFill>
            <a:prstDash val="solid"/>
          </a:ln>
        </p:spPr>
      </p:sp>
      <p:sp>
        <p:nvSpPr>
          <p:cNvPr id="22" name="Text 20"/>
          <p:cNvSpPr/>
          <p:nvPr/>
        </p:nvSpPr>
        <p:spPr>
          <a:xfrm>
            <a:off x="5276088" y="1627632"/>
            <a:ext cx="594360" cy="530352"/>
          </a:xfrm>
          <a:prstGeom prst="rect">
            <a:avLst/>
          </a:prstGeom>
          <a:noFill/>
          <a:ln/>
        </p:spPr>
        <p:txBody>
          <a:bodyPr wrap="square" rtlCol="0" anchor="ctr"/>
          <a:lstStyle/>
          <a:p>
            <a:pPr algn="ctr" indent="0" marL="0">
              <a:buNone/>
            </a:pPr>
            <a:r>
              <a:rPr lang="en-US" sz="1600" b="1" dirty="0">
                <a:solidFill>
                  <a:srgbClr val="111111"/>
                </a:solidFill>
                <a:latin typeface="Calibri" pitchFamily="34" charset="0"/>
                <a:ea typeface="Calibri" pitchFamily="34" charset="-122"/>
                <a:cs typeface="Calibri" pitchFamily="34" charset="-120"/>
              </a:rPr>
              <a:t>3</a:t>
            </a:r>
            <a:endParaRPr lang="en-US" sz="1600" dirty="0"/>
          </a:p>
        </p:txBody>
      </p:sp>
      <p:sp>
        <p:nvSpPr>
          <p:cNvPr id="23" name="Text 21"/>
          <p:cNvSpPr/>
          <p:nvPr/>
        </p:nvSpPr>
        <p:spPr>
          <a:xfrm>
            <a:off x="4709160" y="2304288"/>
            <a:ext cx="1783080" cy="256032"/>
          </a:xfrm>
          <a:prstGeom prst="rect">
            <a:avLst/>
          </a:prstGeom>
          <a:noFill/>
          <a:ln/>
        </p:spPr>
        <p:txBody>
          <a:bodyPr wrap="square" rtlCol="0" anchor="ctr"/>
          <a:lstStyle/>
          <a:p>
            <a:pPr algn="ctr" indent="0" marL="0">
              <a:buNone/>
            </a:pPr>
            <a:r>
              <a:rPr lang="en-US" sz="900" b="1" dirty="0">
                <a:solidFill>
                  <a:srgbClr val="00B37D"/>
                </a:solidFill>
                <a:latin typeface="Calibri" pitchFamily="34" charset="0"/>
                <a:ea typeface="Calibri" pitchFamily="34" charset="-122"/>
                <a:cs typeface="Calibri" pitchFamily="34" charset="-120"/>
              </a:rPr>
              <a:t>5 min</a:t>
            </a:r>
            <a:endParaRPr lang="en-US" sz="900" dirty="0"/>
          </a:p>
        </p:txBody>
      </p:sp>
      <p:sp>
        <p:nvSpPr>
          <p:cNvPr id="24" name="Text 22"/>
          <p:cNvSpPr/>
          <p:nvPr/>
        </p:nvSpPr>
        <p:spPr>
          <a:xfrm>
            <a:off x="4690872" y="2606040"/>
            <a:ext cx="1819656"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Owner taps to review</a:t>
            </a:r>
            <a:endParaRPr lang="en-US" sz="1100" dirty="0"/>
          </a:p>
        </p:txBody>
      </p:sp>
      <p:sp>
        <p:nvSpPr>
          <p:cNvPr id="25" name="Text 23"/>
          <p:cNvSpPr/>
          <p:nvPr/>
        </p:nvSpPr>
        <p:spPr>
          <a:xfrm>
            <a:off x="4709160" y="3017520"/>
            <a:ext cx="1783080" cy="118872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Three taps to confirm. Edit anything that's off. Powered by AI — no typing needed.</a:t>
            </a:r>
            <a:endParaRPr lang="en-US" sz="900" dirty="0"/>
          </a:p>
        </p:txBody>
      </p:sp>
      <p:sp>
        <p:nvSpPr>
          <p:cNvPr id="26" name="Shape 24"/>
          <p:cNvSpPr/>
          <p:nvPr/>
        </p:nvSpPr>
        <p:spPr>
          <a:xfrm>
            <a:off x="6766560" y="1508760"/>
            <a:ext cx="1965960" cy="2834640"/>
          </a:xfrm>
          <a:prstGeom prst="roundRect">
            <a:avLst>
              <a:gd name="adj" fmla="val 4651"/>
            </a:avLst>
          </a:prstGeom>
          <a:solidFill>
            <a:srgbClr val="1A1A1A"/>
          </a:solidFill>
          <a:ln w="25400">
            <a:solidFill>
              <a:srgbClr val="00B37D"/>
            </a:solidFill>
            <a:prstDash val="solid"/>
          </a:ln>
        </p:spPr>
      </p:sp>
      <p:sp>
        <p:nvSpPr>
          <p:cNvPr id="27" name="Shape 25"/>
          <p:cNvSpPr/>
          <p:nvPr/>
        </p:nvSpPr>
        <p:spPr>
          <a:xfrm>
            <a:off x="7424928" y="1600200"/>
            <a:ext cx="594360" cy="594360"/>
          </a:xfrm>
          <a:prstGeom prst="ellipse">
            <a:avLst/>
          </a:prstGeom>
          <a:solidFill>
            <a:srgbClr val="00B37D"/>
          </a:solidFill>
          <a:ln w="12700">
            <a:solidFill>
              <a:srgbClr val="00B37D"/>
            </a:solidFill>
            <a:prstDash val="solid"/>
          </a:ln>
        </p:spPr>
      </p:sp>
      <p:sp>
        <p:nvSpPr>
          <p:cNvPr id="28" name="Text 26"/>
          <p:cNvSpPr/>
          <p:nvPr/>
        </p:nvSpPr>
        <p:spPr>
          <a:xfrm>
            <a:off x="7424928" y="1627632"/>
            <a:ext cx="594360" cy="530352"/>
          </a:xfrm>
          <a:prstGeom prst="rect">
            <a:avLst/>
          </a:prstGeom>
          <a:noFill/>
          <a:ln/>
        </p:spPr>
        <p:txBody>
          <a:bodyPr wrap="square" rtlCol="0" anchor="ctr"/>
          <a:lstStyle/>
          <a:p>
            <a:pPr algn="ctr" indent="0" marL="0">
              <a:buNone/>
            </a:pPr>
            <a:r>
              <a:rPr lang="en-US" sz="1600" b="1" dirty="0">
                <a:solidFill>
                  <a:srgbClr val="111111"/>
                </a:solidFill>
                <a:latin typeface="Calibri" pitchFamily="34" charset="0"/>
                <a:ea typeface="Calibri" pitchFamily="34" charset="-122"/>
                <a:cs typeface="Calibri" pitchFamily="34" charset="-120"/>
              </a:rPr>
              <a:t>4</a:t>
            </a:r>
            <a:endParaRPr lang="en-US" sz="1600" dirty="0"/>
          </a:p>
        </p:txBody>
      </p:sp>
      <p:sp>
        <p:nvSpPr>
          <p:cNvPr id="29" name="Text 27"/>
          <p:cNvSpPr/>
          <p:nvPr/>
        </p:nvSpPr>
        <p:spPr>
          <a:xfrm>
            <a:off x="6858000" y="2304288"/>
            <a:ext cx="1783080" cy="256032"/>
          </a:xfrm>
          <a:prstGeom prst="rect">
            <a:avLst/>
          </a:prstGeom>
          <a:noFill/>
          <a:ln/>
        </p:spPr>
        <p:txBody>
          <a:bodyPr wrap="square" rtlCol="0" anchor="ctr"/>
          <a:lstStyle/>
          <a:p>
            <a:pPr algn="ctr" indent="0" marL="0">
              <a:buNone/>
            </a:pPr>
            <a:r>
              <a:rPr lang="en-US" sz="900" b="1" dirty="0">
                <a:solidFill>
                  <a:srgbClr val="00B37D"/>
                </a:solidFill>
                <a:latin typeface="Calibri" pitchFamily="34" charset="0"/>
                <a:ea typeface="Calibri" pitchFamily="34" charset="-122"/>
                <a:cs typeface="Calibri" pitchFamily="34" charset="-120"/>
              </a:rPr>
              <a:t>Forever</a:t>
            </a:r>
            <a:endParaRPr lang="en-US" sz="900" dirty="0"/>
          </a:p>
        </p:txBody>
      </p:sp>
      <p:sp>
        <p:nvSpPr>
          <p:cNvPr id="30" name="Text 28"/>
          <p:cNvSpPr/>
          <p:nvPr/>
        </p:nvSpPr>
        <p:spPr>
          <a:xfrm>
            <a:off x="6839712" y="2606040"/>
            <a:ext cx="1819656" cy="38404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QR is live, permanent</a:t>
            </a:r>
            <a:endParaRPr lang="en-US" sz="1100" dirty="0"/>
          </a:p>
        </p:txBody>
      </p:sp>
      <p:sp>
        <p:nvSpPr>
          <p:cNvPr id="31" name="Text 29"/>
          <p:cNvSpPr/>
          <p:nvPr/>
        </p:nvSpPr>
        <p:spPr>
          <a:xfrm>
            <a:off x="6858000" y="3017520"/>
            <a:ext cx="1783080" cy="118872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Permanent URL. Update prices anytime — QR never changes. Dynamic pricing auto-applies.</a:t>
            </a:r>
            <a:endParaRPr lang="en-US" sz="900" dirty="0"/>
          </a:p>
        </p:txBody>
      </p:sp>
      <p:sp>
        <p:nvSpPr>
          <p:cNvPr id="32" name="Text 30"/>
          <p:cNvSpPr/>
          <p:nvPr/>
        </p:nvSpPr>
        <p:spPr>
          <a:xfrm>
            <a:off x="365760" y="4480560"/>
            <a:ext cx="8412480" cy="256032"/>
          </a:xfrm>
          <a:prstGeom prst="rect">
            <a:avLst/>
          </a:prstGeom>
          <a:noFill/>
          <a:ln/>
        </p:spPr>
        <p:txBody>
          <a:bodyPr wrap="square" rtlCol="0" anchor="ctr"/>
          <a:lstStyle/>
          <a:p>
            <a:pPr algn="ctr" indent="0" marL="0">
              <a:buNone/>
            </a:pPr>
            <a:r>
              <a:rPr lang="en-US" sz="900" i="1" dirty="0">
                <a:solidFill>
                  <a:srgbClr val="888888"/>
                </a:solidFill>
                <a:latin typeface="Calibri" pitchFamily="34" charset="0"/>
                <a:ea typeface="Calibri" pitchFamily="34" charset="-122"/>
                <a:cs typeface="Calibri" pitchFamily="34" charset="-120"/>
              </a:rPr>
              <a:t>Total elapsed time: under 15 minutes  ·  Owner doesn't type a single menu item  ·  AI does everything</a:t>
            </a:r>
            <a:endParaRPr lang="en-US" sz="900" dirty="0"/>
          </a:p>
        </p:txBody>
      </p:sp>
      <p:sp>
        <p:nvSpPr>
          <p:cNvPr id="33" name="Text 31"/>
          <p:cNvSpPr/>
          <p:nvPr/>
        </p:nvSpPr>
        <p:spPr>
          <a:xfrm>
            <a:off x="365760" y="4846320"/>
            <a:ext cx="6400800" cy="182880"/>
          </a:xfrm>
          <a:prstGeom prst="rect">
            <a:avLst/>
          </a:prstGeom>
          <a:noFill/>
          <a:ln/>
        </p:spPr>
        <p:txBody>
          <a:bodyPr wrap="square" rtlCol="0" anchor="ctr"/>
          <a:lstStyle/>
          <a:p>
            <a:pPr algn="l" indent="0" marL="0">
              <a:buNone/>
            </a:pPr>
            <a:r>
              <a:rPr lang="en-US" sz="800" dirty="0">
                <a:solidFill>
                  <a:srgbClr val="888888"/>
                </a:solidFill>
                <a:latin typeface="Calibri" pitchFamily="34" charset="0"/>
                <a:ea typeface="Calibri" pitchFamily="34" charset="-122"/>
                <a:cs typeface="Calibri" pitchFamily="34" charset="-120"/>
              </a:rPr>
              <a:t>aviqr.com  ·  Confidential  ·  June 2026</a:t>
            </a:r>
            <a:endParaRPr lang="en-US" sz="800" dirty="0"/>
          </a:p>
        </p:txBody>
      </p:sp>
      <p:sp>
        <p:nvSpPr>
          <p:cNvPr id="34" name="Text 32"/>
          <p:cNvSpPr/>
          <p:nvPr/>
        </p:nvSpPr>
        <p:spPr>
          <a:xfrm>
            <a:off x="7772400" y="4846320"/>
            <a:ext cx="914400" cy="18288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3 / 18</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rtlCol="0" anchor="ctr"/>
          <a:lstStyle/>
          <a:p>
            <a:pPr indent="0" marL="0">
              <a:buNone/>
            </a:pPr>
            <a:r>
              <a:rPr lang="en-US" sz="900" b="1" spc="400" kern="0" dirty="0">
                <a:solidFill>
                  <a:srgbClr val="00B37D"/>
                </a:solidFill>
                <a:latin typeface="Calibri" pitchFamily="34" charset="0"/>
                <a:ea typeface="Calibri" pitchFamily="34" charset="-122"/>
                <a:cs typeface="Calibri" pitchFamily="34" charset="-120"/>
              </a:rPr>
              <a:t>AI-POWERED eMENU</a:t>
            </a:r>
            <a:endParaRPr lang="en-US" sz="900" dirty="0"/>
          </a:p>
        </p:txBody>
      </p:sp>
      <p:sp>
        <p:nvSpPr>
          <p:cNvPr id="3" name="Text 1"/>
          <p:cNvSpPr/>
          <p:nvPr/>
        </p:nvSpPr>
        <p:spPr>
          <a:xfrm>
            <a:off x="365760" y="502920"/>
            <a:ext cx="8229600" cy="54864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Not just a QR code. A full AI-powered digital restaurant.</a:t>
            </a:r>
            <a:endParaRPr lang="en-US" sz="2400" dirty="0"/>
          </a:p>
        </p:txBody>
      </p:sp>
      <p:sp>
        <p:nvSpPr>
          <p:cNvPr id="4" name="Shape 2"/>
          <p:cNvSpPr/>
          <p:nvPr/>
        </p:nvSpPr>
        <p:spPr>
          <a:xfrm>
            <a:off x="320040" y="1280160"/>
            <a:ext cx="2651760" cy="1508760"/>
          </a:xfrm>
          <a:prstGeom prst="roundRect">
            <a:avLst>
              <a:gd name="adj" fmla="val 6061"/>
            </a:avLst>
          </a:prstGeom>
          <a:solidFill>
            <a:srgbClr val="1A1A1A"/>
          </a:solidFill>
          <a:ln w="12700">
            <a:solidFill>
              <a:srgbClr val="333333"/>
            </a:solidFill>
            <a:prstDash val="solid"/>
          </a:ln>
        </p:spPr>
      </p:sp>
      <p:sp>
        <p:nvSpPr>
          <p:cNvPr id="5" name="Text 3"/>
          <p:cNvSpPr/>
          <p:nvPr/>
        </p:nvSpPr>
        <p:spPr>
          <a:xfrm>
            <a:off x="429768" y="1371600"/>
            <a:ext cx="457200" cy="3657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6" name="Text 4"/>
          <p:cNvSpPr/>
          <p:nvPr/>
        </p:nvSpPr>
        <p:spPr>
          <a:xfrm>
            <a:off x="886968" y="1389888"/>
            <a:ext cx="2011680" cy="320040"/>
          </a:xfrm>
          <a:prstGeom prst="rect">
            <a:avLst/>
          </a:prstGeom>
          <a:noFill/>
          <a:ln/>
        </p:spPr>
        <p:txBody>
          <a:bodyPr wrap="square" rtlCol="0" anchor="ctr"/>
          <a:lstStyle/>
          <a:p>
            <a:pPr indent="0" marL="0">
              <a:buNone/>
            </a:pPr>
            <a:r>
              <a:rPr lang="en-US" sz="1100" b="1" dirty="0">
                <a:solidFill>
                  <a:srgbClr val="00B37D"/>
                </a:solidFill>
                <a:latin typeface="Calibri" pitchFamily="34" charset="0"/>
                <a:ea typeface="Calibri" pitchFamily="34" charset="-122"/>
                <a:cs typeface="Calibri" pitchFamily="34" charset="-120"/>
              </a:rPr>
              <a:t>AI Menu OCR</a:t>
            </a:r>
            <a:endParaRPr lang="en-US" sz="1100" dirty="0"/>
          </a:p>
        </p:txBody>
      </p:sp>
      <p:sp>
        <p:nvSpPr>
          <p:cNvPr id="7" name="Text 5"/>
          <p:cNvSpPr/>
          <p:nvPr/>
        </p:nvSpPr>
        <p:spPr>
          <a:xfrm>
            <a:off x="429768" y="1783080"/>
            <a:ext cx="2432304" cy="91440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Upload photo or PDF — AI reads, structures, and publishes your menu in 15 minutes. Hindi, Tamil, regional scripts supported.</a:t>
            </a:r>
            <a:endParaRPr lang="en-US" sz="900" dirty="0"/>
          </a:p>
        </p:txBody>
      </p:sp>
      <p:sp>
        <p:nvSpPr>
          <p:cNvPr id="8" name="Shape 6"/>
          <p:cNvSpPr/>
          <p:nvPr/>
        </p:nvSpPr>
        <p:spPr>
          <a:xfrm>
            <a:off x="3200400" y="1280160"/>
            <a:ext cx="2651760" cy="1508760"/>
          </a:xfrm>
          <a:prstGeom prst="roundRect">
            <a:avLst>
              <a:gd name="adj" fmla="val 6061"/>
            </a:avLst>
          </a:prstGeom>
          <a:solidFill>
            <a:srgbClr val="1A1A1A"/>
          </a:solidFill>
          <a:ln w="12700">
            <a:solidFill>
              <a:srgbClr val="333333"/>
            </a:solidFill>
            <a:prstDash val="solid"/>
          </a:ln>
        </p:spPr>
      </p:sp>
      <p:sp>
        <p:nvSpPr>
          <p:cNvPr id="9" name="Text 7"/>
          <p:cNvSpPr/>
          <p:nvPr/>
        </p:nvSpPr>
        <p:spPr>
          <a:xfrm>
            <a:off x="3310128" y="1371600"/>
            <a:ext cx="457200" cy="3657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0" name="Text 8"/>
          <p:cNvSpPr/>
          <p:nvPr/>
        </p:nvSpPr>
        <p:spPr>
          <a:xfrm>
            <a:off x="3767328" y="1389888"/>
            <a:ext cx="2011680" cy="320040"/>
          </a:xfrm>
          <a:prstGeom prst="rect">
            <a:avLst/>
          </a:prstGeom>
          <a:noFill/>
          <a:ln/>
        </p:spPr>
        <p:txBody>
          <a:bodyPr wrap="square" rtlCol="0" anchor="ctr"/>
          <a:lstStyle/>
          <a:p>
            <a:pPr indent="0" marL="0">
              <a:buNone/>
            </a:pPr>
            <a:r>
              <a:rPr lang="en-US" sz="1100" b="1" dirty="0">
                <a:solidFill>
                  <a:srgbClr val="00B37D"/>
                </a:solidFill>
                <a:latin typeface="Calibri" pitchFamily="34" charset="0"/>
                <a:ea typeface="Calibri" pitchFamily="34" charset="-122"/>
                <a:cs typeface="Calibri" pitchFamily="34" charset="-120"/>
              </a:rPr>
              <a:t>AI Dynamic Pricing</a:t>
            </a:r>
            <a:endParaRPr lang="en-US" sz="1100" dirty="0"/>
          </a:p>
        </p:txBody>
      </p:sp>
      <p:sp>
        <p:nvSpPr>
          <p:cNvPr id="11" name="Text 9"/>
          <p:cNvSpPr/>
          <p:nvPr/>
        </p:nvSpPr>
        <p:spPr>
          <a:xfrm>
            <a:off x="3310128" y="1783080"/>
            <a:ext cx="2432304" cy="91440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Set rules once: happy hour, weekend, festival, breakfast/dinner. AI auto-applies correct price at scan time.</a:t>
            </a:r>
            <a:endParaRPr lang="en-US" sz="900" dirty="0"/>
          </a:p>
        </p:txBody>
      </p:sp>
      <p:sp>
        <p:nvSpPr>
          <p:cNvPr id="12" name="Shape 10"/>
          <p:cNvSpPr/>
          <p:nvPr/>
        </p:nvSpPr>
        <p:spPr>
          <a:xfrm>
            <a:off x="6080760" y="1280160"/>
            <a:ext cx="2651760" cy="1508760"/>
          </a:xfrm>
          <a:prstGeom prst="roundRect">
            <a:avLst>
              <a:gd name="adj" fmla="val 6061"/>
            </a:avLst>
          </a:prstGeom>
          <a:solidFill>
            <a:srgbClr val="1A1A1A"/>
          </a:solidFill>
          <a:ln w="12700">
            <a:solidFill>
              <a:srgbClr val="333333"/>
            </a:solidFill>
            <a:prstDash val="solid"/>
          </a:ln>
        </p:spPr>
      </p:sp>
      <p:sp>
        <p:nvSpPr>
          <p:cNvPr id="13" name="Text 11"/>
          <p:cNvSpPr/>
          <p:nvPr/>
        </p:nvSpPr>
        <p:spPr>
          <a:xfrm>
            <a:off x="6190488" y="1371600"/>
            <a:ext cx="457200" cy="3657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4" name="Text 12"/>
          <p:cNvSpPr/>
          <p:nvPr/>
        </p:nvSpPr>
        <p:spPr>
          <a:xfrm>
            <a:off x="6647688" y="1389888"/>
            <a:ext cx="2011680" cy="320040"/>
          </a:xfrm>
          <a:prstGeom prst="rect">
            <a:avLst/>
          </a:prstGeom>
          <a:noFill/>
          <a:ln/>
        </p:spPr>
        <p:txBody>
          <a:bodyPr wrap="square" rtlCol="0" anchor="ctr"/>
          <a:lstStyle/>
          <a:p>
            <a:pPr indent="0" marL="0">
              <a:buNone/>
            </a:pPr>
            <a:r>
              <a:rPr lang="en-US" sz="1100" b="1" dirty="0">
                <a:solidFill>
                  <a:srgbClr val="00B37D"/>
                </a:solidFill>
                <a:latin typeface="Calibri" pitchFamily="34" charset="0"/>
                <a:ea typeface="Calibri" pitchFamily="34" charset="-122"/>
                <a:cs typeface="Calibri" pitchFamily="34" charset="-120"/>
              </a:rPr>
              <a:t>AI Sales Insights</a:t>
            </a:r>
            <a:endParaRPr lang="en-US" sz="1100" dirty="0"/>
          </a:p>
        </p:txBody>
      </p:sp>
      <p:sp>
        <p:nvSpPr>
          <p:cNvPr id="15" name="Text 13"/>
          <p:cNvSpPr/>
          <p:nvPr/>
        </p:nvSpPr>
        <p:spPr>
          <a:xfrm>
            <a:off x="6190488" y="1783080"/>
            <a:ext cx="2432304" cy="91440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AI analyzes order patterns, peak hours, top items, and revenue trends. Actionable recommendations every week.</a:t>
            </a:r>
            <a:endParaRPr lang="en-US" sz="900" dirty="0"/>
          </a:p>
        </p:txBody>
      </p:sp>
      <p:sp>
        <p:nvSpPr>
          <p:cNvPr id="16" name="Shape 14"/>
          <p:cNvSpPr/>
          <p:nvPr/>
        </p:nvSpPr>
        <p:spPr>
          <a:xfrm>
            <a:off x="320040" y="2971800"/>
            <a:ext cx="2651760" cy="1508760"/>
          </a:xfrm>
          <a:prstGeom prst="roundRect">
            <a:avLst>
              <a:gd name="adj" fmla="val 6061"/>
            </a:avLst>
          </a:prstGeom>
          <a:solidFill>
            <a:srgbClr val="1A1A1A"/>
          </a:solidFill>
          <a:ln w="12700">
            <a:solidFill>
              <a:srgbClr val="333333"/>
            </a:solidFill>
            <a:prstDash val="solid"/>
          </a:ln>
        </p:spPr>
      </p:sp>
      <p:sp>
        <p:nvSpPr>
          <p:cNvPr id="17" name="Text 15"/>
          <p:cNvSpPr/>
          <p:nvPr/>
        </p:nvSpPr>
        <p:spPr>
          <a:xfrm>
            <a:off x="429768" y="3063240"/>
            <a:ext cx="457200" cy="3657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18" name="Text 16"/>
          <p:cNvSpPr/>
          <p:nvPr/>
        </p:nvSpPr>
        <p:spPr>
          <a:xfrm>
            <a:off x="886968" y="3081528"/>
            <a:ext cx="2011680" cy="320040"/>
          </a:xfrm>
          <a:prstGeom prst="rect">
            <a:avLst/>
          </a:prstGeom>
          <a:noFill/>
          <a:ln/>
        </p:spPr>
        <p:txBody>
          <a:bodyPr wrap="square" rtlCol="0" anchor="ctr"/>
          <a:lstStyle/>
          <a:p>
            <a:pPr indent="0" marL="0">
              <a:buNone/>
            </a:pPr>
            <a:r>
              <a:rPr lang="en-US" sz="1100" b="1" dirty="0">
                <a:solidFill>
                  <a:srgbClr val="00B37D"/>
                </a:solidFill>
                <a:latin typeface="Calibri" pitchFamily="34" charset="0"/>
                <a:ea typeface="Calibri" pitchFamily="34" charset="-122"/>
                <a:cs typeface="Calibri" pitchFamily="34" charset="-120"/>
              </a:rPr>
              <a:t>Competitive eMenu</a:t>
            </a:r>
            <a:endParaRPr lang="en-US" sz="1100" dirty="0"/>
          </a:p>
        </p:txBody>
      </p:sp>
      <p:sp>
        <p:nvSpPr>
          <p:cNvPr id="19" name="Text 17"/>
          <p:cNvSpPr/>
          <p:nvPr/>
        </p:nvSpPr>
        <p:spPr>
          <a:xfrm>
            <a:off x="429768" y="3474720"/>
            <a:ext cx="2432304" cy="91440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Compare your pricing with nearby restaurants. AI suggests optimal pricing to stay competitive and maximize revenue.</a:t>
            </a:r>
            <a:endParaRPr lang="en-US" sz="900" dirty="0"/>
          </a:p>
        </p:txBody>
      </p:sp>
      <p:sp>
        <p:nvSpPr>
          <p:cNvPr id="20" name="Shape 18"/>
          <p:cNvSpPr/>
          <p:nvPr/>
        </p:nvSpPr>
        <p:spPr>
          <a:xfrm>
            <a:off x="3200400" y="2971800"/>
            <a:ext cx="2651760" cy="1508760"/>
          </a:xfrm>
          <a:prstGeom prst="roundRect">
            <a:avLst>
              <a:gd name="adj" fmla="val 6061"/>
            </a:avLst>
          </a:prstGeom>
          <a:solidFill>
            <a:srgbClr val="1A1A1A"/>
          </a:solidFill>
          <a:ln w="12700">
            <a:solidFill>
              <a:srgbClr val="333333"/>
            </a:solidFill>
            <a:prstDash val="solid"/>
          </a:ln>
        </p:spPr>
      </p:sp>
      <p:sp>
        <p:nvSpPr>
          <p:cNvPr id="21" name="Text 19"/>
          <p:cNvSpPr/>
          <p:nvPr/>
        </p:nvSpPr>
        <p:spPr>
          <a:xfrm>
            <a:off x="3310128" y="3063240"/>
            <a:ext cx="457200" cy="3657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22" name="Text 20"/>
          <p:cNvSpPr/>
          <p:nvPr/>
        </p:nvSpPr>
        <p:spPr>
          <a:xfrm>
            <a:off x="3767328" y="3081528"/>
            <a:ext cx="2011680" cy="320040"/>
          </a:xfrm>
          <a:prstGeom prst="rect">
            <a:avLst/>
          </a:prstGeom>
          <a:noFill/>
          <a:ln/>
        </p:spPr>
        <p:txBody>
          <a:bodyPr wrap="square" rtlCol="0" anchor="ctr"/>
          <a:lstStyle/>
          <a:p>
            <a:pPr indent="0" marL="0">
              <a:buNone/>
            </a:pPr>
            <a:r>
              <a:rPr lang="en-US" sz="1100" b="1" dirty="0">
                <a:solidFill>
                  <a:srgbClr val="00B37D"/>
                </a:solidFill>
                <a:latin typeface="Calibri" pitchFamily="34" charset="0"/>
                <a:ea typeface="Calibri" pitchFamily="34" charset="-122"/>
                <a:cs typeface="Calibri" pitchFamily="34" charset="-120"/>
              </a:rPr>
              <a:t>Smart Notifications</a:t>
            </a:r>
            <a:endParaRPr lang="en-US" sz="1100" dirty="0"/>
          </a:p>
        </p:txBody>
      </p:sp>
      <p:sp>
        <p:nvSpPr>
          <p:cNvPr id="23" name="Text 21"/>
          <p:cNvSpPr/>
          <p:nvPr/>
        </p:nvSpPr>
        <p:spPr>
          <a:xfrm>
            <a:off x="3310128" y="3474720"/>
            <a:ext cx="2432304" cy="91440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AI detects low stock, slow items, and unusual order patterns. Alerts owner before problems happen.</a:t>
            </a:r>
            <a:endParaRPr lang="en-US" sz="900" dirty="0"/>
          </a:p>
        </p:txBody>
      </p:sp>
      <p:sp>
        <p:nvSpPr>
          <p:cNvPr id="24" name="Shape 22"/>
          <p:cNvSpPr/>
          <p:nvPr/>
        </p:nvSpPr>
        <p:spPr>
          <a:xfrm>
            <a:off x="6080760" y="2971800"/>
            <a:ext cx="2651760" cy="1508760"/>
          </a:xfrm>
          <a:prstGeom prst="roundRect">
            <a:avLst>
              <a:gd name="adj" fmla="val 6061"/>
            </a:avLst>
          </a:prstGeom>
          <a:solidFill>
            <a:srgbClr val="1A1A1A"/>
          </a:solidFill>
          <a:ln w="12700">
            <a:solidFill>
              <a:srgbClr val="333333"/>
            </a:solidFill>
            <a:prstDash val="solid"/>
          </a:ln>
        </p:spPr>
      </p:sp>
      <p:sp>
        <p:nvSpPr>
          <p:cNvPr id="25" name="Text 23"/>
          <p:cNvSpPr/>
          <p:nvPr/>
        </p:nvSpPr>
        <p:spPr>
          <a:xfrm>
            <a:off x="6190488" y="3063240"/>
            <a:ext cx="457200" cy="365760"/>
          </a:xfrm>
          <a:prstGeom prst="rect">
            <a:avLst/>
          </a:prstGeom>
          <a:noFill/>
          <a:ln/>
        </p:spPr>
        <p:txBody>
          <a:bodyPr wrap="square" rtlCol="0" anchor="ctr"/>
          <a:lstStyle/>
          <a:p>
            <a:pPr indent="0" marL="0">
              <a:buNone/>
            </a:pPr>
            <a:r>
              <a:rPr lang="en-US" sz="1600" dirty="0">
                <a:solidFill>
                  <a:srgbClr val="000000"/>
                </a:solidFill>
              </a:rPr>
              <a:t>🎯</a:t>
            </a:r>
            <a:endParaRPr lang="en-US" sz="1600" dirty="0"/>
          </a:p>
        </p:txBody>
      </p:sp>
      <p:sp>
        <p:nvSpPr>
          <p:cNvPr id="26" name="Text 24"/>
          <p:cNvSpPr/>
          <p:nvPr/>
        </p:nvSpPr>
        <p:spPr>
          <a:xfrm>
            <a:off x="6647688" y="3081528"/>
            <a:ext cx="2011680" cy="320040"/>
          </a:xfrm>
          <a:prstGeom prst="rect">
            <a:avLst/>
          </a:prstGeom>
          <a:noFill/>
          <a:ln/>
        </p:spPr>
        <p:txBody>
          <a:bodyPr wrap="square" rtlCol="0" anchor="ctr"/>
          <a:lstStyle/>
          <a:p>
            <a:pPr indent="0" marL="0">
              <a:buNone/>
            </a:pPr>
            <a:r>
              <a:rPr lang="en-US" sz="1100" b="1" dirty="0">
                <a:solidFill>
                  <a:srgbClr val="00B37D"/>
                </a:solidFill>
                <a:latin typeface="Calibri" pitchFamily="34" charset="0"/>
                <a:ea typeface="Calibri" pitchFamily="34" charset="-122"/>
                <a:cs typeface="Calibri" pitchFamily="34" charset="-120"/>
              </a:rPr>
              <a:t>Personalized Upsell</a:t>
            </a:r>
            <a:endParaRPr lang="en-US" sz="1100" dirty="0"/>
          </a:p>
        </p:txBody>
      </p:sp>
      <p:sp>
        <p:nvSpPr>
          <p:cNvPr id="27" name="Text 25"/>
          <p:cNvSpPr/>
          <p:nvPr/>
        </p:nvSpPr>
        <p:spPr>
          <a:xfrm>
            <a:off x="6190488" y="3474720"/>
            <a:ext cx="2432304" cy="91440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AI suggests add-ons to customers based on their cart — 'Add lassi for Rs.30?' Increases avg order value by 15-25%.</a:t>
            </a:r>
            <a:endParaRPr lang="en-US" sz="900" dirty="0"/>
          </a:p>
        </p:txBody>
      </p:sp>
      <p:sp>
        <p:nvSpPr>
          <p:cNvPr id="28" name="Text 26"/>
          <p:cNvSpPr/>
          <p:nvPr/>
        </p:nvSpPr>
        <p:spPr>
          <a:xfrm>
            <a:off x="365760" y="4846320"/>
            <a:ext cx="6400800" cy="182880"/>
          </a:xfrm>
          <a:prstGeom prst="rect">
            <a:avLst/>
          </a:prstGeom>
          <a:noFill/>
          <a:ln/>
        </p:spPr>
        <p:txBody>
          <a:bodyPr wrap="square" rtlCol="0" anchor="ctr"/>
          <a:lstStyle/>
          <a:p>
            <a:pPr algn="l" indent="0" marL="0">
              <a:buNone/>
            </a:pPr>
            <a:r>
              <a:rPr lang="en-US" sz="800" dirty="0">
                <a:solidFill>
                  <a:srgbClr val="888888"/>
                </a:solidFill>
                <a:latin typeface="Calibri" pitchFamily="34" charset="0"/>
                <a:ea typeface="Calibri" pitchFamily="34" charset="-122"/>
                <a:cs typeface="Calibri" pitchFamily="34" charset="-120"/>
              </a:rPr>
              <a:t>aviqr.com  ·  Confidential  ·  June 2026</a:t>
            </a:r>
            <a:endParaRPr lang="en-US" sz="800" dirty="0"/>
          </a:p>
        </p:txBody>
      </p:sp>
      <p:sp>
        <p:nvSpPr>
          <p:cNvPr id="29" name="Text 27"/>
          <p:cNvSpPr/>
          <p:nvPr/>
        </p:nvSpPr>
        <p:spPr>
          <a:xfrm>
            <a:off x="7772400" y="4846320"/>
            <a:ext cx="914400" cy="18288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4 / 18</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rtlCol="0" anchor="ctr"/>
          <a:lstStyle/>
          <a:p>
            <a:pPr indent="0" marL="0">
              <a:buNone/>
            </a:pPr>
            <a:r>
              <a:rPr lang="en-US" sz="900" b="1" spc="400" kern="0" dirty="0">
                <a:solidFill>
                  <a:srgbClr val="00B37D"/>
                </a:solidFill>
                <a:latin typeface="Calibri" pitchFamily="34" charset="0"/>
                <a:ea typeface="Calibri" pitchFamily="34" charset="-122"/>
                <a:cs typeface="Calibri" pitchFamily="34" charset="-120"/>
              </a:rPr>
              <a:t>WHY WE WIN</a:t>
            </a:r>
            <a:endParaRPr lang="en-US" sz="900" dirty="0"/>
          </a:p>
        </p:txBody>
      </p:sp>
      <p:sp>
        <p:nvSpPr>
          <p:cNvPr id="3" name="Text 1"/>
          <p:cNvSpPr/>
          <p:nvPr/>
        </p:nvSpPr>
        <p:spPr>
          <a:xfrm>
            <a:off x="365760" y="502920"/>
            <a:ext cx="822960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AI OCR-first is a moat — not a feature.</a:t>
            </a:r>
            <a:endParaRPr lang="en-US" sz="2600" dirty="0"/>
          </a:p>
        </p:txBody>
      </p:sp>
      <p:sp>
        <p:nvSpPr>
          <p:cNvPr id="4" name="Text 2"/>
          <p:cNvSpPr/>
          <p:nvPr/>
        </p:nvSpPr>
        <p:spPr>
          <a:xfrm>
            <a:off x="365760" y="1051560"/>
            <a:ext cx="8229600" cy="274320"/>
          </a:xfrm>
          <a:prstGeom prst="rect">
            <a:avLst/>
          </a:prstGeom>
          <a:noFill/>
          <a:ln/>
        </p:spPr>
        <p:txBody>
          <a:bodyPr wrap="square" rtlCol="0" anchor="ctr"/>
          <a:lstStyle/>
          <a:p>
            <a:pPr indent="0" marL="0">
              <a:buNone/>
            </a:pPr>
            <a:r>
              <a:rPr lang="en-US" sz="1100" dirty="0">
                <a:solidFill>
                  <a:srgbClr val="CCCCCC"/>
                </a:solidFill>
                <a:latin typeface="Calibri" pitchFamily="34" charset="0"/>
                <a:ea typeface="Calibri" pitchFamily="34" charset="-122"/>
                <a:cs typeface="Calibri" pitchFamily="34" charset="-120"/>
              </a:rPr>
              <a:t>Anyone can copy QR ordering. Almost nobody is willing to do the hard work of AI OCR for Indian menus.</a:t>
            </a:r>
            <a:endParaRPr lang="en-US" sz="1100" dirty="0"/>
          </a:p>
        </p:txBody>
      </p:sp>
      <p:sp>
        <p:nvSpPr>
          <p:cNvPr id="5" name="Shape 3"/>
          <p:cNvSpPr/>
          <p:nvPr/>
        </p:nvSpPr>
        <p:spPr>
          <a:xfrm>
            <a:off x="320040" y="1508760"/>
            <a:ext cx="1965960" cy="2834640"/>
          </a:xfrm>
          <a:prstGeom prst="roundRect">
            <a:avLst>
              <a:gd name="adj" fmla="val 4651"/>
            </a:avLst>
          </a:prstGeom>
          <a:solidFill>
            <a:srgbClr val="1A1A1A"/>
          </a:solidFill>
          <a:ln w="12700">
            <a:solidFill>
              <a:srgbClr val="00B37D"/>
            </a:solidFill>
            <a:prstDash val="solid"/>
          </a:ln>
          <a:effectLst>
            <a:outerShdw sx="100000" sy="100000" kx="0" ky="0" algn="bl" rotWithShape="0" blurRad="127000" dist="25400" dir="2700000">
              <a:srgbClr val="00B37D">
                <a:alpha val="30000"/>
              </a:srgbClr>
            </a:outerShdw>
          </a:effectLst>
        </p:spPr>
      </p:sp>
      <p:sp>
        <p:nvSpPr>
          <p:cNvPr id="6" name="Text 4"/>
          <p:cNvSpPr/>
          <p:nvPr/>
        </p:nvSpPr>
        <p:spPr>
          <a:xfrm>
            <a:off x="393192" y="1645920"/>
            <a:ext cx="1828800" cy="640080"/>
          </a:xfrm>
          <a:prstGeom prst="rect">
            <a:avLst/>
          </a:prstGeom>
          <a:noFill/>
          <a:ln/>
        </p:spPr>
        <p:txBody>
          <a:bodyPr wrap="square" rtlCol="0" anchor="ctr"/>
          <a:lstStyle/>
          <a:p>
            <a:pPr algn="ctr" indent="0" marL="0">
              <a:buNone/>
            </a:pPr>
            <a:r>
              <a:rPr lang="en-US" sz="3200" b="1" dirty="0">
                <a:solidFill>
                  <a:srgbClr val="00B37D"/>
                </a:solidFill>
                <a:latin typeface="Calibri" pitchFamily="34" charset="0"/>
                <a:ea typeface="Calibri" pitchFamily="34" charset="-122"/>
                <a:cs typeface="Calibri" pitchFamily="34" charset="-120"/>
              </a:rPr>
              <a:t>95%+</a:t>
            </a:r>
            <a:endParaRPr lang="en-US" sz="3200" dirty="0"/>
          </a:p>
        </p:txBody>
      </p:sp>
      <p:sp>
        <p:nvSpPr>
          <p:cNvPr id="7" name="Text 5"/>
          <p:cNvSpPr/>
          <p:nvPr/>
        </p:nvSpPr>
        <p:spPr>
          <a:xfrm>
            <a:off x="393192" y="2304288"/>
            <a:ext cx="182880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Activation rate</a:t>
            </a:r>
            <a:endParaRPr lang="en-US" sz="1000" dirty="0"/>
          </a:p>
        </p:txBody>
      </p:sp>
      <p:sp>
        <p:nvSpPr>
          <p:cNvPr id="8" name="Shape 6"/>
          <p:cNvSpPr/>
          <p:nvPr/>
        </p:nvSpPr>
        <p:spPr>
          <a:xfrm>
            <a:off x="594360" y="2651760"/>
            <a:ext cx="1417320" cy="0"/>
          </a:xfrm>
          <a:prstGeom prst="line">
            <a:avLst/>
          </a:prstGeom>
          <a:noFill/>
          <a:ln w="12700">
            <a:solidFill>
              <a:srgbClr val="00B37D"/>
            </a:solidFill>
            <a:prstDash val="solid"/>
          </a:ln>
        </p:spPr>
      </p:sp>
      <p:sp>
        <p:nvSpPr>
          <p:cNvPr id="9" name="Text 7"/>
          <p:cNvSpPr/>
          <p:nvPr/>
        </p:nvSpPr>
        <p:spPr>
          <a:xfrm>
            <a:off x="411480" y="2743200"/>
            <a:ext cx="1783080" cy="146304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AI OCR-onboarded restaurants go live in their first session. Manual-entry tools see 30% activation in 30 days.</a:t>
            </a:r>
            <a:endParaRPr lang="en-US" sz="900" dirty="0"/>
          </a:p>
        </p:txBody>
      </p:sp>
      <p:sp>
        <p:nvSpPr>
          <p:cNvPr id="10" name="Shape 8"/>
          <p:cNvSpPr/>
          <p:nvPr/>
        </p:nvSpPr>
        <p:spPr>
          <a:xfrm>
            <a:off x="2468880" y="1508760"/>
            <a:ext cx="1965960" cy="2834640"/>
          </a:xfrm>
          <a:prstGeom prst="roundRect">
            <a:avLst>
              <a:gd name="adj" fmla="val 4651"/>
            </a:avLst>
          </a:prstGeom>
          <a:solidFill>
            <a:srgbClr val="1A1A1A"/>
          </a:solidFill>
          <a:ln w="12700">
            <a:solidFill>
              <a:srgbClr val="00B37D"/>
            </a:solidFill>
            <a:prstDash val="solid"/>
          </a:ln>
          <a:effectLst>
            <a:outerShdw sx="100000" sy="100000" kx="0" ky="0" algn="bl" rotWithShape="0" blurRad="127000" dist="25400" dir="2700000">
              <a:srgbClr val="00B37D">
                <a:alpha val="30000"/>
              </a:srgbClr>
            </a:outerShdw>
          </a:effectLst>
        </p:spPr>
      </p:sp>
      <p:sp>
        <p:nvSpPr>
          <p:cNvPr id="11" name="Text 9"/>
          <p:cNvSpPr/>
          <p:nvPr/>
        </p:nvSpPr>
        <p:spPr>
          <a:xfrm>
            <a:off x="2542032" y="1645920"/>
            <a:ext cx="1828800" cy="640080"/>
          </a:xfrm>
          <a:prstGeom prst="rect">
            <a:avLst/>
          </a:prstGeom>
          <a:noFill/>
          <a:ln/>
        </p:spPr>
        <p:txBody>
          <a:bodyPr wrap="square" rtlCol="0" anchor="ctr"/>
          <a:lstStyle/>
          <a:p>
            <a:pPr algn="ctr" indent="0" marL="0">
              <a:buNone/>
            </a:pPr>
            <a:r>
              <a:rPr lang="en-US" sz="3200" b="1" dirty="0">
                <a:solidFill>
                  <a:srgbClr val="00B37D"/>
                </a:solidFill>
                <a:latin typeface="Calibri" pitchFamily="34" charset="0"/>
                <a:ea typeface="Calibri" pitchFamily="34" charset="-122"/>
                <a:cs typeface="Calibri" pitchFamily="34" charset="-120"/>
              </a:rPr>
              <a:t>15 min</a:t>
            </a:r>
            <a:endParaRPr lang="en-US" sz="3200" dirty="0"/>
          </a:p>
        </p:txBody>
      </p:sp>
      <p:sp>
        <p:nvSpPr>
          <p:cNvPr id="12" name="Text 10"/>
          <p:cNvSpPr/>
          <p:nvPr/>
        </p:nvSpPr>
        <p:spPr>
          <a:xfrm>
            <a:off x="2542032" y="2304288"/>
            <a:ext cx="182880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Time to first value</a:t>
            </a:r>
            <a:endParaRPr lang="en-US" sz="1000" dirty="0"/>
          </a:p>
        </p:txBody>
      </p:sp>
      <p:sp>
        <p:nvSpPr>
          <p:cNvPr id="13" name="Shape 11"/>
          <p:cNvSpPr/>
          <p:nvPr/>
        </p:nvSpPr>
        <p:spPr>
          <a:xfrm>
            <a:off x="2743200" y="2651760"/>
            <a:ext cx="1417320" cy="0"/>
          </a:xfrm>
          <a:prstGeom prst="line">
            <a:avLst/>
          </a:prstGeom>
          <a:noFill/>
          <a:ln w="12700">
            <a:solidFill>
              <a:srgbClr val="00B37D"/>
            </a:solidFill>
            <a:prstDash val="solid"/>
          </a:ln>
        </p:spPr>
      </p:sp>
      <p:sp>
        <p:nvSpPr>
          <p:cNvPr id="14" name="Text 12"/>
          <p:cNvSpPr/>
          <p:nvPr/>
        </p:nvSpPr>
        <p:spPr>
          <a:xfrm>
            <a:off x="2560320" y="2743200"/>
            <a:ext cx="1783080" cy="146304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From signup to first QR scan. POS competitors take 3+ days. The friction is the funnel.</a:t>
            </a:r>
            <a:endParaRPr lang="en-US" sz="900" dirty="0"/>
          </a:p>
        </p:txBody>
      </p:sp>
      <p:sp>
        <p:nvSpPr>
          <p:cNvPr id="15" name="Shape 13"/>
          <p:cNvSpPr/>
          <p:nvPr/>
        </p:nvSpPr>
        <p:spPr>
          <a:xfrm>
            <a:off x="4617720" y="1508760"/>
            <a:ext cx="1965960" cy="2834640"/>
          </a:xfrm>
          <a:prstGeom prst="roundRect">
            <a:avLst>
              <a:gd name="adj" fmla="val 4651"/>
            </a:avLst>
          </a:prstGeom>
          <a:solidFill>
            <a:srgbClr val="1A1A1A"/>
          </a:solidFill>
          <a:ln w="12700">
            <a:solidFill>
              <a:srgbClr val="00B37D"/>
            </a:solidFill>
            <a:prstDash val="solid"/>
          </a:ln>
          <a:effectLst>
            <a:outerShdw sx="100000" sy="100000" kx="0" ky="0" algn="bl" rotWithShape="0" blurRad="127000" dist="25400" dir="2700000">
              <a:srgbClr val="00B37D">
                <a:alpha val="30000"/>
              </a:srgbClr>
            </a:outerShdw>
          </a:effectLst>
        </p:spPr>
      </p:sp>
      <p:sp>
        <p:nvSpPr>
          <p:cNvPr id="16" name="Text 14"/>
          <p:cNvSpPr/>
          <p:nvPr/>
        </p:nvSpPr>
        <p:spPr>
          <a:xfrm>
            <a:off x="4690872" y="1645920"/>
            <a:ext cx="1828800" cy="640080"/>
          </a:xfrm>
          <a:prstGeom prst="rect">
            <a:avLst/>
          </a:prstGeom>
          <a:noFill/>
          <a:ln/>
        </p:spPr>
        <p:txBody>
          <a:bodyPr wrap="square" rtlCol="0" anchor="ctr"/>
          <a:lstStyle/>
          <a:p>
            <a:pPr algn="ctr" indent="0" marL="0">
              <a:buNone/>
            </a:pPr>
            <a:r>
              <a:rPr lang="en-US" sz="3200" b="1" dirty="0">
                <a:solidFill>
                  <a:srgbClr val="00B37D"/>
                </a:solidFill>
                <a:latin typeface="Calibri" pitchFamily="34" charset="0"/>
                <a:ea typeface="Calibri" pitchFamily="34" charset="-122"/>
                <a:cs typeface="Calibri" pitchFamily="34" charset="-120"/>
              </a:rPr>
              <a:t>94%</a:t>
            </a:r>
            <a:endParaRPr lang="en-US" sz="3200" dirty="0"/>
          </a:p>
        </p:txBody>
      </p:sp>
      <p:sp>
        <p:nvSpPr>
          <p:cNvPr id="17" name="Text 15"/>
          <p:cNvSpPr/>
          <p:nvPr/>
        </p:nvSpPr>
        <p:spPr>
          <a:xfrm>
            <a:off x="4690872" y="2304288"/>
            <a:ext cx="182880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8-week retention</a:t>
            </a:r>
            <a:endParaRPr lang="en-US" sz="1000" dirty="0"/>
          </a:p>
        </p:txBody>
      </p:sp>
      <p:sp>
        <p:nvSpPr>
          <p:cNvPr id="18" name="Shape 16"/>
          <p:cNvSpPr/>
          <p:nvPr/>
        </p:nvSpPr>
        <p:spPr>
          <a:xfrm>
            <a:off x="4892040" y="2651760"/>
            <a:ext cx="1417320" cy="0"/>
          </a:xfrm>
          <a:prstGeom prst="line">
            <a:avLst/>
          </a:prstGeom>
          <a:noFill/>
          <a:ln w="12700">
            <a:solidFill>
              <a:srgbClr val="00B37D"/>
            </a:solidFill>
            <a:prstDash val="solid"/>
          </a:ln>
        </p:spPr>
      </p:sp>
      <p:sp>
        <p:nvSpPr>
          <p:cNvPr id="19" name="Text 17"/>
          <p:cNvSpPr/>
          <p:nvPr/>
        </p:nvSpPr>
        <p:spPr>
          <a:xfrm>
            <a:off x="4709160" y="2743200"/>
            <a:ext cx="1783080" cy="146304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Owners who reached 'live menu' stay. The hard-won AI install becomes a switching cost.</a:t>
            </a:r>
            <a:endParaRPr lang="en-US" sz="900" dirty="0"/>
          </a:p>
        </p:txBody>
      </p:sp>
      <p:sp>
        <p:nvSpPr>
          <p:cNvPr id="20" name="Shape 18"/>
          <p:cNvSpPr/>
          <p:nvPr/>
        </p:nvSpPr>
        <p:spPr>
          <a:xfrm>
            <a:off x="6766560" y="1508760"/>
            <a:ext cx="1965960" cy="2834640"/>
          </a:xfrm>
          <a:prstGeom prst="roundRect">
            <a:avLst>
              <a:gd name="adj" fmla="val 4651"/>
            </a:avLst>
          </a:prstGeom>
          <a:solidFill>
            <a:srgbClr val="1A1A1A"/>
          </a:solidFill>
          <a:ln w="12700">
            <a:solidFill>
              <a:srgbClr val="00B37D"/>
            </a:solidFill>
            <a:prstDash val="solid"/>
          </a:ln>
          <a:effectLst>
            <a:outerShdw sx="100000" sy="100000" kx="0" ky="0" algn="bl" rotWithShape="0" blurRad="127000" dist="25400" dir="2700000">
              <a:srgbClr val="00B37D">
                <a:alpha val="30000"/>
              </a:srgbClr>
            </a:outerShdw>
          </a:effectLst>
        </p:spPr>
      </p:sp>
      <p:sp>
        <p:nvSpPr>
          <p:cNvPr id="21" name="Text 19"/>
          <p:cNvSpPr/>
          <p:nvPr/>
        </p:nvSpPr>
        <p:spPr>
          <a:xfrm>
            <a:off x="6839712" y="1645920"/>
            <a:ext cx="1828800" cy="640080"/>
          </a:xfrm>
          <a:prstGeom prst="rect">
            <a:avLst/>
          </a:prstGeom>
          <a:noFill/>
          <a:ln/>
        </p:spPr>
        <p:txBody>
          <a:bodyPr wrap="square" rtlCol="0" anchor="ctr"/>
          <a:lstStyle/>
          <a:p>
            <a:pPr algn="ctr" indent="0" marL="0">
              <a:buNone/>
            </a:pPr>
            <a:r>
              <a:rPr lang="en-US" sz="3200" b="1" dirty="0">
                <a:solidFill>
                  <a:srgbClr val="00B37D"/>
                </a:solidFill>
                <a:latin typeface="Calibri" pitchFamily="34" charset="0"/>
                <a:ea typeface="Calibri" pitchFamily="34" charset="-122"/>
                <a:cs typeface="Calibri" pitchFamily="34" charset="-120"/>
              </a:rPr>
              <a:t>∞</a:t>
            </a:r>
            <a:endParaRPr lang="en-US" sz="3200" dirty="0"/>
          </a:p>
        </p:txBody>
      </p:sp>
      <p:sp>
        <p:nvSpPr>
          <p:cNvPr id="22" name="Text 20"/>
          <p:cNvSpPr/>
          <p:nvPr/>
        </p:nvSpPr>
        <p:spPr>
          <a:xfrm>
            <a:off x="6839712" y="2304288"/>
            <a:ext cx="182880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Compounding AI moat</a:t>
            </a:r>
            <a:endParaRPr lang="en-US" sz="1000" dirty="0"/>
          </a:p>
        </p:txBody>
      </p:sp>
      <p:sp>
        <p:nvSpPr>
          <p:cNvPr id="23" name="Shape 21"/>
          <p:cNvSpPr/>
          <p:nvPr/>
        </p:nvSpPr>
        <p:spPr>
          <a:xfrm>
            <a:off x="7040880" y="2651760"/>
            <a:ext cx="1417320" cy="0"/>
          </a:xfrm>
          <a:prstGeom prst="line">
            <a:avLst/>
          </a:prstGeom>
          <a:noFill/>
          <a:ln w="12700">
            <a:solidFill>
              <a:srgbClr val="00B37D"/>
            </a:solidFill>
            <a:prstDash val="solid"/>
          </a:ln>
        </p:spPr>
      </p:sp>
      <p:sp>
        <p:nvSpPr>
          <p:cNvPr id="24" name="Text 22"/>
          <p:cNvSpPr/>
          <p:nvPr/>
        </p:nvSpPr>
        <p:spPr>
          <a:xfrm>
            <a:off x="6858000" y="2743200"/>
            <a:ext cx="1783080" cy="146304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Every OCR run trains our model on Indian menus, scripts, dishes. Year 1 advantage compounds in Year 2.</a:t>
            </a:r>
            <a:endParaRPr lang="en-US" sz="900" dirty="0"/>
          </a:p>
        </p:txBody>
      </p:sp>
      <p:sp>
        <p:nvSpPr>
          <p:cNvPr id="25" name="Text 23"/>
          <p:cNvSpPr/>
          <p:nvPr/>
        </p:nvSpPr>
        <p:spPr>
          <a:xfrm>
            <a:off x="365760" y="4846320"/>
            <a:ext cx="6400800" cy="182880"/>
          </a:xfrm>
          <a:prstGeom prst="rect">
            <a:avLst/>
          </a:prstGeom>
          <a:noFill/>
          <a:ln/>
        </p:spPr>
        <p:txBody>
          <a:bodyPr wrap="square" rtlCol="0" anchor="ctr"/>
          <a:lstStyle/>
          <a:p>
            <a:pPr algn="l" indent="0" marL="0">
              <a:buNone/>
            </a:pPr>
            <a:r>
              <a:rPr lang="en-US" sz="800" dirty="0">
                <a:solidFill>
                  <a:srgbClr val="888888"/>
                </a:solidFill>
                <a:latin typeface="Calibri" pitchFamily="34" charset="0"/>
                <a:ea typeface="Calibri" pitchFamily="34" charset="-122"/>
                <a:cs typeface="Calibri" pitchFamily="34" charset="-120"/>
              </a:rPr>
              <a:t>aviqr.com  ·  Confidential  ·  June 2026</a:t>
            </a:r>
            <a:endParaRPr lang="en-US" sz="800" dirty="0"/>
          </a:p>
        </p:txBody>
      </p:sp>
      <p:sp>
        <p:nvSpPr>
          <p:cNvPr id="26" name="Text 24"/>
          <p:cNvSpPr/>
          <p:nvPr/>
        </p:nvSpPr>
        <p:spPr>
          <a:xfrm>
            <a:off x="7772400" y="4846320"/>
            <a:ext cx="914400" cy="18288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5 / 18</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rtlCol="0" anchor="ctr"/>
          <a:lstStyle/>
          <a:p>
            <a:pPr indent="0" marL="0">
              <a:buNone/>
            </a:pPr>
            <a:r>
              <a:rPr lang="en-US" sz="900" b="1" spc="400" kern="0" dirty="0">
                <a:solidFill>
                  <a:srgbClr val="00B37D"/>
                </a:solidFill>
                <a:latin typeface="Calibri" pitchFamily="34" charset="0"/>
                <a:ea typeface="Calibri" pitchFamily="34" charset="-122"/>
                <a:cs typeface="Calibri" pitchFamily="34" charset="-120"/>
              </a:rPr>
              <a:t>MARKET</a:t>
            </a:r>
            <a:endParaRPr lang="en-US" sz="900" dirty="0"/>
          </a:p>
        </p:txBody>
      </p:sp>
      <p:sp>
        <p:nvSpPr>
          <p:cNvPr id="3" name="Text 1"/>
          <p:cNvSpPr/>
          <p:nvPr/>
        </p:nvSpPr>
        <p:spPr>
          <a:xfrm>
            <a:off x="365760" y="502920"/>
            <a:ext cx="8229600" cy="54864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7.5 million restaurants. 97% unserved.</a:t>
            </a:r>
            <a:endParaRPr lang="en-US" sz="2800" dirty="0"/>
          </a:p>
        </p:txBody>
      </p:sp>
      <p:sp>
        <p:nvSpPr>
          <p:cNvPr id="4" name="Shape 2"/>
          <p:cNvSpPr/>
          <p:nvPr/>
        </p:nvSpPr>
        <p:spPr>
          <a:xfrm>
            <a:off x="1371600" y="1280160"/>
            <a:ext cx="2377440" cy="2377440"/>
          </a:xfrm>
          <a:prstGeom prst="ellipse">
            <a:avLst/>
          </a:prstGeom>
          <a:solidFill>
            <a:srgbClr val="00B37D">
              <a:alpha val="20000"/>
            </a:srgbClr>
          </a:solidFill>
          <a:ln w="12700">
            <a:solidFill>
              <a:srgbClr val="00B37D"/>
            </a:solidFill>
            <a:prstDash val="solid"/>
          </a:ln>
        </p:spPr>
      </p:sp>
      <p:sp>
        <p:nvSpPr>
          <p:cNvPr id="5" name="Text 3"/>
          <p:cNvSpPr/>
          <p:nvPr/>
        </p:nvSpPr>
        <p:spPr>
          <a:xfrm>
            <a:off x="1371600" y="1636776"/>
            <a:ext cx="237744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TAM</a:t>
            </a:r>
            <a:endParaRPr lang="en-US" sz="1100" dirty="0"/>
          </a:p>
        </p:txBody>
      </p:sp>
      <p:sp>
        <p:nvSpPr>
          <p:cNvPr id="6" name="Text 4"/>
          <p:cNvSpPr/>
          <p:nvPr/>
        </p:nvSpPr>
        <p:spPr>
          <a:xfrm>
            <a:off x="1371600" y="2112264"/>
            <a:ext cx="2377440" cy="457200"/>
          </a:xfrm>
          <a:prstGeom prst="rect">
            <a:avLst/>
          </a:prstGeom>
          <a:noFill/>
          <a:ln/>
        </p:spPr>
        <p:txBody>
          <a:bodyPr wrap="square" rtlCol="0" anchor="ctr"/>
          <a:lstStyle/>
          <a:p>
            <a:pPr algn="ctr" indent="0" marL="0">
              <a:buNone/>
            </a:pPr>
            <a:r>
              <a:rPr lang="en-US" sz="1600" b="1" dirty="0">
                <a:solidFill>
                  <a:srgbClr val="00B37D"/>
                </a:solidFill>
                <a:latin typeface="Calibri" pitchFamily="34" charset="0"/>
                <a:ea typeface="Calibri" pitchFamily="34" charset="-122"/>
                <a:cs typeface="Calibri" pitchFamily="34" charset="-120"/>
              </a:rPr>
              <a:t>$4.2B</a:t>
            </a:r>
            <a:endParaRPr lang="en-US" sz="1600" dirty="0"/>
          </a:p>
        </p:txBody>
      </p:sp>
      <p:sp>
        <p:nvSpPr>
          <p:cNvPr id="7" name="Text 5"/>
          <p:cNvSpPr/>
          <p:nvPr/>
        </p:nvSpPr>
        <p:spPr>
          <a:xfrm>
            <a:off x="1097280" y="2754173"/>
            <a:ext cx="2926080" cy="457200"/>
          </a:xfrm>
          <a:prstGeom prst="rect">
            <a:avLst/>
          </a:prstGeom>
          <a:noFill/>
          <a:ln/>
        </p:spPr>
        <p:txBody>
          <a:bodyPr wrap="square" rtlCol="0" anchor="ctr"/>
          <a:lstStyle/>
          <a:p>
            <a:pPr algn="ctr" indent="0" marL="0">
              <a:buNone/>
            </a:pPr>
            <a:r>
              <a:rPr lang="en-US" sz="800" dirty="0">
                <a:solidFill>
                  <a:srgbClr val="CCCCCC"/>
                </a:solidFill>
                <a:latin typeface="Calibri" pitchFamily="34" charset="0"/>
                <a:ea typeface="Calibri" pitchFamily="34" charset="-122"/>
                <a:cs typeface="Calibri" pitchFamily="34" charset="-120"/>
              </a:rPr>
              <a:t>India F&amp;B digital ordering</a:t>
            </a:r>
            <a:endParaRPr lang="en-US" sz="800" dirty="0"/>
          </a:p>
        </p:txBody>
      </p:sp>
      <p:sp>
        <p:nvSpPr>
          <p:cNvPr id="8" name="Shape 6"/>
          <p:cNvSpPr/>
          <p:nvPr/>
        </p:nvSpPr>
        <p:spPr>
          <a:xfrm>
            <a:off x="2286000" y="1737360"/>
            <a:ext cx="1828800" cy="1828800"/>
          </a:xfrm>
          <a:prstGeom prst="ellipse">
            <a:avLst/>
          </a:prstGeom>
          <a:solidFill>
            <a:srgbClr val="00B37D">
              <a:alpha val="40000"/>
            </a:srgbClr>
          </a:solidFill>
          <a:ln w="12700">
            <a:solidFill>
              <a:srgbClr val="00B37D"/>
            </a:solidFill>
            <a:prstDash val="solid"/>
          </a:ln>
        </p:spPr>
      </p:sp>
      <p:sp>
        <p:nvSpPr>
          <p:cNvPr id="9" name="Text 7"/>
          <p:cNvSpPr/>
          <p:nvPr/>
        </p:nvSpPr>
        <p:spPr>
          <a:xfrm>
            <a:off x="2286000" y="2011680"/>
            <a:ext cx="182880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SAM</a:t>
            </a:r>
            <a:endParaRPr lang="en-US" sz="1100" dirty="0"/>
          </a:p>
        </p:txBody>
      </p:sp>
      <p:sp>
        <p:nvSpPr>
          <p:cNvPr id="10" name="Text 8"/>
          <p:cNvSpPr/>
          <p:nvPr/>
        </p:nvSpPr>
        <p:spPr>
          <a:xfrm>
            <a:off x="2286000" y="2377440"/>
            <a:ext cx="1828800" cy="457200"/>
          </a:xfrm>
          <a:prstGeom prst="rect">
            <a:avLst/>
          </a:prstGeom>
          <a:noFill/>
          <a:ln/>
        </p:spPr>
        <p:txBody>
          <a:bodyPr wrap="square" rtlCol="0" anchor="ctr"/>
          <a:lstStyle/>
          <a:p>
            <a:pPr algn="ctr" indent="0" marL="0">
              <a:buNone/>
            </a:pPr>
            <a:r>
              <a:rPr lang="en-US" sz="1600" b="1" dirty="0">
                <a:solidFill>
                  <a:srgbClr val="00B37D"/>
                </a:solidFill>
                <a:latin typeface="Calibri" pitchFamily="34" charset="0"/>
                <a:ea typeface="Calibri" pitchFamily="34" charset="-122"/>
                <a:cs typeface="Calibri" pitchFamily="34" charset="-120"/>
              </a:rPr>
              <a:t>$820M</a:t>
            </a:r>
            <a:endParaRPr lang="en-US" sz="1600" dirty="0"/>
          </a:p>
        </p:txBody>
      </p:sp>
      <p:sp>
        <p:nvSpPr>
          <p:cNvPr id="11" name="Text 9"/>
          <p:cNvSpPr/>
          <p:nvPr/>
        </p:nvSpPr>
        <p:spPr>
          <a:xfrm>
            <a:off x="2011680" y="2871216"/>
            <a:ext cx="2377440" cy="457200"/>
          </a:xfrm>
          <a:prstGeom prst="rect">
            <a:avLst/>
          </a:prstGeom>
          <a:noFill/>
          <a:ln/>
        </p:spPr>
        <p:txBody>
          <a:bodyPr wrap="square" rtlCol="0" anchor="ctr"/>
          <a:lstStyle/>
          <a:p>
            <a:pPr algn="ctr" indent="0" marL="0">
              <a:buNone/>
            </a:pPr>
            <a:r>
              <a:rPr lang="en-US" sz="800" dirty="0">
                <a:solidFill>
                  <a:srgbClr val="CCCCCC"/>
                </a:solidFill>
                <a:latin typeface="Calibri" pitchFamily="34" charset="0"/>
                <a:ea typeface="Calibri" pitchFamily="34" charset="-122"/>
                <a:cs typeface="Calibri" pitchFamily="34" charset="-120"/>
              </a:rPr>
              <a:t>QR + table ordering SaaS</a:t>
            </a:r>
            <a:endParaRPr lang="en-US" sz="800" dirty="0"/>
          </a:p>
        </p:txBody>
      </p:sp>
      <p:sp>
        <p:nvSpPr>
          <p:cNvPr id="12" name="Shape 10"/>
          <p:cNvSpPr/>
          <p:nvPr/>
        </p:nvSpPr>
        <p:spPr>
          <a:xfrm>
            <a:off x="3017520" y="2194560"/>
            <a:ext cx="1188720" cy="1188720"/>
          </a:xfrm>
          <a:prstGeom prst="ellipse">
            <a:avLst/>
          </a:prstGeom>
          <a:solidFill>
            <a:srgbClr val="00B37D">
              <a:alpha val="80000"/>
            </a:srgbClr>
          </a:solidFill>
          <a:ln w="12700">
            <a:solidFill>
              <a:srgbClr val="00B37D"/>
            </a:solidFill>
            <a:prstDash val="solid"/>
          </a:ln>
        </p:spPr>
      </p:sp>
      <p:sp>
        <p:nvSpPr>
          <p:cNvPr id="13" name="Text 11"/>
          <p:cNvSpPr/>
          <p:nvPr/>
        </p:nvSpPr>
        <p:spPr>
          <a:xfrm>
            <a:off x="3017520" y="2372868"/>
            <a:ext cx="118872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SOM</a:t>
            </a:r>
            <a:endParaRPr lang="en-US" sz="1100" dirty="0"/>
          </a:p>
        </p:txBody>
      </p:sp>
      <p:sp>
        <p:nvSpPr>
          <p:cNvPr id="14" name="Text 12"/>
          <p:cNvSpPr/>
          <p:nvPr/>
        </p:nvSpPr>
        <p:spPr>
          <a:xfrm>
            <a:off x="3017520" y="2610612"/>
            <a:ext cx="1188720" cy="457200"/>
          </a:xfrm>
          <a:prstGeom prst="rect">
            <a:avLst/>
          </a:prstGeom>
          <a:noFill/>
          <a:ln/>
        </p:spPr>
        <p:txBody>
          <a:bodyPr wrap="square" rtlCol="0" anchor="ctr"/>
          <a:lstStyle/>
          <a:p>
            <a:pPr algn="ctr" indent="0" marL="0">
              <a:buNone/>
            </a:pPr>
            <a:r>
              <a:rPr lang="en-US" sz="1600" b="1" dirty="0">
                <a:solidFill>
                  <a:srgbClr val="111111"/>
                </a:solidFill>
                <a:latin typeface="Calibri" pitchFamily="34" charset="0"/>
                <a:ea typeface="Calibri" pitchFamily="34" charset="-122"/>
                <a:cs typeface="Calibri" pitchFamily="34" charset="-120"/>
              </a:rPr>
              <a:t>$18M</a:t>
            </a:r>
            <a:endParaRPr lang="en-US" sz="1600" dirty="0"/>
          </a:p>
        </p:txBody>
      </p:sp>
      <p:sp>
        <p:nvSpPr>
          <p:cNvPr id="15" name="Text 13"/>
          <p:cNvSpPr/>
          <p:nvPr/>
        </p:nvSpPr>
        <p:spPr>
          <a:xfrm>
            <a:off x="2743200" y="2931566"/>
            <a:ext cx="1737360" cy="457200"/>
          </a:xfrm>
          <a:prstGeom prst="rect">
            <a:avLst/>
          </a:prstGeom>
          <a:noFill/>
          <a:ln/>
        </p:spPr>
        <p:txBody>
          <a:bodyPr wrap="square" rtlCol="0" anchor="ctr"/>
          <a:lstStyle/>
          <a:p>
            <a:pPr algn="ctr" indent="0" marL="0">
              <a:buNone/>
            </a:pPr>
            <a:r>
              <a:rPr lang="en-US" sz="800" dirty="0">
                <a:solidFill>
                  <a:srgbClr val="111111"/>
                </a:solidFill>
                <a:latin typeface="Calibri" pitchFamily="34" charset="0"/>
                <a:ea typeface="Calibri" pitchFamily="34" charset="-122"/>
                <a:cs typeface="Calibri" pitchFamily="34" charset="-120"/>
              </a:rPr>
              <a:t>Y3 target — 5,000 outlets</a:t>
            </a:r>
            <a:endParaRPr lang="en-US" sz="800" dirty="0"/>
          </a:p>
        </p:txBody>
      </p:sp>
      <p:sp>
        <p:nvSpPr>
          <p:cNvPr id="16" name="Shape 14"/>
          <p:cNvSpPr/>
          <p:nvPr/>
        </p:nvSpPr>
        <p:spPr>
          <a:xfrm>
            <a:off x="5120640" y="1280160"/>
            <a:ext cx="3474720" cy="777240"/>
          </a:xfrm>
          <a:prstGeom prst="roundRect">
            <a:avLst>
              <a:gd name="adj" fmla="val 9412"/>
            </a:avLst>
          </a:prstGeom>
          <a:solidFill>
            <a:srgbClr val="1A1A1A"/>
          </a:solidFill>
          <a:ln w="12700">
            <a:solidFill>
              <a:srgbClr val="333333"/>
            </a:solidFill>
            <a:prstDash val="solid"/>
          </a:ln>
        </p:spPr>
      </p:sp>
      <p:sp>
        <p:nvSpPr>
          <p:cNvPr id="17" name="Text 15"/>
          <p:cNvSpPr/>
          <p:nvPr/>
        </p:nvSpPr>
        <p:spPr>
          <a:xfrm>
            <a:off x="5212080" y="1344168"/>
            <a:ext cx="1188720" cy="411480"/>
          </a:xfrm>
          <a:prstGeom prst="rect">
            <a:avLst/>
          </a:prstGeom>
          <a:noFill/>
          <a:ln/>
        </p:spPr>
        <p:txBody>
          <a:bodyPr wrap="square" rtlCol="0" anchor="ctr"/>
          <a:lstStyle/>
          <a:p>
            <a:pPr indent="0" marL="0">
              <a:buNone/>
            </a:pPr>
            <a:r>
              <a:rPr lang="en-US" sz="2200" b="1" dirty="0">
                <a:solidFill>
                  <a:srgbClr val="00B37D"/>
                </a:solidFill>
                <a:latin typeface="Calibri" pitchFamily="34" charset="0"/>
                <a:ea typeface="Calibri" pitchFamily="34" charset="-122"/>
                <a:cs typeface="Calibri" pitchFamily="34" charset="-120"/>
              </a:rPr>
              <a:t>7.5M+</a:t>
            </a:r>
            <a:endParaRPr lang="en-US" sz="2200" dirty="0"/>
          </a:p>
        </p:txBody>
      </p:sp>
      <p:sp>
        <p:nvSpPr>
          <p:cNvPr id="18" name="Text 16"/>
          <p:cNvSpPr/>
          <p:nvPr/>
        </p:nvSpPr>
        <p:spPr>
          <a:xfrm>
            <a:off x="6446520" y="1444752"/>
            <a:ext cx="2011680" cy="365760"/>
          </a:xfrm>
          <a:prstGeom prst="rect">
            <a:avLst/>
          </a:prstGeom>
          <a:noFill/>
          <a:ln/>
        </p:spPr>
        <p:txBody>
          <a:bodyPr wrap="square" rtlCol="0" anchor="ctr"/>
          <a:lstStyle/>
          <a:p>
            <a:pPr indent="0" marL="0">
              <a:buNone/>
            </a:pPr>
            <a:r>
              <a:rPr lang="en-US" sz="1000" dirty="0">
                <a:solidFill>
                  <a:srgbClr val="CCCCCC"/>
                </a:solidFill>
                <a:latin typeface="Calibri" pitchFamily="34" charset="0"/>
                <a:ea typeface="Calibri" pitchFamily="34" charset="-122"/>
                <a:cs typeface="Calibri" pitchFamily="34" charset="-120"/>
              </a:rPr>
              <a:t>Restaurants in India</a:t>
            </a:r>
            <a:endParaRPr lang="en-US" sz="1000" dirty="0"/>
          </a:p>
        </p:txBody>
      </p:sp>
      <p:sp>
        <p:nvSpPr>
          <p:cNvPr id="19" name="Shape 17"/>
          <p:cNvSpPr/>
          <p:nvPr/>
        </p:nvSpPr>
        <p:spPr>
          <a:xfrm>
            <a:off x="5120640" y="2240280"/>
            <a:ext cx="3474720" cy="777240"/>
          </a:xfrm>
          <a:prstGeom prst="roundRect">
            <a:avLst>
              <a:gd name="adj" fmla="val 9412"/>
            </a:avLst>
          </a:prstGeom>
          <a:solidFill>
            <a:srgbClr val="1A1A1A"/>
          </a:solidFill>
          <a:ln w="12700">
            <a:solidFill>
              <a:srgbClr val="333333"/>
            </a:solidFill>
            <a:prstDash val="solid"/>
          </a:ln>
        </p:spPr>
      </p:sp>
      <p:sp>
        <p:nvSpPr>
          <p:cNvPr id="20" name="Text 18"/>
          <p:cNvSpPr/>
          <p:nvPr/>
        </p:nvSpPr>
        <p:spPr>
          <a:xfrm>
            <a:off x="5212080" y="2304288"/>
            <a:ext cx="1188720" cy="411480"/>
          </a:xfrm>
          <a:prstGeom prst="rect">
            <a:avLst/>
          </a:prstGeom>
          <a:noFill/>
          <a:ln/>
        </p:spPr>
        <p:txBody>
          <a:bodyPr wrap="square" rtlCol="0" anchor="ctr"/>
          <a:lstStyle/>
          <a:p>
            <a:pPr indent="0" marL="0">
              <a:buNone/>
            </a:pPr>
            <a:r>
              <a:rPr lang="en-US" sz="2200" b="1" dirty="0">
                <a:solidFill>
                  <a:srgbClr val="00B37D"/>
                </a:solidFill>
                <a:latin typeface="Calibri" pitchFamily="34" charset="0"/>
                <a:ea typeface="Calibri" pitchFamily="34" charset="-122"/>
                <a:cs typeface="Calibri" pitchFamily="34" charset="-120"/>
              </a:rPr>
              <a:t>97%</a:t>
            </a:r>
            <a:endParaRPr lang="en-US" sz="2200" dirty="0"/>
          </a:p>
        </p:txBody>
      </p:sp>
      <p:sp>
        <p:nvSpPr>
          <p:cNvPr id="21" name="Text 19"/>
          <p:cNvSpPr/>
          <p:nvPr/>
        </p:nvSpPr>
        <p:spPr>
          <a:xfrm>
            <a:off x="6446520" y="2404872"/>
            <a:ext cx="2011680" cy="365760"/>
          </a:xfrm>
          <a:prstGeom prst="rect">
            <a:avLst/>
          </a:prstGeom>
          <a:noFill/>
          <a:ln/>
        </p:spPr>
        <p:txBody>
          <a:bodyPr wrap="square" rtlCol="0" anchor="ctr"/>
          <a:lstStyle/>
          <a:p>
            <a:pPr indent="0" marL="0">
              <a:buNone/>
            </a:pPr>
            <a:r>
              <a:rPr lang="en-US" sz="1000" dirty="0">
                <a:solidFill>
                  <a:srgbClr val="CCCCCC"/>
                </a:solidFill>
                <a:latin typeface="Calibri" pitchFamily="34" charset="0"/>
                <a:ea typeface="Calibri" pitchFamily="34" charset="-122"/>
                <a:cs typeface="Calibri" pitchFamily="34" charset="-120"/>
              </a:rPr>
              <a:t>With no working digital menu</a:t>
            </a:r>
            <a:endParaRPr lang="en-US" sz="1000" dirty="0"/>
          </a:p>
        </p:txBody>
      </p:sp>
      <p:sp>
        <p:nvSpPr>
          <p:cNvPr id="22" name="Shape 20"/>
          <p:cNvSpPr/>
          <p:nvPr/>
        </p:nvSpPr>
        <p:spPr>
          <a:xfrm>
            <a:off x="5120640" y="3200400"/>
            <a:ext cx="3474720" cy="777240"/>
          </a:xfrm>
          <a:prstGeom prst="roundRect">
            <a:avLst>
              <a:gd name="adj" fmla="val 9412"/>
            </a:avLst>
          </a:prstGeom>
          <a:solidFill>
            <a:srgbClr val="1A1A1A"/>
          </a:solidFill>
          <a:ln w="12700">
            <a:solidFill>
              <a:srgbClr val="333333"/>
            </a:solidFill>
            <a:prstDash val="solid"/>
          </a:ln>
        </p:spPr>
      </p:sp>
      <p:sp>
        <p:nvSpPr>
          <p:cNvPr id="23" name="Text 21"/>
          <p:cNvSpPr/>
          <p:nvPr/>
        </p:nvSpPr>
        <p:spPr>
          <a:xfrm>
            <a:off x="5212080" y="3264408"/>
            <a:ext cx="1188720" cy="411480"/>
          </a:xfrm>
          <a:prstGeom prst="rect">
            <a:avLst/>
          </a:prstGeom>
          <a:noFill/>
          <a:ln/>
        </p:spPr>
        <p:txBody>
          <a:bodyPr wrap="square" rtlCol="0" anchor="ctr"/>
          <a:lstStyle/>
          <a:p>
            <a:pPr indent="0" marL="0">
              <a:buNone/>
            </a:pPr>
            <a:r>
              <a:rPr lang="en-US" sz="2200" b="1" dirty="0">
                <a:solidFill>
                  <a:srgbClr val="00B37D"/>
                </a:solidFill>
                <a:latin typeface="Calibri" pitchFamily="34" charset="0"/>
                <a:ea typeface="Calibri" pitchFamily="34" charset="-122"/>
                <a:cs typeface="Calibri" pitchFamily="34" charset="-120"/>
              </a:rPr>
              <a:t>Rs.499</a:t>
            </a:r>
            <a:endParaRPr lang="en-US" sz="2200" dirty="0"/>
          </a:p>
        </p:txBody>
      </p:sp>
      <p:sp>
        <p:nvSpPr>
          <p:cNvPr id="24" name="Text 22"/>
          <p:cNvSpPr/>
          <p:nvPr/>
        </p:nvSpPr>
        <p:spPr>
          <a:xfrm>
            <a:off x="6446520" y="3364992"/>
            <a:ext cx="2011680" cy="365760"/>
          </a:xfrm>
          <a:prstGeom prst="rect">
            <a:avLst/>
          </a:prstGeom>
          <a:noFill/>
          <a:ln/>
        </p:spPr>
        <p:txBody>
          <a:bodyPr wrap="square" rtlCol="0" anchor="ctr"/>
          <a:lstStyle/>
          <a:p>
            <a:pPr indent="0" marL="0">
              <a:buNone/>
            </a:pPr>
            <a:r>
              <a:rPr lang="en-US" sz="1000" dirty="0">
                <a:solidFill>
                  <a:srgbClr val="CCCCCC"/>
                </a:solidFill>
                <a:latin typeface="Calibri" pitchFamily="34" charset="0"/>
                <a:ea typeface="Calibri" pitchFamily="34" charset="-122"/>
                <a:cs typeface="Calibri" pitchFamily="34" charset="-120"/>
              </a:rPr>
              <a:t>Our launch entry price /mo</a:t>
            </a:r>
            <a:endParaRPr lang="en-US" sz="1000" dirty="0"/>
          </a:p>
        </p:txBody>
      </p:sp>
      <p:sp>
        <p:nvSpPr>
          <p:cNvPr id="25" name="Shape 23"/>
          <p:cNvSpPr/>
          <p:nvPr/>
        </p:nvSpPr>
        <p:spPr>
          <a:xfrm>
            <a:off x="5120640" y="4160520"/>
            <a:ext cx="3474720" cy="777240"/>
          </a:xfrm>
          <a:prstGeom prst="roundRect">
            <a:avLst>
              <a:gd name="adj" fmla="val 9412"/>
            </a:avLst>
          </a:prstGeom>
          <a:solidFill>
            <a:srgbClr val="1A1A1A"/>
          </a:solidFill>
          <a:ln w="12700">
            <a:solidFill>
              <a:srgbClr val="333333"/>
            </a:solidFill>
            <a:prstDash val="solid"/>
          </a:ln>
        </p:spPr>
      </p:sp>
      <p:sp>
        <p:nvSpPr>
          <p:cNvPr id="26" name="Text 24"/>
          <p:cNvSpPr/>
          <p:nvPr/>
        </p:nvSpPr>
        <p:spPr>
          <a:xfrm>
            <a:off x="5212080" y="4224528"/>
            <a:ext cx="1188720" cy="411480"/>
          </a:xfrm>
          <a:prstGeom prst="rect">
            <a:avLst/>
          </a:prstGeom>
          <a:noFill/>
          <a:ln/>
        </p:spPr>
        <p:txBody>
          <a:bodyPr wrap="square" rtlCol="0" anchor="ctr"/>
          <a:lstStyle/>
          <a:p>
            <a:pPr indent="0" marL="0">
              <a:buNone/>
            </a:pPr>
            <a:r>
              <a:rPr lang="en-US" sz="2200" b="1" dirty="0">
                <a:solidFill>
                  <a:srgbClr val="00B37D"/>
                </a:solidFill>
                <a:latin typeface="Calibri" pitchFamily="34" charset="0"/>
                <a:ea typeface="Calibri" pitchFamily="34" charset="-122"/>
                <a:cs typeface="Calibri" pitchFamily="34" charset="-120"/>
              </a:rPr>
              <a:t>~5%</a:t>
            </a:r>
            <a:endParaRPr lang="en-US" sz="2200" dirty="0"/>
          </a:p>
        </p:txBody>
      </p:sp>
      <p:sp>
        <p:nvSpPr>
          <p:cNvPr id="27" name="Text 25"/>
          <p:cNvSpPr/>
          <p:nvPr/>
        </p:nvSpPr>
        <p:spPr>
          <a:xfrm>
            <a:off x="6446520" y="4325112"/>
            <a:ext cx="2011680" cy="365760"/>
          </a:xfrm>
          <a:prstGeom prst="rect">
            <a:avLst/>
          </a:prstGeom>
          <a:noFill/>
          <a:ln/>
        </p:spPr>
        <p:txBody>
          <a:bodyPr wrap="square" rtlCol="0" anchor="ctr"/>
          <a:lstStyle/>
          <a:p>
            <a:pPr indent="0" marL="0">
              <a:buNone/>
            </a:pPr>
            <a:r>
              <a:rPr lang="en-US" sz="1000" dirty="0">
                <a:solidFill>
                  <a:srgbClr val="CCCCCC"/>
                </a:solidFill>
                <a:latin typeface="Calibri" pitchFamily="34" charset="0"/>
                <a:ea typeface="Calibri" pitchFamily="34" charset="-122"/>
                <a:cs typeface="Calibri" pitchFamily="34" charset="-120"/>
              </a:rPr>
              <a:t>Of $9.5B online food market</a:t>
            </a:r>
            <a:endParaRPr lang="en-US" sz="1000" dirty="0"/>
          </a:p>
        </p:txBody>
      </p:sp>
      <p:sp>
        <p:nvSpPr>
          <p:cNvPr id="28" name="Text 26"/>
          <p:cNvSpPr/>
          <p:nvPr/>
        </p:nvSpPr>
        <p:spPr>
          <a:xfrm>
            <a:off x="365760" y="4846320"/>
            <a:ext cx="6400800" cy="182880"/>
          </a:xfrm>
          <a:prstGeom prst="rect">
            <a:avLst/>
          </a:prstGeom>
          <a:noFill/>
          <a:ln/>
        </p:spPr>
        <p:txBody>
          <a:bodyPr wrap="square" rtlCol="0" anchor="ctr"/>
          <a:lstStyle/>
          <a:p>
            <a:pPr algn="l" indent="0" marL="0">
              <a:buNone/>
            </a:pPr>
            <a:r>
              <a:rPr lang="en-US" sz="800" dirty="0">
                <a:solidFill>
                  <a:srgbClr val="888888"/>
                </a:solidFill>
                <a:latin typeface="Calibri" pitchFamily="34" charset="0"/>
                <a:ea typeface="Calibri" pitchFamily="34" charset="-122"/>
                <a:cs typeface="Calibri" pitchFamily="34" charset="-120"/>
              </a:rPr>
              <a:t>aviqr.com  ·  Confidential  ·  June 2026</a:t>
            </a:r>
            <a:endParaRPr lang="en-US" sz="800" dirty="0"/>
          </a:p>
        </p:txBody>
      </p:sp>
      <p:sp>
        <p:nvSpPr>
          <p:cNvPr id="29" name="Text 27"/>
          <p:cNvSpPr/>
          <p:nvPr/>
        </p:nvSpPr>
        <p:spPr>
          <a:xfrm>
            <a:off x="7772400" y="4846320"/>
            <a:ext cx="914400" cy="18288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6 / 18</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rtlCol="0" anchor="ctr"/>
          <a:lstStyle/>
          <a:p>
            <a:pPr indent="0" marL="0">
              <a:buNone/>
            </a:pPr>
            <a:r>
              <a:rPr lang="en-US" sz="900" b="1" spc="400" kern="0" dirty="0">
                <a:solidFill>
                  <a:srgbClr val="00B37D"/>
                </a:solidFill>
                <a:latin typeface="Calibri" pitchFamily="34" charset="0"/>
                <a:ea typeface="Calibri" pitchFamily="34" charset="-122"/>
                <a:cs typeface="Calibri" pitchFamily="34" charset="-120"/>
              </a:rPr>
              <a:t>PRODUCT</a:t>
            </a:r>
            <a:endParaRPr lang="en-US" sz="900" dirty="0"/>
          </a:p>
        </p:txBody>
      </p:sp>
      <p:sp>
        <p:nvSpPr>
          <p:cNvPr id="3" name="Text 1"/>
          <p:cNvSpPr/>
          <p:nvPr/>
        </p:nvSpPr>
        <p:spPr>
          <a:xfrm>
            <a:off x="365760" y="50292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AI-first. Everything else flows from that.</a:t>
            </a:r>
            <a:endParaRPr lang="en-US" sz="2600" dirty="0"/>
          </a:p>
        </p:txBody>
      </p:sp>
      <p:sp>
        <p:nvSpPr>
          <p:cNvPr id="4" name="Shape 2"/>
          <p:cNvSpPr/>
          <p:nvPr/>
        </p:nvSpPr>
        <p:spPr>
          <a:xfrm>
            <a:off x="320040" y="1188720"/>
            <a:ext cx="2651760" cy="1600200"/>
          </a:xfrm>
          <a:prstGeom prst="roundRect">
            <a:avLst>
              <a:gd name="adj" fmla="val 5714"/>
            </a:avLst>
          </a:prstGeom>
          <a:solidFill>
            <a:srgbClr val="1A1A1A"/>
          </a:solidFill>
          <a:ln w="25400">
            <a:solidFill>
              <a:srgbClr val="00B37D"/>
            </a:solidFill>
            <a:prstDash val="solid"/>
          </a:ln>
        </p:spPr>
      </p:sp>
      <p:sp>
        <p:nvSpPr>
          <p:cNvPr id="5" name="Text 3"/>
          <p:cNvSpPr/>
          <p:nvPr/>
        </p:nvSpPr>
        <p:spPr>
          <a:xfrm>
            <a:off x="429768" y="1298448"/>
            <a:ext cx="2331720" cy="36576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AI OCR Menu Upload</a:t>
            </a:r>
            <a:endParaRPr lang="en-US" sz="1100" dirty="0"/>
          </a:p>
        </p:txBody>
      </p:sp>
      <p:sp>
        <p:nvSpPr>
          <p:cNvPr id="6" name="Shape 4"/>
          <p:cNvSpPr/>
          <p:nvPr/>
        </p:nvSpPr>
        <p:spPr>
          <a:xfrm>
            <a:off x="429768" y="1719072"/>
            <a:ext cx="685800" cy="201168"/>
          </a:xfrm>
          <a:prstGeom prst="roundRect">
            <a:avLst>
              <a:gd name="adj" fmla="val 22727"/>
            </a:avLst>
          </a:prstGeom>
          <a:solidFill>
            <a:srgbClr val="00B37D"/>
          </a:solidFill>
          <a:ln w="12700">
            <a:solidFill>
              <a:srgbClr val="000000"/>
            </a:solidFill>
            <a:prstDash val="solid"/>
          </a:ln>
        </p:spPr>
      </p:sp>
      <p:sp>
        <p:nvSpPr>
          <p:cNvPr id="7" name="Text 5"/>
          <p:cNvSpPr/>
          <p:nvPr/>
        </p:nvSpPr>
        <p:spPr>
          <a:xfrm>
            <a:off x="429768" y="1709928"/>
            <a:ext cx="685800" cy="210312"/>
          </a:xfrm>
          <a:prstGeom prst="rect">
            <a:avLst/>
          </a:prstGeom>
          <a:noFill/>
          <a:ln/>
        </p:spPr>
        <p:txBody>
          <a:bodyPr wrap="square" rtlCol="0" anchor="ctr"/>
          <a:lstStyle/>
          <a:p>
            <a:pPr algn="ctr" indent="0" marL="0">
              <a:buNone/>
            </a:pPr>
            <a:r>
              <a:rPr lang="en-US" sz="700" b="1" dirty="0">
                <a:solidFill>
                  <a:srgbClr val="111111"/>
                </a:solidFill>
                <a:latin typeface="Calibri" pitchFamily="34" charset="0"/>
                <a:ea typeface="Calibri" pitchFamily="34" charset="-122"/>
                <a:cs typeface="Calibri" pitchFamily="34" charset="-120"/>
              </a:rPr>
              <a:t>WEDGE</a:t>
            </a:r>
            <a:endParaRPr lang="en-US" sz="700" dirty="0"/>
          </a:p>
        </p:txBody>
      </p:sp>
      <p:sp>
        <p:nvSpPr>
          <p:cNvPr id="8" name="Text 6"/>
          <p:cNvSpPr/>
          <p:nvPr/>
        </p:nvSpPr>
        <p:spPr>
          <a:xfrm>
            <a:off x="429768" y="2011680"/>
            <a:ext cx="2432304" cy="68580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Photo or PDF to live menu in 15 min. AI reads every item, price, section. Hindi-friendly.</a:t>
            </a:r>
            <a:endParaRPr lang="en-US" sz="900" dirty="0"/>
          </a:p>
        </p:txBody>
      </p:sp>
      <p:sp>
        <p:nvSpPr>
          <p:cNvPr id="9" name="Shape 7"/>
          <p:cNvSpPr/>
          <p:nvPr/>
        </p:nvSpPr>
        <p:spPr>
          <a:xfrm>
            <a:off x="3200400" y="1188720"/>
            <a:ext cx="2651760" cy="1600200"/>
          </a:xfrm>
          <a:prstGeom prst="roundRect">
            <a:avLst>
              <a:gd name="adj" fmla="val 5714"/>
            </a:avLst>
          </a:prstGeom>
          <a:solidFill>
            <a:srgbClr val="1A1A1A"/>
          </a:solidFill>
          <a:ln w="12700">
            <a:solidFill>
              <a:srgbClr val="333333"/>
            </a:solidFill>
            <a:prstDash val="solid"/>
          </a:ln>
        </p:spPr>
      </p:sp>
      <p:sp>
        <p:nvSpPr>
          <p:cNvPr id="10" name="Text 8"/>
          <p:cNvSpPr/>
          <p:nvPr/>
        </p:nvSpPr>
        <p:spPr>
          <a:xfrm>
            <a:off x="3310128" y="1298448"/>
            <a:ext cx="2331720" cy="36576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Permanent QR Codes</a:t>
            </a:r>
            <a:endParaRPr lang="en-US" sz="1100" dirty="0"/>
          </a:p>
        </p:txBody>
      </p:sp>
      <p:sp>
        <p:nvSpPr>
          <p:cNvPr id="11" name="Shape 9"/>
          <p:cNvSpPr/>
          <p:nvPr/>
        </p:nvSpPr>
        <p:spPr>
          <a:xfrm>
            <a:off x="3310128" y="1719072"/>
            <a:ext cx="685800" cy="201168"/>
          </a:xfrm>
          <a:prstGeom prst="roundRect">
            <a:avLst>
              <a:gd name="adj" fmla="val 22727"/>
            </a:avLst>
          </a:prstGeom>
          <a:solidFill>
            <a:srgbClr val="1A2A4A"/>
          </a:solidFill>
          <a:ln w="12700">
            <a:solidFill>
              <a:srgbClr val="000000"/>
            </a:solidFill>
            <a:prstDash val="solid"/>
          </a:ln>
        </p:spPr>
      </p:sp>
      <p:sp>
        <p:nvSpPr>
          <p:cNvPr id="12" name="Text 10"/>
          <p:cNvSpPr/>
          <p:nvPr/>
        </p:nvSpPr>
        <p:spPr>
          <a:xfrm>
            <a:off x="3310128" y="1709928"/>
            <a:ext cx="685800" cy="210312"/>
          </a:xfrm>
          <a:prstGeom prst="rect">
            <a:avLst/>
          </a:prstGeom>
          <a:noFill/>
          <a:ln/>
        </p:spPr>
        <p:txBody>
          <a:bodyPr wrap="square" rtlCol="0" anchor="ctr"/>
          <a:lstStyle/>
          <a:p>
            <a:pPr algn="ctr" indent="0" marL="0">
              <a:buNone/>
            </a:pPr>
            <a:r>
              <a:rPr lang="en-US" sz="700" b="1" dirty="0">
                <a:solidFill>
                  <a:srgbClr val="00B37D"/>
                </a:solidFill>
                <a:latin typeface="Calibri" pitchFamily="34" charset="0"/>
                <a:ea typeface="Calibri" pitchFamily="34" charset="-122"/>
                <a:cs typeface="Calibri" pitchFamily="34" charset="-120"/>
              </a:rPr>
              <a:t>CORE</a:t>
            </a:r>
            <a:endParaRPr lang="en-US" sz="700" dirty="0"/>
          </a:p>
        </p:txBody>
      </p:sp>
      <p:sp>
        <p:nvSpPr>
          <p:cNvPr id="13" name="Text 11"/>
          <p:cNvSpPr/>
          <p:nvPr/>
        </p:nvSpPr>
        <p:spPr>
          <a:xfrm>
            <a:off x="3310128" y="2011680"/>
            <a:ext cx="2432304" cy="68580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Print once. Update menu and prices anytime — QR code never changes.</a:t>
            </a:r>
            <a:endParaRPr lang="en-US" sz="900" dirty="0"/>
          </a:p>
        </p:txBody>
      </p:sp>
      <p:sp>
        <p:nvSpPr>
          <p:cNvPr id="14" name="Shape 12"/>
          <p:cNvSpPr/>
          <p:nvPr/>
        </p:nvSpPr>
        <p:spPr>
          <a:xfrm>
            <a:off x="6080760" y="1188720"/>
            <a:ext cx="2651760" cy="1600200"/>
          </a:xfrm>
          <a:prstGeom prst="roundRect">
            <a:avLst>
              <a:gd name="adj" fmla="val 5714"/>
            </a:avLst>
          </a:prstGeom>
          <a:solidFill>
            <a:srgbClr val="1A1A1A"/>
          </a:solidFill>
          <a:ln w="12700">
            <a:solidFill>
              <a:srgbClr val="333333"/>
            </a:solidFill>
            <a:prstDash val="solid"/>
          </a:ln>
        </p:spPr>
      </p:sp>
      <p:sp>
        <p:nvSpPr>
          <p:cNvPr id="15" name="Text 13"/>
          <p:cNvSpPr/>
          <p:nvPr/>
        </p:nvSpPr>
        <p:spPr>
          <a:xfrm>
            <a:off x="6190488" y="1298448"/>
            <a:ext cx="2331720" cy="36576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AI Dynamic Pricing Engine</a:t>
            </a:r>
            <a:endParaRPr lang="en-US" sz="1100" dirty="0"/>
          </a:p>
        </p:txBody>
      </p:sp>
      <p:sp>
        <p:nvSpPr>
          <p:cNvPr id="16" name="Shape 14"/>
          <p:cNvSpPr/>
          <p:nvPr/>
        </p:nvSpPr>
        <p:spPr>
          <a:xfrm>
            <a:off x="6190488" y="1719072"/>
            <a:ext cx="685800" cy="201168"/>
          </a:xfrm>
          <a:prstGeom prst="roundRect">
            <a:avLst>
              <a:gd name="adj" fmla="val 22727"/>
            </a:avLst>
          </a:prstGeom>
          <a:solidFill>
            <a:srgbClr val="1A2A4A"/>
          </a:solidFill>
          <a:ln w="12700">
            <a:solidFill>
              <a:srgbClr val="000000"/>
            </a:solidFill>
            <a:prstDash val="solid"/>
          </a:ln>
        </p:spPr>
      </p:sp>
      <p:sp>
        <p:nvSpPr>
          <p:cNvPr id="17" name="Text 15"/>
          <p:cNvSpPr/>
          <p:nvPr/>
        </p:nvSpPr>
        <p:spPr>
          <a:xfrm>
            <a:off x="6190488" y="1709928"/>
            <a:ext cx="685800" cy="210312"/>
          </a:xfrm>
          <a:prstGeom prst="rect">
            <a:avLst/>
          </a:prstGeom>
          <a:noFill/>
          <a:ln/>
        </p:spPr>
        <p:txBody>
          <a:bodyPr wrap="square" rtlCol="0" anchor="ctr"/>
          <a:lstStyle/>
          <a:p>
            <a:pPr algn="ctr" indent="0" marL="0">
              <a:buNone/>
            </a:pPr>
            <a:r>
              <a:rPr lang="en-US" sz="700" b="1" dirty="0">
                <a:solidFill>
                  <a:srgbClr val="00B37D"/>
                </a:solidFill>
                <a:latin typeface="Calibri" pitchFamily="34" charset="0"/>
                <a:ea typeface="Calibri" pitchFamily="34" charset="-122"/>
                <a:cs typeface="Calibri" pitchFamily="34" charset="-120"/>
              </a:rPr>
              <a:t>CORE</a:t>
            </a:r>
            <a:endParaRPr lang="en-US" sz="700" dirty="0"/>
          </a:p>
        </p:txBody>
      </p:sp>
      <p:sp>
        <p:nvSpPr>
          <p:cNvPr id="18" name="Text 16"/>
          <p:cNvSpPr/>
          <p:nvPr/>
        </p:nvSpPr>
        <p:spPr>
          <a:xfrm>
            <a:off x="6190488" y="2011680"/>
            <a:ext cx="2432304" cy="68580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Happy hour, weekend, festival — rules set once, auto-applied at scan time forever.</a:t>
            </a:r>
            <a:endParaRPr lang="en-US" sz="900" dirty="0"/>
          </a:p>
        </p:txBody>
      </p:sp>
      <p:sp>
        <p:nvSpPr>
          <p:cNvPr id="19" name="Shape 17"/>
          <p:cNvSpPr/>
          <p:nvPr/>
        </p:nvSpPr>
        <p:spPr>
          <a:xfrm>
            <a:off x="320040" y="3017520"/>
            <a:ext cx="2651760" cy="1600200"/>
          </a:xfrm>
          <a:prstGeom prst="roundRect">
            <a:avLst>
              <a:gd name="adj" fmla="val 5714"/>
            </a:avLst>
          </a:prstGeom>
          <a:solidFill>
            <a:srgbClr val="1A1A1A"/>
          </a:solidFill>
          <a:ln w="12700">
            <a:solidFill>
              <a:srgbClr val="333333"/>
            </a:solidFill>
            <a:prstDash val="solid"/>
          </a:ln>
        </p:spPr>
      </p:sp>
      <p:sp>
        <p:nvSpPr>
          <p:cNvPr id="20" name="Text 18"/>
          <p:cNvSpPr/>
          <p:nvPr/>
        </p:nvSpPr>
        <p:spPr>
          <a:xfrm>
            <a:off x="429768" y="3127248"/>
            <a:ext cx="2331720" cy="36576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Live Order Dashboard</a:t>
            </a:r>
            <a:endParaRPr lang="en-US" sz="1100" dirty="0"/>
          </a:p>
        </p:txBody>
      </p:sp>
      <p:sp>
        <p:nvSpPr>
          <p:cNvPr id="21" name="Shape 19"/>
          <p:cNvSpPr/>
          <p:nvPr/>
        </p:nvSpPr>
        <p:spPr>
          <a:xfrm>
            <a:off x="429768" y="3547872"/>
            <a:ext cx="685800" cy="201168"/>
          </a:xfrm>
          <a:prstGeom prst="roundRect">
            <a:avLst>
              <a:gd name="adj" fmla="val 22727"/>
            </a:avLst>
          </a:prstGeom>
          <a:solidFill>
            <a:srgbClr val="1A2A4A"/>
          </a:solidFill>
          <a:ln w="12700">
            <a:solidFill>
              <a:srgbClr val="000000"/>
            </a:solidFill>
            <a:prstDash val="solid"/>
          </a:ln>
        </p:spPr>
      </p:sp>
      <p:sp>
        <p:nvSpPr>
          <p:cNvPr id="22" name="Text 20"/>
          <p:cNvSpPr/>
          <p:nvPr/>
        </p:nvSpPr>
        <p:spPr>
          <a:xfrm>
            <a:off x="429768" y="3538728"/>
            <a:ext cx="685800" cy="210312"/>
          </a:xfrm>
          <a:prstGeom prst="rect">
            <a:avLst/>
          </a:prstGeom>
          <a:noFill/>
          <a:ln/>
        </p:spPr>
        <p:txBody>
          <a:bodyPr wrap="square" rtlCol="0" anchor="ctr"/>
          <a:lstStyle/>
          <a:p>
            <a:pPr algn="ctr" indent="0" marL="0">
              <a:buNone/>
            </a:pPr>
            <a:r>
              <a:rPr lang="en-US" sz="700" b="1" dirty="0">
                <a:solidFill>
                  <a:srgbClr val="00B37D"/>
                </a:solidFill>
                <a:latin typeface="Calibri" pitchFamily="34" charset="0"/>
                <a:ea typeface="Calibri" pitchFamily="34" charset="-122"/>
                <a:cs typeface="Calibri" pitchFamily="34" charset="-120"/>
              </a:rPr>
              <a:t>CORE</a:t>
            </a:r>
            <a:endParaRPr lang="en-US" sz="700" dirty="0"/>
          </a:p>
        </p:txBody>
      </p:sp>
      <p:sp>
        <p:nvSpPr>
          <p:cNvPr id="23" name="Text 21"/>
          <p:cNvSpPr/>
          <p:nvPr/>
        </p:nvSpPr>
        <p:spPr>
          <a:xfrm>
            <a:off x="429768" y="3840480"/>
            <a:ext cx="2432304" cy="68580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Kitchen, cashier, manager — each role sees exactly what they need in real time.</a:t>
            </a:r>
            <a:endParaRPr lang="en-US" sz="900" dirty="0"/>
          </a:p>
        </p:txBody>
      </p:sp>
      <p:sp>
        <p:nvSpPr>
          <p:cNvPr id="24" name="Shape 22"/>
          <p:cNvSpPr/>
          <p:nvPr/>
        </p:nvSpPr>
        <p:spPr>
          <a:xfrm>
            <a:off x="3200400" y="3017520"/>
            <a:ext cx="2651760" cy="1600200"/>
          </a:xfrm>
          <a:prstGeom prst="roundRect">
            <a:avLst>
              <a:gd name="adj" fmla="val 5714"/>
            </a:avLst>
          </a:prstGeom>
          <a:solidFill>
            <a:srgbClr val="1A1A1A"/>
          </a:solidFill>
          <a:ln w="12700">
            <a:solidFill>
              <a:srgbClr val="333333"/>
            </a:solidFill>
            <a:prstDash val="solid"/>
          </a:ln>
        </p:spPr>
      </p:sp>
      <p:sp>
        <p:nvSpPr>
          <p:cNvPr id="25" name="Text 23"/>
          <p:cNvSpPr/>
          <p:nvPr/>
        </p:nvSpPr>
        <p:spPr>
          <a:xfrm>
            <a:off x="3310128" y="3127248"/>
            <a:ext cx="2331720" cy="36576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Staff Roles + OTP</a:t>
            </a:r>
            <a:endParaRPr lang="en-US" sz="1100" dirty="0"/>
          </a:p>
        </p:txBody>
      </p:sp>
      <p:sp>
        <p:nvSpPr>
          <p:cNvPr id="26" name="Shape 24"/>
          <p:cNvSpPr/>
          <p:nvPr/>
        </p:nvSpPr>
        <p:spPr>
          <a:xfrm>
            <a:off x="3310128" y="3547872"/>
            <a:ext cx="685800" cy="201168"/>
          </a:xfrm>
          <a:prstGeom prst="roundRect">
            <a:avLst>
              <a:gd name="adj" fmla="val 22727"/>
            </a:avLst>
          </a:prstGeom>
          <a:solidFill>
            <a:srgbClr val="1A4B3A"/>
          </a:solidFill>
          <a:ln w="12700">
            <a:solidFill>
              <a:srgbClr val="000000"/>
            </a:solidFill>
            <a:prstDash val="solid"/>
          </a:ln>
        </p:spPr>
      </p:sp>
      <p:sp>
        <p:nvSpPr>
          <p:cNvPr id="27" name="Text 25"/>
          <p:cNvSpPr/>
          <p:nvPr/>
        </p:nvSpPr>
        <p:spPr>
          <a:xfrm>
            <a:off x="3310128" y="3538728"/>
            <a:ext cx="685800" cy="210312"/>
          </a:xfrm>
          <a:prstGeom prst="rect">
            <a:avLst/>
          </a:prstGeom>
          <a:noFill/>
          <a:ln/>
        </p:spPr>
        <p:txBody>
          <a:bodyPr wrap="square" rtlCol="0" anchor="ctr"/>
          <a:lstStyle/>
          <a:p>
            <a:pPr algn="ctr" indent="0" marL="0">
              <a:buNone/>
            </a:pPr>
            <a:r>
              <a:rPr lang="en-US" sz="700" b="1" dirty="0">
                <a:solidFill>
                  <a:srgbClr val="00B37D"/>
                </a:solidFill>
                <a:latin typeface="Calibri" pitchFamily="34" charset="0"/>
                <a:ea typeface="Calibri" pitchFamily="34" charset="-122"/>
                <a:cs typeface="Calibri" pitchFamily="34" charset="-120"/>
              </a:rPr>
              <a:t>RETENTION</a:t>
            </a:r>
            <a:endParaRPr lang="en-US" sz="700" dirty="0"/>
          </a:p>
        </p:txBody>
      </p:sp>
      <p:sp>
        <p:nvSpPr>
          <p:cNvPr id="28" name="Text 26"/>
          <p:cNvSpPr/>
          <p:nvPr/>
        </p:nvSpPr>
        <p:spPr>
          <a:xfrm>
            <a:off x="3310128" y="3840480"/>
            <a:ext cx="2432304" cy="68580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10 role types. Audit trail. No shared logins. Owner controls every permission.</a:t>
            </a:r>
            <a:endParaRPr lang="en-US" sz="900" dirty="0"/>
          </a:p>
        </p:txBody>
      </p:sp>
      <p:sp>
        <p:nvSpPr>
          <p:cNvPr id="29" name="Shape 27"/>
          <p:cNvSpPr/>
          <p:nvPr/>
        </p:nvSpPr>
        <p:spPr>
          <a:xfrm>
            <a:off x="6080760" y="3017520"/>
            <a:ext cx="2651760" cy="1600200"/>
          </a:xfrm>
          <a:prstGeom prst="roundRect">
            <a:avLst>
              <a:gd name="adj" fmla="val 5714"/>
            </a:avLst>
          </a:prstGeom>
          <a:solidFill>
            <a:srgbClr val="1A1A1A"/>
          </a:solidFill>
          <a:ln w="12700">
            <a:solidFill>
              <a:srgbClr val="333333"/>
            </a:solidFill>
            <a:prstDash val="solid"/>
          </a:ln>
        </p:spPr>
      </p:sp>
      <p:sp>
        <p:nvSpPr>
          <p:cNvPr id="30" name="Text 28"/>
          <p:cNvSpPr/>
          <p:nvPr/>
        </p:nvSpPr>
        <p:spPr>
          <a:xfrm>
            <a:off x="6190488" y="3127248"/>
            <a:ext cx="2331720" cy="36576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Hotel &amp; Mall QR</a:t>
            </a:r>
            <a:endParaRPr lang="en-US" sz="1100" dirty="0"/>
          </a:p>
        </p:txBody>
      </p:sp>
      <p:sp>
        <p:nvSpPr>
          <p:cNvPr id="31" name="Shape 29"/>
          <p:cNvSpPr/>
          <p:nvPr/>
        </p:nvSpPr>
        <p:spPr>
          <a:xfrm>
            <a:off x="6190488" y="3547872"/>
            <a:ext cx="685800" cy="201168"/>
          </a:xfrm>
          <a:prstGeom prst="roundRect">
            <a:avLst>
              <a:gd name="adj" fmla="val 22727"/>
            </a:avLst>
          </a:prstGeom>
          <a:solidFill>
            <a:srgbClr val="1A2A4A"/>
          </a:solidFill>
          <a:ln w="12700">
            <a:solidFill>
              <a:srgbClr val="000000"/>
            </a:solidFill>
            <a:prstDash val="solid"/>
          </a:ln>
        </p:spPr>
      </p:sp>
      <p:sp>
        <p:nvSpPr>
          <p:cNvPr id="32" name="Text 30"/>
          <p:cNvSpPr/>
          <p:nvPr/>
        </p:nvSpPr>
        <p:spPr>
          <a:xfrm>
            <a:off x="6190488" y="3538728"/>
            <a:ext cx="685800" cy="210312"/>
          </a:xfrm>
          <a:prstGeom prst="rect">
            <a:avLst/>
          </a:prstGeom>
          <a:noFill/>
          <a:ln/>
        </p:spPr>
        <p:txBody>
          <a:bodyPr wrap="square" rtlCol="0" anchor="ctr"/>
          <a:lstStyle/>
          <a:p>
            <a:pPr algn="ctr" indent="0" marL="0">
              <a:buNone/>
            </a:pPr>
            <a:r>
              <a:rPr lang="en-US" sz="700" b="1" dirty="0">
                <a:solidFill>
                  <a:srgbClr val="00B37D"/>
                </a:solidFill>
                <a:latin typeface="Calibri" pitchFamily="34" charset="0"/>
                <a:ea typeface="Calibri" pitchFamily="34" charset="-122"/>
                <a:cs typeface="Calibri" pitchFamily="34" charset="-120"/>
              </a:rPr>
              <a:t>EXPANSION</a:t>
            </a:r>
            <a:endParaRPr lang="en-US" sz="700" dirty="0"/>
          </a:p>
        </p:txBody>
      </p:sp>
      <p:sp>
        <p:nvSpPr>
          <p:cNvPr id="33" name="Text 31"/>
          <p:cNvSpPr/>
          <p:nvPr/>
        </p:nvSpPr>
        <p:spPr>
          <a:xfrm>
            <a:off x="6190488" y="3840480"/>
            <a:ext cx="2432304" cy="68580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Room QR for hotels, multi-vendor food court QR, mall-wide single QR. Phase 3.</a:t>
            </a:r>
            <a:endParaRPr lang="en-US" sz="900" dirty="0"/>
          </a:p>
        </p:txBody>
      </p:sp>
      <p:sp>
        <p:nvSpPr>
          <p:cNvPr id="34" name="Text 32"/>
          <p:cNvSpPr/>
          <p:nvPr/>
        </p:nvSpPr>
        <p:spPr>
          <a:xfrm>
            <a:off x="365760" y="4846320"/>
            <a:ext cx="6400800" cy="182880"/>
          </a:xfrm>
          <a:prstGeom prst="rect">
            <a:avLst/>
          </a:prstGeom>
          <a:noFill/>
          <a:ln/>
        </p:spPr>
        <p:txBody>
          <a:bodyPr wrap="square" rtlCol="0" anchor="ctr"/>
          <a:lstStyle/>
          <a:p>
            <a:pPr algn="l" indent="0" marL="0">
              <a:buNone/>
            </a:pPr>
            <a:r>
              <a:rPr lang="en-US" sz="800" dirty="0">
                <a:solidFill>
                  <a:srgbClr val="888888"/>
                </a:solidFill>
                <a:latin typeface="Calibri" pitchFamily="34" charset="0"/>
                <a:ea typeface="Calibri" pitchFamily="34" charset="-122"/>
                <a:cs typeface="Calibri" pitchFamily="34" charset="-120"/>
              </a:rPr>
              <a:t>aviqr.com  ·  Confidential  ·  June 2026</a:t>
            </a:r>
            <a:endParaRPr lang="en-US" sz="800" dirty="0"/>
          </a:p>
        </p:txBody>
      </p:sp>
      <p:sp>
        <p:nvSpPr>
          <p:cNvPr id="35" name="Text 33"/>
          <p:cNvSpPr/>
          <p:nvPr/>
        </p:nvSpPr>
        <p:spPr>
          <a:xfrm>
            <a:off x="7772400" y="4846320"/>
            <a:ext cx="914400" cy="18288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7 / 18</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rtlCol="0" anchor="ctr"/>
          <a:lstStyle/>
          <a:p>
            <a:pPr indent="0" marL="0">
              <a:buNone/>
            </a:pPr>
            <a:r>
              <a:rPr lang="en-US" sz="900" b="1" spc="400" kern="0" dirty="0">
                <a:solidFill>
                  <a:srgbClr val="00B37D"/>
                </a:solidFill>
                <a:latin typeface="Calibri" pitchFamily="34" charset="0"/>
                <a:ea typeface="Calibri" pitchFamily="34" charset="-122"/>
                <a:cs typeface="Calibri" pitchFamily="34" charset="-120"/>
              </a:rPr>
              <a:t>COMPETITION</a:t>
            </a:r>
            <a:endParaRPr lang="en-US" sz="900" dirty="0"/>
          </a:p>
        </p:txBody>
      </p:sp>
      <p:sp>
        <p:nvSpPr>
          <p:cNvPr id="3" name="Text 1"/>
          <p:cNvSpPr/>
          <p:nvPr/>
        </p:nvSpPr>
        <p:spPr>
          <a:xfrm>
            <a:off x="365760" y="50292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We win on speed to live + AI advantage.</a:t>
            </a:r>
            <a:endParaRPr lang="en-US" sz="2600" dirty="0"/>
          </a:p>
        </p:txBody>
      </p:sp>
      <p:sp>
        <p:nvSpPr>
          <p:cNvPr id="4" name="Shape 2"/>
          <p:cNvSpPr/>
          <p:nvPr/>
        </p:nvSpPr>
        <p:spPr>
          <a:xfrm>
            <a:off x="320040" y="1188720"/>
            <a:ext cx="2697480" cy="347472"/>
          </a:xfrm>
          <a:prstGeom prst="rect">
            <a:avLst/>
          </a:prstGeom>
          <a:solidFill>
            <a:srgbClr val="222222"/>
          </a:solidFill>
          <a:ln w="12700">
            <a:solidFill>
              <a:srgbClr val="333333"/>
            </a:solidFill>
            <a:prstDash val="solid"/>
          </a:ln>
        </p:spPr>
      </p:sp>
      <p:sp>
        <p:nvSpPr>
          <p:cNvPr id="5" name="Text 3"/>
          <p:cNvSpPr/>
          <p:nvPr/>
        </p:nvSpPr>
        <p:spPr>
          <a:xfrm>
            <a:off x="365760" y="1216152"/>
            <a:ext cx="2633472" cy="274320"/>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Feature</a:t>
            </a:r>
            <a:endParaRPr lang="en-US" sz="900" dirty="0"/>
          </a:p>
        </p:txBody>
      </p:sp>
      <p:sp>
        <p:nvSpPr>
          <p:cNvPr id="6" name="Shape 4"/>
          <p:cNvSpPr/>
          <p:nvPr/>
        </p:nvSpPr>
        <p:spPr>
          <a:xfrm>
            <a:off x="3108960" y="1188720"/>
            <a:ext cx="1325880" cy="347472"/>
          </a:xfrm>
          <a:prstGeom prst="rect">
            <a:avLst/>
          </a:prstGeom>
          <a:solidFill>
            <a:srgbClr val="00B37D"/>
          </a:solidFill>
          <a:ln w="12700">
            <a:solidFill>
              <a:srgbClr val="333333"/>
            </a:solidFill>
            <a:prstDash val="solid"/>
          </a:ln>
        </p:spPr>
      </p:sp>
      <p:sp>
        <p:nvSpPr>
          <p:cNvPr id="7" name="Text 5"/>
          <p:cNvSpPr/>
          <p:nvPr/>
        </p:nvSpPr>
        <p:spPr>
          <a:xfrm>
            <a:off x="3154680" y="1216152"/>
            <a:ext cx="1261872" cy="274320"/>
          </a:xfrm>
          <a:prstGeom prst="rect">
            <a:avLst/>
          </a:prstGeom>
          <a:noFill/>
          <a:ln/>
        </p:spPr>
        <p:txBody>
          <a:bodyPr wrap="square" rtlCol="0" anchor="ctr"/>
          <a:lstStyle/>
          <a:p>
            <a:pPr algn="ctr" indent="0" marL="0">
              <a:buNone/>
            </a:pPr>
            <a:r>
              <a:rPr lang="en-US" sz="900" b="1" dirty="0">
                <a:solidFill>
                  <a:srgbClr val="111111"/>
                </a:solidFill>
                <a:latin typeface="Calibri" pitchFamily="34" charset="0"/>
                <a:ea typeface="Calibri" pitchFamily="34" charset="-122"/>
                <a:cs typeface="Calibri" pitchFamily="34" charset="-120"/>
              </a:rPr>
              <a:t>AviQR</a:t>
            </a:r>
            <a:endParaRPr lang="en-US" sz="900" dirty="0"/>
          </a:p>
        </p:txBody>
      </p:sp>
      <p:sp>
        <p:nvSpPr>
          <p:cNvPr id="8" name="Shape 6"/>
          <p:cNvSpPr/>
          <p:nvPr/>
        </p:nvSpPr>
        <p:spPr>
          <a:xfrm>
            <a:off x="4526280" y="1188720"/>
            <a:ext cx="1325880" cy="347472"/>
          </a:xfrm>
          <a:prstGeom prst="rect">
            <a:avLst/>
          </a:prstGeom>
          <a:solidFill>
            <a:srgbClr val="222222"/>
          </a:solidFill>
          <a:ln w="12700">
            <a:solidFill>
              <a:srgbClr val="333333"/>
            </a:solidFill>
            <a:prstDash val="solid"/>
          </a:ln>
        </p:spPr>
      </p:sp>
      <p:sp>
        <p:nvSpPr>
          <p:cNvPr id="9" name="Text 7"/>
          <p:cNvSpPr/>
          <p:nvPr/>
        </p:nvSpPr>
        <p:spPr>
          <a:xfrm>
            <a:off x="4572000" y="1216152"/>
            <a:ext cx="1261872"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Dotpe</a:t>
            </a:r>
            <a:endParaRPr lang="en-US" sz="900" dirty="0"/>
          </a:p>
        </p:txBody>
      </p:sp>
      <p:sp>
        <p:nvSpPr>
          <p:cNvPr id="10" name="Shape 8"/>
          <p:cNvSpPr/>
          <p:nvPr/>
        </p:nvSpPr>
        <p:spPr>
          <a:xfrm>
            <a:off x="5943600" y="1188720"/>
            <a:ext cx="1325880" cy="347472"/>
          </a:xfrm>
          <a:prstGeom prst="rect">
            <a:avLst/>
          </a:prstGeom>
          <a:solidFill>
            <a:srgbClr val="222222"/>
          </a:solidFill>
          <a:ln w="12700">
            <a:solidFill>
              <a:srgbClr val="333333"/>
            </a:solidFill>
            <a:prstDash val="solid"/>
          </a:ln>
        </p:spPr>
      </p:sp>
      <p:sp>
        <p:nvSpPr>
          <p:cNvPr id="11" name="Text 9"/>
          <p:cNvSpPr/>
          <p:nvPr/>
        </p:nvSpPr>
        <p:spPr>
          <a:xfrm>
            <a:off x="5989320" y="1216152"/>
            <a:ext cx="1261872"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Petpooja</a:t>
            </a:r>
            <a:endParaRPr lang="en-US" sz="900" dirty="0"/>
          </a:p>
        </p:txBody>
      </p:sp>
      <p:sp>
        <p:nvSpPr>
          <p:cNvPr id="12" name="Shape 10"/>
          <p:cNvSpPr/>
          <p:nvPr/>
        </p:nvSpPr>
        <p:spPr>
          <a:xfrm>
            <a:off x="7360920" y="1188720"/>
            <a:ext cx="1325880" cy="347472"/>
          </a:xfrm>
          <a:prstGeom prst="rect">
            <a:avLst/>
          </a:prstGeom>
          <a:solidFill>
            <a:srgbClr val="222222"/>
          </a:solidFill>
          <a:ln w="12700">
            <a:solidFill>
              <a:srgbClr val="333333"/>
            </a:solidFill>
            <a:prstDash val="solid"/>
          </a:ln>
        </p:spPr>
      </p:sp>
      <p:sp>
        <p:nvSpPr>
          <p:cNvPr id="13" name="Text 11"/>
          <p:cNvSpPr/>
          <p:nvPr/>
        </p:nvSpPr>
        <p:spPr>
          <a:xfrm>
            <a:off x="7406640" y="1216152"/>
            <a:ext cx="1261872" cy="27432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eMenu / Paper</a:t>
            </a:r>
            <a:endParaRPr lang="en-US" sz="900" dirty="0"/>
          </a:p>
        </p:txBody>
      </p:sp>
      <p:sp>
        <p:nvSpPr>
          <p:cNvPr id="14" name="Shape 12"/>
          <p:cNvSpPr/>
          <p:nvPr/>
        </p:nvSpPr>
        <p:spPr>
          <a:xfrm>
            <a:off x="320040" y="1572768"/>
            <a:ext cx="2697480" cy="329184"/>
          </a:xfrm>
          <a:prstGeom prst="rect">
            <a:avLst/>
          </a:prstGeom>
          <a:solidFill>
            <a:srgbClr val="1A1A1A"/>
          </a:solidFill>
          <a:ln w="12700">
            <a:solidFill>
              <a:srgbClr val="333333"/>
            </a:solidFill>
            <a:prstDash val="solid"/>
          </a:ln>
        </p:spPr>
      </p:sp>
      <p:sp>
        <p:nvSpPr>
          <p:cNvPr id="15" name="Text 13"/>
          <p:cNvSpPr/>
          <p:nvPr/>
        </p:nvSpPr>
        <p:spPr>
          <a:xfrm>
            <a:off x="365760" y="1618488"/>
            <a:ext cx="2633472" cy="237744"/>
          </a:xfrm>
          <a:prstGeom prst="rect">
            <a:avLst/>
          </a:prstGeom>
          <a:noFill/>
          <a:ln/>
        </p:spPr>
        <p:txBody>
          <a:bodyPr wrap="square" rtlCol="0" anchor="ctr"/>
          <a:lstStyle/>
          <a:p>
            <a:pPr algn="l" indent="0" marL="0">
              <a:buNone/>
            </a:pPr>
            <a:r>
              <a:rPr lang="en-US" sz="900" dirty="0">
                <a:solidFill>
                  <a:srgbClr val="CCCCCC"/>
                </a:solidFill>
                <a:latin typeface="Calibri" pitchFamily="34" charset="0"/>
                <a:ea typeface="Calibri" pitchFamily="34" charset="-122"/>
                <a:cs typeface="Calibri" pitchFamily="34" charset="-120"/>
              </a:rPr>
              <a:t>AI OCR upload (photo → live)</a:t>
            </a:r>
            <a:endParaRPr lang="en-US" sz="900" dirty="0"/>
          </a:p>
        </p:txBody>
      </p:sp>
      <p:sp>
        <p:nvSpPr>
          <p:cNvPr id="16" name="Shape 14"/>
          <p:cNvSpPr/>
          <p:nvPr/>
        </p:nvSpPr>
        <p:spPr>
          <a:xfrm>
            <a:off x="3108960" y="1572768"/>
            <a:ext cx="1325880" cy="329184"/>
          </a:xfrm>
          <a:prstGeom prst="rect">
            <a:avLst/>
          </a:prstGeom>
          <a:solidFill>
            <a:srgbClr val="0A2A1E"/>
          </a:solidFill>
          <a:ln w="12700">
            <a:solidFill>
              <a:srgbClr val="333333"/>
            </a:solidFill>
            <a:prstDash val="solid"/>
          </a:ln>
        </p:spPr>
      </p:sp>
      <p:sp>
        <p:nvSpPr>
          <p:cNvPr id="17" name="Text 15"/>
          <p:cNvSpPr/>
          <p:nvPr/>
        </p:nvSpPr>
        <p:spPr>
          <a:xfrm>
            <a:off x="3154680" y="1618488"/>
            <a:ext cx="1261872" cy="237744"/>
          </a:xfrm>
          <a:prstGeom prst="rect">
            <a:avLst/>
          </a:prstGeom>
          <a:noFill/>
          <a:ln/>
        </p:spPr>
        <p:txBody>
          <a:bodyPr wrap="square" rtlCol="0" anchor="ctr"/>
          <a:lstStyle/>
          <a:p>
            <a:pPr algn="ctr" indent="0" marL="0">
              <a:buNone/>
            </a:pPr>
            <a:r>
              <a:rPr lang="en-US" sz="1100" b="1" dirty="0">
                <a:solidFill>
                  <a:srgbClr val="00B37D"/>
                </a:solidFill>
                <a:latin typeface="Calibri" pitchFamily="34" charset="0"/>
                <a:ea typeface="Calibri" pitchFamily="34" charset="-122"/>
                <a:cs typeface="Calibri" pitchFamily="34" charset="-120"/>
              </a:rPr>
              <a:t>✅</a:t>
            </a:r>
            <a:endParaRPr lang="en-US" sz="1100" dirty="0"/>
          </a:p>
        </p:txBody>
      </p:sp>
      <p:sp>
        <p:nvSpPr>
          <p:cNvPr id="18" name="Shape 16"/>
          <p:cNvSpPr/>
          <p:nvPr/>
        </p:nvSpPr>
        <p:spPr>
          <a:xfrm>
            <a:off x="4526280" y="1572768"/>
            <a:ext cx="1325880" cy="329184"/>
          </a:xfrm>
          <a:prstGeom prst="rect">
            <a:avLst/>
          </a:prstGeom>
          <a:solidFill>
            <a:srgbClr val="1A1A1A"/>
          </a:solidFill>
          <a:ln w="12700">
            <a:solidFill>
              <a:srgbClr val="333333"/>
            </a:solidFill>
            <a:prstDash val="solid"/>
          </a:ln>
        </p:spPr>
      </p:sp>
      <p:sp>
        <p:nvSpPr>
          <p:cNvPr id="19" name="Text 17"/>
          <p:cNvSpPr/>
          <p:nvPr/>
        </p:nvSpPr>
        <p:spPr>
          <a:xfrm>
            <a:off x="4572000" y="1618488"/>
            <a:ext cx="1261872" cy="237744"/>
          </a:xfrm>
          <a:prstGeom prst="rect">
            <a:avLst/>
          </a:prstGeom>
          <a:noFill/>
          <a:ln/>
        </p:spPr>
        <p:txBody>
          <a:bodyPr wrap="square" rtlCol="0" anchor="ctr"/>
          <a:lstStyle/>
          <a:p>
            <a:pPr algn="ctr" indent="0" marL="0">
              <a:buNone/>
            </a:pPr>
            <a:r>
              <a:rPr lang="en-US" sz="1100" b="1" dirty="0">
                <a:solidFill>
                  <a:srgbClr val="FF4444"/>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5943600" y="1572768"/>
            <a:ext cx="1325880" cy="329184"/>
          </a:xfrm>
          <a:prstGeom prst="rect">
            <a:avLst/>
          </a:prstGeom>
          <a:solidFill>
            <a:srgbClr val="1A1A1A"/>
          </a:solidFill>
          <a:ln w="12700">
            <a:solidFill>
              <a:srgbClr val="333333"/>
            </a:solidFill>
            <a:prstDash val="solid"/>
          </a:ln>
        </p:spPr>
      </p:sp>
      <p:sp>
        <p:nvSpPr>
          <p:cNvPr id="21" name="Text 19"/>
          <p:cNvSpPr/>
          <p:nvPr/>
        </p:nvSpPr>
        <p:spPr>
          <a:xfrm>
            <a:off x="5989320" y="1618488"/>
            <a:ext cx="1261872" cy="237744"/>
          </a:xfrm>
          <a:prstGeom prst="rect">
            <a:avLst/>
          </a:prstGeom>
          <a:noFill/>
          <a:ln/>
        </p:spPr>
        <p:txBody>
          <a:bodyPr wrap="square" rtlCol="0" anchor="ctr"/>
          <a:lstStyle/>
          <a:p>
            <a:pPr algn="ctr" indent="0" marL="0">
              <a:buNone/>
            </a:pPr>
            <a:r>
              <a:rPr lang="en-US" sz="1100" b="1" dirty="0">
                <a:solidFill>
                  <a:srgbClr val="FF4444"/>
                </a:solidFill>
                <a:latin typeface="Calibri" pitchFamily="34" charset="0"/>
                <a:ea typeface="Calibri" pitchFamily="34" charset="-122"/>
                <a:cs typeface="Calibri" pitchFamily="34" charset="-120"/>
              </a:rPr>
              <a:t>❌</a:t>
            </a:r>
            <a:endParaRPr lang="en-US" sz="1100" dirty="0"/>
          </a:p>
        </p:txBody>
      </p:sp>
      <p:sp>
        <p:nvSpPr>
          <p:cNvPr id="22" name="Shape 20"/>
          <p:cNvSpPr/>
          <p:nvPr/>
        </p:nvSpPr>
        <p:spPr>
          <a:xfrm>
            <a:off x="7360920" y="1572768"/>
            <a:ext cx="1325880" cy="329184"/>
          </a:xfrm>
          <a:prstGeom prst="rect">
            <a:avLst/>
          </a:prstGeom>
          <a:solidFill>
            <a:srgbClr val="1A1A1A"/>
          </a:solidFill>
          <a:ln w="12700">
            <a:solidFill>
              <a:srgbClr val="333333"/>
            </a:solidFill>
            <a:prstDash val="solid"/>
          </a:ln>
        </p:spPr>
      </p:sp>
      <p:sp>
        <p:nvSpPr>
          <p:cNvPr id="23" name="Text 21"/>
          <p:cNvSpPr/>
          <p:nvPr/>
        </p:nvSpPr>
        <p:spPr>
          <a:xfrm>
            <a:off x="7406640" y="1618488"/>
            <a:ext cx="1261872" cy="237744"/>
          </a:xfrm>
          <a:prstGeom prst="rect">
            <a:avLst/>
          </a:prstGeom>
          <a:noFill/>
          <a:ln/>
        </p:spPr>
        <p:txBody>
          <a:bodyPr wrap="square" rtlCol="0" anchor="ctr"/>
          <a:lstStyle/>
          <a:p>
            <a:pPr algn="ctr" indent="0" marL="0">
              <a:buNone/>
            </a:pPr>
            <a:r>
              <a:rPr lang="en-US" sz="1100" b="1" dirty="0">
                <a:solidFill>
                  <a:srgbClr val="FF4444"/>
                </a:solidFill>
                <a:latin typeface="Calibri" pitchFamily="34" charset="0"/>
                <a:ea typeface="Calibri" pitchFamily="34" charset="-122"/>
                <a:cs typeface="Calibri" pitchFamily="34" charset="-120"/>
              </a:rPr>
              <a:t>❌</a:t>
            </a:r>
            <a:endParaRPr lang="en-US" sz="1100" dirty="0"/>
          </a:p>
        </p:txBody>
      </p:sp>
      <p:sp>
        <p:nvSpPr>
          <p:cNvPr id="24" name="Shape 22"/>
          <p:cNvSpPr/>
          <p:nvPr/>
        </p:nvSpPr>
        <p:spPr>
          <a:xfrm>
            <a:off x="320040" y="1920240"/>
            <a:ext cx="2697480" cy="329184"/>
          </a:xfrm>
          <a:prstGeom prst="rect">
            <a:avLst/>
          </a:prstGeom>
          <a:solidFill>
            <a:srgbClr val="161616"/>
          </a:solidFill>
          <a:ln w="12700">
            <a:solidFill>
              <a:srgbClr val="333333"/>
            </a:solidFill>
            <a:prstDash val="solid"/>
          </a:ln>
        </p:spPr>
      </p:sp>
      <p:sp>
        <p:nvSpPr>
          <p:cNvPr id="25" name="Text 23"/>
          <p:cNvSpPr/>
          <p:nvPr/>
        </p:nvSpPr>
        <p:spPr>
          <a:xfrm>
            <a:off x="365760" y="1965960"/>
            <a:ext cx="2633472" cy="237744"/>
          </a:xfrm>
          <a:prstGeom prst="rect">
            <a:avLst/>
          </a:prstGeom>
          <a:noFill/>
          <a:ln/>
        </p:spPr>
        <p:txBody>
          <a:bodyPr wrap="square" rtlCol="0" anchor="ctr"/>
          <a:lstStyle/>
          <a:p>
            <a:pPr algn="l" indent="0" marL="0">
              <a:buNone/>
            </a:pPr>
            <a:r>
              <a:rPr lang="en-US" sz="900" dirty="0">
                <a:solidFill>
                  <a:srgbClr val="CCCCCC"/>
                </a:solidFill>
                <a:latin typeface="Calibri" pitchFamily="34" charset="0"/>
                <a:ea typeface="Calibri" pitchFamily="34" charset="-122"/>
                <a:cs typeface="Calibri" pitchFamily="34" charset="-120"/>
              </a:rPr>
              <a:t>No app download required</a:t>
            </a:r>
            <a:endParaRPr lang="en-US" sz="900" dirty="0"/>
          </a:p>
        </p:txBody>
      </p:sp>
      <p:sp>
        <p:nvSpPr>
          <p:cNvPr id="26" name="Shape 24"/>
          <p:cNvSpPr/>
          <p:nvPr/>
        </p:nvSpPr>
        <p:spPr>
          <a:xfrm>
            <a:off x="3108960" y="1920240"/>
            <a:ext cx="1325880" cy="329184"/>
          </a:xfrm>
          <a:prstGeom prst="rect">
            <a:avLst/>
          </a:prstGeom>
          <a:solidFill>
            <a:srgbClr val="0A2A1E"/>
          </a:solidFill>
          <a:ln w="12700">
            <a:solidFill>
              <a:srgbClr val="333333"/>
            </a:solidFill>
            <a:prstDash val="solid"/>
          </a:ln>
        </p:spPr>
      </p:sp>
      <p:sp>
        <p:nvSpPr>
          <p:cNvPr id="27" name="Text 25"/>
          <p:cNvSpPr/>
          <p:nvPr/>
        </p:nvSpPr>
        <p:spPr>
          <a:xfrm>
            <a:off x="3154680" y="1965960"/>
            <a:ext cx="1261872" cy="237744"/>
          </a:xfrm>
          <a:prstGeom prst="rect">
            <a:avLst/>
          </a:prstGeom>
          <a:noFill/>
          <a:ln/>
        </p:spPr>
        <p:txBody>
          <a:bodyPr wrap="square" rtlCol="0" anchor="ctr"/>
          <a:lstStyle/>
          <a:p>
            <a:pPr algn="ctr" indent="0" marL="0">
              <a:buNone/>
            </a:pPr>
            <a:r>
              <a:rPr lang="en-US" sz="1100" b="1" dirty="0">
                <a:solidFill>
                  <a:srgbClr val="00B37D"/>
                </a:solidFill>
                <a:latin typeface="Calibri" pitchFamily="34" charset="0"/>
                <a:ea typeface="Calibri" pitchFamily="34" charset="-122"/>
                <a:cs typeface="Calibri" pitchFamily="34" charset="-120"/>
              </a:rPr>
              <a:t>✅</a:t>
            </a:r>
            <a:endParaRPr lang="en-US" sz="1100" dirty="0"/>
          </a:p>
        </p:txBody>
      </p:sp>
      <p:sp>
        <p:nvSpPr>
          <p:cNvPr id="28" name="Shape 26"/>
          <p:cNvSpPr/>
          <p:nvPr/>
        </p:nvSpPr>
        <p:spPr>
          <a:xfrm>
            <a:off x="4526280" y="1920240"/>
            <a:ext cx="1325880" cy="329184"/>
          </a:xfrm>
          <a:prstGeom prst="rect">
            <a:avLst/>
          </a:prstGeom>
          <a:solidFill>
            <a:srgbClr val="161616"/>
          </a:solidFill>
          <a:ln w="12700">
            <a:solidFill>
              <a:srgbClr val="333333"/>
            </a:solidFill>
            <a:prstDash val="solid"/>
          </a:ln>
        </p:spPr>
      </p:sp>
      <p:sp>
        <p:nvSpPr>
          <p:cNvPr id="29" name="Text 27"/>
          <p:cNvSpPr/>
          <p:nvPr/>
        </p:nvSpPr>
        <p:spPr>
          <a:xfrm>
            <a:off x="4572000" y="1965960"/>
            <a:ext cx="1261872" cy="237744"/>
          </a:xfrm>
          <a:prstGeom prst="rect">
            <a:avLst/>
          </a:prstGeom>
          <a:noFill/>
          <a:ln/>
        </p:spPr>
        <p:txBody>
          <a:bodyPr wrap="square" rtlCol="0" anchor="ctr"/>
          <a:lstStyle/>
          <a:p>
            <a:pPr algn="ctr" indent="0" marL="0">
              <a:buNone/>
            </a:pPr>
            <a:r>
              <a:rPr lang="en-US" sz="1100" b="1" dirty="0">
                <a:solidFill>
                  <a:srgbClr val="00B37D"/>
                </a:solidFill>
                <a:latin typeface="Calibri" pitchFamily="34" charset="0"/>
                <a:ea typeface="Calibri" pitchFamily="34" charset="-122"/>
                <a:cs typeface="Calibri" pitchFamily="34" charset="-120"/>
              </a:rPr>
              <a:t>✅</a:t>
            </a:r>
            <a:endParaRPr lang="en-US" sz="1100" dirty="0"/>
          </a:p>
        </p:txBody>
      </p:sp>
      <p:sp>
        <p:nvSpPr>
          <p:cNvPr id="30" name="Shape 28"/>
          <p:cNvSpPr/>
          <p:nvPr/>
        </p:nvSpPr>
        <p:spPr>
          <a:xfrm>
            <a:off x="5943600" y="1920240"/>
            <a:ext cx="1325880" cy="329184"/>
          </a:xfrm>
          <a:prstGeom prst="rect">
            <a:avLst/>
          </a:prstGeom>
          <a:solidFill>
            <a:srgbClr val="161616"/>
          </a:solidFill>
          <a:ln w="12700">
            <a:solidFill>
              <a:srgbClr val="333333"/>
            </a:solidFill>
            <a:prstDash val="solid"/>
          </a:ln>
        </p:spPr>
      </p:sp>
      <p:sp>
        <p:nvSpPr>
          <p:cNvPr id="31" name="Text 29"/>
          <p:cNvSpPr/>
          <p:nvPr/>
        </p:nvSpPr>
        <p:spPr>
          <a:xfrm>
            <a:off x="5989320" y="1965960"/>
            <a:ext cx="1261872" cy="237744"/>
          </a:xfrm>
          <a:prstGeom prst="rect">
            <a:avLst/>
          </a:prstGeom>
          <a:noFill/>
          <a:ln/>
        </p:spPr>
        <p:txBody>
          <a:bodyPr wrap="square" rtlCol="0" anchor="ctr"/>
          <a:lstStyle/>
          <a:p>
            <a:pPr algn="ctr" indent="0" marL="0">
              <a:buNone/>
            </a:pPr>
            <a:r>
              <a:rPr lang="en-US" sz="1100" b="1" dirty="0">
                <a:solidFill>
                  <a:srgbClr val="FF4444"/>
                </a:solidFill>
                <a:latin typeface="Calibri" pitchFamily="34" charset="0"/>
                <a:ea typeface="Calibri" pitchFamily="34" charset="-122"/>
                <a:cs typeface="Calibri" pitchFamily="34" charset="-120"/>
              </a:rPr>
              <a:t>❌</a:t>
            </a:r>
            <a:endParaRPr lang="en-US" sz="1100" dirty="0"/>
          </a:p>
        </p:txBody>
      </p:sp>
      <p:sp>
        <p:nvSpPr>
          <p:cNvPr id="32" name="Shape 30"/>
          <p:cNvSpPr/>
          <p:nvPr/>
        </p:nvSpPr>
        <p:spPr>
          <a:xfrm>
            <a:off x="7360920" y="1920240"/>
            <a:ext cx="1325880" cy="329184"/>
          </a:xfrm>
          <a:prstGeom prst="rect">
            <a:avLst/>
          </a:prstGeom>
          <a:solidFill>
            <a:srgbClr val="161616"/>
          </a:solidFill>
          <a:ln w="12700">
            <a:solidFill>
              <a:srgbClr val="333333"/>
            </a:solidFill>
            <a:prstDash val="solid"/>
          </a:ln>
        </p:spPr>
      </p:sp>
      <p:sp>
        <p:nvSpPr>
          <p:cNvPr id="33" name="Text 31"/>
          <p:cNvSpPr/>
          <p:nvPr/>
        </p:nvSpPr>
        <p:spPr>
          <a:xfrm>
            <a:off x="7406640" y="1965960"/>
            <a:ext cx="1261872" cy="237744"/>
          </a:xfrm>
          <a:prstGeom prst="rect">
            <a:avLst/>
          </a:prstGeom>
          <a:noFill/>
          <a:ln/>
        </p:spPr>
        <p:txBody>
          <a:bodyPr wrap="square" rtlCol="0" anchor="ctr"/>
          <a:lstStyle/>
          <a:p>
            <a:pPr algn="ctr" indent="0" marL="0">
              <a:buNone/>
            </a:pPr>
            <a:r>
              <a:rPr lang="en-US" sz="1100" b="1" dirty="0">
                <a:solidFill>
                  <a:srgbClr val="FF4444"/>
                </a:solidFill>
                <a:latin typeface="Calibri" pitchFamily="34" charset="0"/>
                <a:ea typeface="Calibri" pitchFamily="34" charset="-122"/>
                <a:cs typeface="Calibri" pitchFamily="34" charset="-120"/>
              </a:rPr>
              <a:t>❌</a:t>
            </a:r>
            <a:endParaRPr lang="en-US" sz="1100" dirty="0"/>
          </a:p>
        </p:txBody>
      </p:sp>
      <p:sp>
        <p:nvSpPr>
          <p:cNvPr id="34" name="Shape 32"/>
          <p:cNvSpPr/>
          <p:nvPr/>
        </p:nvSpPr>
        <p:spPr>
          <a:xfrm>
            <a:off x="320040" y="2267712"/>
            <a:ext cx="2697480" cy="329184"/>
          </a:xfrm>
          <a:prstGeom prst="rect">
            <a:avLst/>
          </a:prstGeom>
          <a:solidFill>
            <a:srgbClr val="1A1A1A"/>
          </a:solidFill>
          <a:ln w="12700">
            <a:solidFill>
              <a:srgbClr val="333333"/>
            </a:solidFill>
            <a:prstDash val="solid"/>
          </a:ln>
        </p:spPr>
      </p:sp>
      <p:sp>
        <p:nvSpPr>
          <p:cNvPr id="35" name="Text 33"/>
          <p:cNvSpPr/>
          <p:nvPr/>
        </p:nvSpPr>
        <p:spPr>
          <a:xfrm>
            <a:off x="365760" y="2313432"/>
            <a:ext cx="2633472" cy="237744"/>
          </a:xfrm>
          <a:prstGeom prst="rect">
            <a:avLst/>
          </a:prstGeom>
          <a:noFill/>
          <a:ln/>
        </p:spPr>
        <p:txBody>
          <a:bodyPr wrap="square" rtlCol="0" anchor="ctr"/>
          <a:lstStyle/>
          <a:p>
            <a:pPr algn="l" indent="0" marL="0">
              <a:buNone/>
            </a:pPr>
            <a:r>
              <a:rPr lang="en-US" sz="900" dirty="0">
                <a:solidFill>
                  <a:srgbClr val="CCCCCC"/>
                </a:solidFill>
                <a:latin typeface="Calibri" pitchFamily="34" charset="0"/>
                <a:ea typeface="Calibri" pitchFamily="34" charset="-122"/>
                <a:cs typeface="Calibri" pitchFamily="34" charset="-120"/>
              </a:rPr>
              <a:t>Permanent QR — no reprint</a:t>
            </a:r>
            <a:endParaRPr lang="en-US" sz="900" dirty="0"/>
          </a:p>
        </p:txBody>
      </p:sp>
      <p:sp>
        <p:nvSpPr>
          <p:cNvPr id="36" name="Shape 34"/>
          <p:cNvSpPr/>
          <p:nvPr/>
        </p:nvSpPr>
        <p:spPr>
          <a:xfrm>
            <a:off x="3108960" y="2267712"/>
            <a:ext cx="1325880" cy="329184"/>
          </a:xfrm>
          <a:prstGeom prst="rect">
            <a:avLst/>
          </a:prstGeom>
          <a:solidFill>
            <a:srgbClr val="0A2A1E"/>
          </a:solidFill>
          <a:ln w="12700">
            <a:solidFill>
              <a:srgbClr val="333333"/>
            </a:solidFill>
            <a:prstDash val="solid"/>
          </a:ln>
        </p:spPr>
      </p:sp>
      <p:sp>
        <p:nvSpPr>
          <p:cNvPr id="37" name="Text 35"/>
          <p:cNvSpPr/>
          <p:nvPr/>
        </p:nvSpPr>
        <p:spPr>
          <a:xfrm>
            <a:off x="3154680" y="2313432"/>
            <a:ext cx="1261872" cy="237744"/>
          </a:xfrm>
          <a:prstGeom prst="rect">
            <a:avLst/>
          </a:prstGeom>
          <a:noFill/>
          <a:ln/>
        </p:spPr>
        <p:txBody>
          <a:bodyPr wrap="square" rtlCol="0" anchor="ctr"/>
          <a:lstStyle/>
          <a:p>
            <a:pPr algn="ctr" indent="0" marL="0">
              <a:buNone/>
            </a:pPr>
            <a:r>
              <a:rPr lang="en-US" sz="1100" b="1" dirty="0">
                <a:solidFill>
                  <a:srgbClr val="00B37D"/>
                </a:solidFill>
                <a:latin typeface="Calibri" pitchFamily="34" charset="0"/>
                <a:ea typeface="Calibri" pitchFamily="34" charset="-122"/>
                <a:cs typeface="Calibri" pitchFamily="34" charset="-120"/>
              </a:rPr>
              <a:t>✅</a:t>
            </a:r>
            <a:endParaRPr lang="en-US" sz="1100" dirty="0"/>
          </a:p>
        </p:txBody>
      </p:sp>
      <p:sp>
        <p:nvSpPr>
          <p:cNvPr id="38" name="Shape 36"/>
          <p:cNvSpPr/>
          <p:nvPr/>
        </p:nvSpPr>
        <p:spPr>
          <a:xfrm>
            <a:off x="4526280" y="2267712"/>
            <a:ext cx="1325880" cy="329184"/>
          </a:xfrm>
          <a:prstGeom prst="rect">
            <a:avLst/>
          </a:prstGeom>
          <a:solidFill>
            <a:srgbClr val="1A1A1A"/>
          </a:solidFill>
          <a:ln w="12700">
            <a:solidFill>
              <a:srgbClr val="333333"/>
            </a:solidFill>
            <a:prstDash val="solid"/>
          </a:ln>
        </p:spPr>
      </p:sp>
      <p:sp>
        <p:nvSpPr>
          <p:cNvPr id="39" name="Text 37"/>
          <p:cNvSpPr/>
          <p:nvPr/>
        </p:nvSpPr>
        <p:spPr>
          <a:xfrm>
            <a:off x="4572000" y="2313432"/>
            <a:ext cx="1261872" cy="237744"/>
          </a:xfrm>
          <a:prstGeom prst="rect">
            <a:avLst/>
          </a:prstGeom>
          <a:noFill/>
          <a:ln/>
        </p:spPr>
        <p:txBody>
          <a:bodyPr wrap="square" rtlCol="0" anchor="ctr"/>
          <a:lstStyle/>
          <a:p>
            <a:pPr algn="ctr" indent="0" marL="0">
              <a:buNone/>
            </a:pPr>
            <a:r>
              <a:rPr lang="en-US" sz="1100" b="1" dirty="0">
                <a:solidFill>
                  <a:srgbClr val="FF4444"/>
                </a:solidFill>
                <a:latin typeface="Calibri" pitchFamily="34" charset="0"/>
                <a:ea typeface="Calibri" pitchFamily="34" charset="-122"/>
                <a:cs typeface="Calibri" pitchFamily="34" charset="-120"/>
              </a:rPr>
              <a:t>❌</a:t>
            </a:r>
            <a:endParaRPr lang="en-US" sz="1100" dirty="0"/>
          </a:p>
        </p:txBody>
      </p:sp>
      <p:sp>
        <p:nvSpPr>
          <p:cNvPr id="40" name="Shape 38"/>
          <p:cNvSpPr/>
          <p:nvPr/>
        </p:nvSpPr>
        <p:spPr>
          <a:xfrm>
            <a:off x="5943600" y="2267712"/>
            <a:ext cx="1325880" cy="329184"/>
          </a:xfrm>
          <a:prstGeom prst="rect">
            <a:avLst/>
          </a:prstGeom>
          <a:solidFill>
            <a:srgbClr val="1A1A1A"/>
          </a:solidFill>
          <a:ln w="12700">
            <a:solidFill>
              <a:srgbClr val="333333"/>
            </a:solidFill>
            <a:prstDash val="solid"/>
          </a:ln>
        </p:spPr>
      </p:sp>
      <p:sp>
        <p:nvSpPr>
          <p:cNvPr id="41" name="Text 39"/>
          <p:cNvSpPr/>
          <p:nvPr/>
        </p:nvSpPr>
        <p:spPr>
          <a:xfrm>
            <a:off x="5989320" y="2313432"/>
            <a:ext cx="1261872" cy="237744"/>
          </a:xfrm>
          <a:prstGeom prst="rect">
            <a:avLst/>
          </a:prstGeom>
          <a:noFill/>
          <a:ln/>
        </p:spPr>
        <p:txBody>
          <a:bodyPr wrap="square" rtlCol="0" anchor="ctr"/>
          <a:lstStyle/>
          <a:p>
            <a:pPr algn="ctr" indent="0" marL="0">
              <a:buNone/>
            </a:pPr>
            <a:r>
              <a:rPr lang="en-US" sz="1100" b="1" dirty="0">
                <a:solidFill>
                  <a:srgbClr val="FF4444"/>
                </a:solidFill>
                <a:latin typeface="Calibri" pitchFamily="34" charset="0"/>
                <a:ea typeface="Calibri" pitchFamily="34" charset="-122"/>
                <a:cs typeface="Calibri" pitchFamily="34" charset="-120"/>
              </a:rPr>
              <a:t>❌</a:t>
            </a:r>
            <a:endParaRPr lang="en-US" sz="1100" dirty="0"/>
          </a:p>
        </p:txBody>
      </p:sp>
      <p:sp>
        <p:nvSpPr>
          <p:cNvPr id="42" name="Shape 40"/>
          <p:cNvSpPr/>
          <p:nvPr/>
        </p:nvSpPr>
        <p:spPr>
          <a:xfrm>
            <a:off x="7360920" y="2267712"/>
            <a:ext cx="1325880" cy="329184"/>
          </a:xfrm>
          <a:prstGeom prst="rect">
            <a:avLst/>
          </a:prstGeom>
          <a:solidFill>
            <a:srgbClr val="1A1A1A"/>
          </a:solidFill>
          <a:ln w="12700">
            <a:solidFill>
              <a:srgbClr val="333333"/>
            </a:solidFill>
            <a:prstDash val="solid"/>
          </a:ln>
        </p:spPr>
      </p:sp>
      <p:sp>
        <p:nvSpPr>
          <p:cNvPr id="43" name="Text 41"/>
          <p:cNvSpPr/>
          <p:nvPr/>
        </p:nvSpPr>
        <p:spPr>
          <a:xfrm>
            <a:off x="7406640" y="2313432"/>
            <a:ext cx="1261872" cy="237744"/>
          </a:xfrm>
          <a:prstGeom prst="rect">
            <a:avLst/>
          </a:prstGeom>
          <a:noFill/>
          <a:ln/>
        </p:spPr>
        <p:txBody>
          <a:bodyPr wrap="square" rtlCol="0" anchor="ctr"/>
          <a:lstStyle/>
          <a:p>
            <a:pPr algn="ctr" indent="0" marL="0">
              <a:buNone/>
            </a:pPr>
            <a:r>
              <a:rPr lang="en-US" sz="1100" b="1" dirty="0">
                <a:solidFill>
                  <a:srgbClr val="FF4444"/>
                </a:solidFill>
                <a:latin typeface="Calibri" pitchFamily="34" charset="0"/>
                <a:ea typeface="Calibri" pitchFamily="34" charset="-122"/>
                <a:cs typeface="Calibri" pitchFamily="34" charset="-120"/>
              </a:rPr>
              <a:t>❌</a:t>
            </a:r>
            <a:endParaRPr lang="en-US" sz="1100" dirty="0"/>
          </a:p>
        </p:txBody>
      </p:sp>
      <p:sp>
        <p:nvSpPr>
          <p:cNvPr id="44" name="Shape 42"/>
          <p:cNvSpPr/>
          <p:nvPr/>
        </p:nvSpPr>
        <p:spPr>
          <a:xfrm>
            <a:off x="320040" y="2615184"/>
            <a:ext cx="2697480" cy="329184"/>
          </a:xfrm>
          <a:prstGeom prst="rect">
            <a:avLst/>
          </a:prstGeom>
          <a:solidFill>
            <a:srgbClr val="161616"/>
          </a:solidFill>
          <a:ln w="12700">
            <a:solidFill>
              <a:srgbClr val="333333"/>
            </a:solidFill>
            <a:prstDash val="solid"/>
          </a:ln>
        </p:spPr>
      </p:sp>
      <p:sp>
        <p:nvSpPr>
          <p:cNvPr id="45" name="Text 43"/>
          <p:cNvSpPr/>
          <p:nvPr/>
        </p:nvSpPr>
        <p:spPr>
          <a:xfrm>
            <a:off x="365760" y="2660904"/>
            <a:ext cx="2633472" cy="237744"/>
          </a:xfrm>
          <a:prstGeom prst="rect">
            <a:avLst/>
          </a:prstGeom>
          <a:noFill/>
          <a:ln/>
        </p:spPr>
        <p:txBody>
          <a:bodyPr wrap="square" rtlCol="0" anchor="ctr"/>
          <a:lstStyle/>
          <a:p>
            <a:pPr algn="l" indent="0" marL="0">
              <a:buNone/>
            </a:pPr>
            <a:r>
              <a:rPr lang="en-US" sz="900" dirty="0">
                <a:solidFill>
                  <a:srgbClr val="CCCCCC"/>
                </a:solidFill>
                <a:latin typeface="Calibri" pitchFamily="34" charset="0"/>
                <a:ea typeface="Calibri" pitchFamily="34" charset="-122"/>
                <a:cs typeface="Calibri" pitchFamily="34" charset="-120"/>
              </a:rPr>
              <a:t>AI dynamic time-based pricing</a:t>
            </a:r>
            <a:endParaRPr lang="en-US" sz="900" dirty="0"/>
          </a:p>
        </p:txBody>
      </p:sp>
      <p:sp>
        <p:nvSpPr>
          <p:cNvPr id="46" name="Shape 44"/>
          <p:cNvSpPr/>
          <p:nvPr/>
        </p:nvSpPr>
        <p:spPr>
          <a:xfrm>
            <a:off x="3108960" y="2615184"/>
            <a:ext cx="1325880" cy="329184"/>
          </a:xfrm>
          <a:prstGeom prst="rect">
            <a:avLst/>
          </a:prstGeom>
          <a:solidFill>
            <a:srgbClr val="0A2A1E"/>
          </a:solidFill>
          <a:ln w="12700">
            <a:solidFill>
              <a:srgbClr val="333333"/>
            </a:solidFill>
            <a:prstDash val="solid"/>
          </a:ln>
        </p:spPr>
      </p:sp>
      <p:sp>
        <p:nvSpPr>
          <p:cNvPr id="47" name="Text 45"/>
          <p:cNvSpPr/>
          <p:nvPr/>
        </p:nvSpPr>
        <p:spPr>
          <a:xfrm>
            <a:off x="3154680" y="2660904"/>
            <a:ext cx="1261872" cy="237744"/>
          </a:xfrm>
          <a:prstGeom prst="rect">
            <a:avLst/>
          </a:prstGeom>
          <a:noFill/>
          <a:ln/>
        </p:spPr>
        <p:txBody>
          <a:bodyPr wrap="square" rtlCol="0" anchor="ctr"/>
          <a:lstStyle/>
          <a:p>
            <a:pPr algn="ctr" indent="0" marL="0">
              <a:buNone/>
            </a:pPr>
            <a:r>
              <a:rPr lang="en-US" sz="1100" b="1" dirty="0">
                <a:solidFill>
                  <a:srgbClr val="00B37D"/>
                </a:solidFill>
                <a:latin typeface="Calibri" pitchFamily="34" charset="0"/>
                <a:ea typeface="Calibri" pitchFamily="34" charset="-122"/>
                <a:cs typeface="Calibri" pitchFamily="34" charset="-120"/>
              </a:rPr>
              <a:t>✅</a:t>
            </a:r>
            <a:endParaRPr lang="en-US" sz="1100" dirty="0"/>
          </a:p>
        </p:txBody>
      </p:sp>
      <p:sp>
        <p:nvSpPr>
          <p:cNvPr id="48" name="Shape 46"/>
          <p:cNvSpPr/>
          <p:nvPr/>
        </p:nvSpPr>
        <p:spPr>
          <a:xfrm>
            <a:off x="4526280" y="2615184"/>
            <a:ext cx="1325880" cy="329184"/>
          </a:xfrm>
          <a:prstGeom prst="rect">
            <a:avLst/>
          </a:prstGeom>
          <a:solidFill>
            <a:srgbClr val="161616"/>
          </a:solidFill>
          <a:ln w="12700">
            <a:solidFill>
              <a:srgbClr val="333333"/>
            </a:solidFill>
            <a:prstDash val="solid"/>
          </a:ln>
        </p:spPr>
      </p:sp>
      <p:sp>
        <p:nvSpPr>
          <p:cNvPr id="49" name="Text 47"/>
          <p:cNvSpPr/>
          <p:nvPr/>
        </p:nvSpPr>
        <p:spPr>
          <a:xfrm>
            <a:off x="4572000" y="2660904"/>
            <a:ext cx="1261872" cy="237744"/>
          </a:xfrm>
          <a:prstGeom prst="rect">
            <a:avLst/>
          </a:prstGeom>
          <a:noFill/>
          <a:ln/>
        </p:spPr>
        <p:txBody>
          <a:bodyPr wrap="square" rtlCol="0" anchor="ctr"/>
          <a:lstStyle/>
          <a:p>
            <a:pPr algn="ctr" indent="0" marL="0">
              <a:buNone/>
            </a:pPr>
            <a:r>
              <a:rPr lang="en-US" sz="1100" b="1" dirty="0">
                <a:solidFill>
                  <a:srgbClr val="FF4444"/>
                </a:solidFill>
                <a:latin typeface="Calibri" pitchFamily="34" charset="0"/>
                <a:ea typeface="Calibri" pitchFamily="34" charset="-122"/>
                <a:cs typeface="Calibri" pitchFamily="34" charset="-120"/>
              </a:rPr>
              <a:t>❌</a:t>
            </a:r>
            <a:endParaRPr lang="en-US" sz="1100" dirty="0"/>
          </a:p>
        </p:txBody>
      </p:sp>
      <p:sp>
        <p:nvSpPr>
          <p:cNvPr id="50" name="Shape 48"/>
          <p:cNvSpPr/>
          <p:nvPr/>
        </p:nvSpPr>
        <p:spPr>
          <a:xfrm>
            <a:off x="5943600" y="2615184"/>
            <a:ext cx="1325880" cy="329184"/>
          </a:xfrm>
          <a:prstGeom prst="rect">
            <a:avLst/>
          </a:prstGeom>
          <a:solidFill>
            <a:srgbClr val="161616"/>
          </a:solidFill>
          <a:ln w="12700">
            <a:solidFill>
              <a:srgbClr val="333333"/>
            </a:solidFill>
            <a:prstDash val="solid"/>
          </a:ln>
        </p:spPr>
      </p:sp>
      <p:sp>
        <p:nvSpPr>
          <p:cNvPr id="51" name="Text 49"/>
          <p:cNvSpPr/>
          <p:nvPr/>
        </p:nvSpPr>
        <p:spPr>
          <a:xfrm>
            <a:off x="5989320" y="2660904"/>
            <a:ext cx="1261872" cy="237744"/>
          </a:xfrm>
          <a:prstGeom prst="rect">
            <a:avLst/>
          </a:prstGeom>
          <a:noFill/>
          <a:ln/>
        </p:spPr>
        <p:txBody>
          <a:bodyPr wrap="square" rtlCol="0" anchor="ctr"/>
          <a:lstStyle/>
          <a:p>
            <a:pPr algn="ctr" indent="0" marL="0">
              <a:buNone/>
            </a:pPr>
            <a:r>
              <a:rPr lang="en-US" sz="1100" b="1" dirty="0">
                <a:solidFill>
                  <a:srgbClr val="00B37D"/>
                </a:solidFill>
                <a:latin typeface="Calibri" pitchFamily="34" charset="0"/>
                <a:ea typeface="Calibri" pitchFamily="34" charset="-122"/>
                <a:cs typeface="Calibri" pitchFamily="34" charset="-120"/>
              </a:rPr>
              <a:t>✅</a:t>
            </a:r>
            <a:endParaRPr lang="en-US" sz="1100" dirty="0"/>
          </a:p>
        </p:txBody>
      </p:sp>
      <p:sp>
        <p:nvSpPr>
          <p:cNvPr id="52" name="Shape 50"/>
          <p:cNvSpPr/>
          <p:nvPr/>
        </p:nvSpPr>
        <p:spPr>
          <a:xfrm>
            <a:off x="7360920" y="2615184"/>
            <a:ext cx="1325880" cy="329184"/>
          </a:xfrm>
          <a:prstGeom prst="rect">
            <a:avLst/>
          </a:prstGeom>
          <a:solidFill>
            <a:srgbClr val="161616"/>
          </a:solidFill>
          <a:ln w="12700">
            <a:solidFill>
              <a:srgbClr val="333333"/>
            </a:solidFill>
            <a:prstDash val="solid"/>
          </a:ln>
        </p:spPr>
      </p:sp>
      <p:sp>
        <p:nvSpPr>
          <p:cNvPr id="53" name="Text 51"/>
          <p:cNvSpPr/>
          <p:nvPr/>
        </p:nvSpPr>
        <p:spPr>
          <a:xfrm>
            <a:off x="7406640" y="2660904"/>
            <a:ext cx="1261872" cy="237744"/>
          </a:xfrm>
          <a:prstGeom prst="rect">
            <a:avLst/>
          </a:prstGeom>
          <a:noFill/>
          <a:ln/>
        </p:spPr>
        <p:txBody>
          <a:bodyPr wrap="square" rtlCol="0" anchor="ctr"/>
          <a:lstStyle/>
          <a:p>
            <a:pPr algn="ctr" indent="0" marL="0">
              <a:buNone/>
            </a:pPr>
            <a:r>
              <a:rPr lang="en-US" sz="1100" b="1" dirty="0">
                <a:solidFill>
                  <a:srgbClr val="FF4444"/>
                </a:solidFill>
                <a:latin typeface="Calibri" pitchFamily="34" charset="0"/>
                <a:ea typeface="Calibri" pitchFamily="34" charset="-122"/>
                <a:cs typeface="Calibri" pitchFamily="34" charset="-120"/>
              </a:rPr>
              <a:t>❌</a:t>
            </a:r>
            <a:endParaRPr lang="en-US" sz="1100" dirty="0"/>
          </a:p>
        </p:txBody>
      </p:sp>
      <p:sp>
        <p:nvSpPr>
          <p:cNvPr id="54" name="Shape 52"/>
          <p:cNvSpPr/>
          <p:nvPr/>
        </p:nvSpPr>
        <p:spPr>
          <a:xfrm>
            <a:off x="320040" y="2962656"/>
            <a:ext cx="2697480" cy="329184"/>
          </a:xfrm>
          <a:prstGeom prst="rect">
            <a:avLst/>
          </a:prstGeom>
          <a:solidFill>
            <a:srgbClr val="1A1A1A"/>
          </a:solidFill>
          <a:ln w="12700">
            <a:solidFill>
              <a:srgbClr val="333333"/>
            </a:solidFill>
            <a:prstDash val="solid"/>
          </a:ln>
        </p:spPr>
      </p:sp>
      <p:sp>
        <p:nvSpPr>
          <p:cNvPr id="55" name="Text 53"/>
          <p:cNvSpPr/>
          <p:nvPr/>
        </p:nvSpPr>
        <p:spPr>
          <a:xfrm>
            <a:off x="365760" y="3008376"/>
            <a:ext cx="2633472" cy="237744"/>
          </a:xfrm>
          <a:prstGeom prst="rect">
            <a:avLst/>
          </a:prstGeom>
          <a:noFill/>
          <a:ln/>
        </p:spPr>
        <p:txBody>
          <a:bodyPr wrap="square" rtlCol="0" anchor="ctr"/>
          <a:lstStyle/>
          <a:p>
            <a:pPr algn="l" indent="0" marL="0">
              <a:buNone/>
            </a:pPr>
            <a:r>
              <a:rPr lang="en-US" sz="900" dirty="0">
                <a:solidFill>
                  <a:srgbClr val="CCCCCC"/>
                </a:solidFill>
                <a:latin typeface="Calibri" pitchFamily="34" charset="0"/>
                <a:ea typeface="Calibri" pitchFamily="34" charset="-122"/>
                <a:cs typeface="Calibri" pitchFamily="34" charset="-120"/>
              </a:rPr>
              <a:t>Hotel &amp; resort room QR</a:t>
            </a:r>
            <a:endParaRPr lang="en-US" sz="900" dirty="0"/>
          </a:p>
        </p:txBody>
      </p:sp>
      <p:sp>
        <p:nvSpPr>
          <p:cNvPr id="56" name="Shape 54"/>
          <p:cNvSpPr/>
          <p:nvPr/>
        </p:nvSpPr>
        <p:spPr>
          <a:xfrm>
            <a:off x="3108960" y="2962656"/>
            <a:ext cx="1325880" cy="329184"/>
          </a:xfrm>
          <a:prstGeom prst="rect">
            <a:avLst/>
          </a:prstGeom>
          <a:solidFill>
            <a:srgbClr val="0A2A1E"/>
          </a:solidFill>
          <a:ln w="12700">
            <a:solidFill>
              <a:srgbClr val="333333"/>
            </a:solidFill>
            <a:prstDash val="solid"/>
          </a:ln>
        </p:spPr>
      </p:sp>
      <p:sp>
        <p:nvSpPr>
          <p:cNvPr id="57" name="Text 55"/>
          <p:cNvSpPr/>
          <p:nvPr/>
        </p:nvSpPr>
        <p:spPr>
          <a:xfrm>
            <a:off x="3154680" y="3008376"/>
            <a:ext cx="1261872" cy="237744"/>
          </a:xfrm>
          <a:prstGeom prst="rect">
            <a:avLst/>
          </a:prstGeom>
          <a:noFill/>
          <a:ln/>
        </p:spPr>
        <p:txBody>
          <a:bodyPr wrap="square" rtlCol="0" anchor="ctr"/>
          <a:lstStyle/>
          <a:p>
            <a:pPr algn="ctr" indent="0" marL="0">
              <a:buNone/>
            </a:pPr>
            <a:r>
              <a:rPr lang="en-US" sz="1100" b="1" dirty="0">
                <a:solidFill>
                  <a:srgbClr val="00B37D"/>
                </a:solidFill>
                <a:latin typeface="Calibri" pitchFamily="34" charset="0"/>
                <a:ea typeface="Calibri" pitchFamily="34" charset="-122"/>
                <a:cs typeface="Calibri" pitchFamily="34" charset="-120"/>
              </a:rPr>
              <a:t>✅</a:t>
            </a:r>
            <a:endParaRPr lang="en-US" sz="1100" dirty="0"/>
          </a:p>
        </p:txBody>
      </p:sp>
      <p:sp>
        <p:nvSpPr>
          <p:cNvPr id="58" name="Shape 56"/>
          <p:cNvSpPr/>
          <p:nvPr/>
        </p:nvSpPr>
        <p:spPr>
          <a:xfrm>
            <a:off x="4526280" y="2962656"/>
            <a:ext cx="1325880" cy="329184"/>
          </a:xfrm>
          <a:prstGeom prst="rect">
            <a:avLst/>
          </a:prstGeom>
          <a:solidFill>
            <a:srgbClr val="1A1A1A"/>
          </a:solidFill>
          <a:ln w="12700">
            <a:solidFill>
              <a:srgbClr val="333333"/>
            </a:solidFill>
            <a:prstDash val="solid"/>
          </a:ln>
        </p:spPr>
      </p:sp>
      <p:sp>
        <p:nvSpPr>
          <p:cNvPr id="59" name="Text 57"/>
          <p:cNvSpPr/>
          <p:nvPr/>
        </p:nvSpPr>
        <p:spPr>
          <a:xfrm>
            <a:off x="4572000" y="3008376"/>
            <a:ext cx="1261872" cy="237744"/>
          </a:xfrm>
          <a:prstGeom prst="rect">
            <a:avLst/>
          </a:prstGeom>
          <a:noFill/>
          <a:ln/>
        </p:spPr>
        <p:txBody>
          <a:bodyPr wrap="square" rtlCol="0" anchor="ctr"/>
          <a:lstStyle/>
          <a:p>
            <a:pPr algn="ctr" indent="0" marL="0">
              <a:buNone/>
            </a:pPr>
            <a:r>
              <a:rPr lang="en-US" sz="1100" b="1" dirty="0">
                <a:solidFill>
                  <a:srgbClr val="FF4444"/>
                </a:solidFill>
                <a:latin typeface="Calibri" pitchFamily="34" charset="0"/>
                <a:ea typeface="Calibri" pitchFamily="34" charset="-122"/>
                <a:cs typeface="Calibri" pitchFamily="34" charset="-120"/>
              </a:rPr>
              <a:t>❌</a:t>
            </a:r>
            <a:endParaRPr lang="en-US" sz="1100" dirty="0"/>
          </a:p>
        </p:txBody>
      </p:sp>
      <p:sp>
        <p:nvSpPr>
          <p:cNvPr id="60" name="Shape 58"/>
          <p:cNvSpPr/>
          <p:nvPr/>
        </p:nvSpPr>
        <p:spPr>
          <a:xfrm>
            <a:off x="5943600" y="2962656"/>
            <a:ext cx="1325880" cy="329184"/>
          </a:xfrm>
          <a:prstGeom prst="rect">
            <a:avLst/>
          </a:prstGeom>
          <a:solidFill>
            <a:srgbClr val="1A1A1A"/>
          </a:solidFill>
          <a:ln w="12700">
            <a:solidFill>
              <a:srgbClr val="333333"/>
            </a:solidFill>
            <a:prstDash val="solid"/>
          </a:ln>
        </p:spPr>
      </p:sp>
      <p:sp>
        <p:nvSpPr>
          <p:cNvPr id="61" name="Text 59"/>
          <p:cNvSpPr/>
          <p:nvPr/>
        </p:nvSpPr>
        <p:spPr>
          <a:xfrm>
            <a:off x="5989320" y="3008376"/>
            <a:ext cx="1261872" cy="237744"/>
          </a:xfrm>
          <a:prstGeom prst="rect">
            <a:avLst/>
          </a:prstGeom>
          <a:noFill/>
          <a:ln/>
        </p:spPr>
        <p:txBody>
          <a:bodyPr wrap="square" rtlCol="0" anchor="ctr"/>
          <a:lstStyle/>
          <a:p>
            <a:pPr algn="ctr" indent="0" marL="0">
              <a:buNone/>
            </a:pPr>
            <a:r>
              <a:rPr lang="en-US" sz="1100" b="1" dirty="0">
                <a:solidFill>
                  <a:srgbClr val="FF4444"/>
                </a:solidFill>
                <a:latin typeface="Calibri" pitchFamily="34" charset="0"/>
                <a:ea typeface="Calibri" pitchFamily="34" charset="-122"/>
                <a:cs typeface="Calibri" pitchFamily="34" charset="-120"/>
              </a:rPr>
              <a:t>❌</a:t>
            </a:r>
            <a:endParaRPr lang="en-US" sz="1100" dirty="0"/>
          </a:p>
        </p:txBody>
      </p:sp>
      <p:sp>
        <p:nvSpPr>
          <p:cNvPr id="62" name="Shape 60"/>
          <p:cNvSpPr/>
          <p:nvPr/>
        </p:nvSpPr>
        <p:spPr>
          <a:xfrm>
            <a:off x="7360920" y="2962656"/>
            <a:ext cx="1325880" cy="329184"/>
          </a:xfrm>
          <a:prstGeom prst="rect">
            <a:avLst/>
          </a:prstGeom>
          <a:solidFill>
            <a:srgbClr val="1A1A1A"/>
          </a:solidFill>
          <a:ln w="12700">
            <a:solidFill>
              <a:srgbClr val="333333"/>
            </a:solidFill>
            <a:prstDash val="solid"/>
          </a:ln>
        </p:spPr>
      </p:sp>
      <p:sp>
        <p:nvSpPr>
          <p:cNvPr id="63" name="Text 61"/>
          <p:cNvSpPr/>
          <p:nvPr/>
        </p:nvSpPr>
        <p:spPr>
          <a:xfrm>
            <a:off x="7406640" y="3008376"/>
            <a:ext cx="1261872" cy="237744"/>
          </a:xfrm>
          <a:prstGeom prst="rect">
            <a:avLst/>
          </a:prstGeom>
          <a:noFill/>
          <a:ln/>
        </p:spPr>
        <p:txBody>
          <a:bodyPr wrap="square" rtlCol="0" anchor="ctr"/>
          <a:lstStyle/>
          <a:p>
            <a:pPr algn="ctr" indent="0" marL="0">
              <a:buNone/>
            </a:pPr>
            <a:r>
              <a:rPr lang="en-US" sz="1100" b="1" dirty="0">
                <a:solidFill>
                  <a:srgbClr val="FF4444"/>
                </a:solidFill>
                <a:latin typeface="Calibri" pitchFamily="34" charset="0"/>
                <a:ea typeface="Calibri" pitchFamily="34" charset="-122"/>
                <a:cs typeface="Calibri" pitchFamily="34" charset="-120"/>
              </a:rPr>
              <a:t>❌</a:t>
            </a:r>
            <a:endParaRPr lang="en-US" sz="1100" dirty="0"/>
          </a:p>
        </p:txBody>
      </p:sp>
      <p:sp>
        <p:nvSpPr>
          <p:cNvPr id="64" name="Shape 62"/>
          <p:cNvSpPr/>
          <p:nvPr/>
        </p:nvSpPr>
        <p:spPr>
          <a:xfrm>
            <a:off x="320040" y="3310128"/>
            <a:ext cx="2697480" cy="329184"/>
          </a:xfrm>
          <a:prstGeom prst="rect">
            <a:avLst/>
          </a:prstGeom>
          <a:solidFill>
            <a:srgbClr val="161616"/>
          </a:solidFill>
          <a:ln w="12700">
            <a:solidFill>
              <a:srgbClr val="333333"/>
            </a:solidFill>
            <a:prstDash val="solid"/>
          </a:ln>
        </p:spPr>
      </p:sp>
      <p:sp>
        <p:nvSpPr>
          <p:cNvPr id="65" name="Text 63"/>
          <p:cNvSpPr/>
          <p:nvPr/>
        </p:nvSpPr>
        <p:spPr>
          <a:xfrm>
            <a:off x="365760" y="3355848"/>
            <a:ext cx="2633472" cy="237744"/>
          </a:xfrm>
          <a:prstGeom prst="rect">
            <a:avLst/>
          </a:prstGeom>
          <a:noFill/>
          <a:ln/>
        </p:spPr>
        <p:txBody>
          <a:bodyPr wrap="square" rtlCol="0" anchor="ctr"/>
          <a:lstStyle/>
          <a:p>
            <a:pPr algn="l" indent="0" marL="0">
              <a:buNone/>
            </a:pPr>
            <a:r>
              <a:rPr lang="en-US" sz="900" dirty="0">
                <a:solidFill>
                  <a:srgbClr val="CCCCCC"/>
                </a:solidFill>
                <a:latin typeface="Calibri" pitchFamily="34" charset="0"/>
                <a:ea typeface="Calibri" pitchFamily="34" charset="-122"/>
                <a:cs typeface="Calibri" pitchFamily="34" charset="-120"/>
              </a:rPr>
              <a:t>Multi-outlet chain dashboard</a:t>
            </a:r>
            <a:endParaRPr lang="en-US" sz="900" dirty="0"/>
          </a:p>
        </p:txBody>
      </p:sp>
      <p:sp>
        <p:nvSpPr>
          <p:cNvPr id="66" name="Shape 64"/>
          <p:cNvSpPr/>
          <p:nvPr/>
        </p:nvSpPr>
        <p:spPr>
          <a:xfrm>
            <a:off x="3108960" y="3310128"/>
            <a:ext cx="1325880" cy="329184"/>
          </a:xfrm>
          <a:prstGeom prst="rect">
            <a:avLst/>
          </a:prstGeom>
          <a:solidFill>
            <a:srgbClr val="0A2A1E"/>
          </a:solidFill>
          <a:ln w="12700">
            <a:solidFill>
              <a:srgbClr val="333333"/>
            </a:solidFill>
            <a:prstDash val="solid"/>
          </a:ln>
        </p:spPr>
      </p:sp>
      <p:sp>
        <p:nvSpPr>
          <p:cNvPr id="67" name="Text 65"/>
          <p:cNvSpPr/>
          <p:nvPr/>
        </p:nvSpPr>
        <p:spPr>
          <a:xfrm>
            <a:off x="3154680" y="3355848"/>
            <a:ext cx="1261872" cy="237744"/>
          </a:xfrm>
          <a:prstGeom prst="rect">
            <a:avLst/>
          </a:prstGeom>
          <a:noFill/>
          <a:ln/>
        </p:spPr>
        <p:txBody>
          <a:bodyPr wrap="square" rtlCol="0" anchor="ctr"/>
          <a:lstStyle/>
          <a:p>
            <a:pPr algn="ctr" indent="0" marL="0">
              <a:buNone/>
            </a:pPr>
            <a:r>
              <a:rPr lang="en-US" sz="1100" b="1" dirty="0">
                <a:solidFill>
                  <a:srgbClr val="00B37D"/>
                </a:solidFill>
                <a:latin typeface="Calibri" pitchFamily="34" charset="0"/>
                <a:ea typeface="Calibri" pitchFamily="34" charset="-122"/>
                <a:cs typeface="Calibri" pitchFamily="34" charset="-120"/>
              </a:rPr>
              <a:t>✅</a:t>
            </a:r>
            <a:endParaRPr lang="en-US" sz="1100" dirty="0"/>
          </a:p>
        </p:txBody>
      </p:sp>
      <p:sp>
        <p:nvSpPr>
          <p:cNvPr id="68" name="Shape 66"/>
          <p:cNvSpPr/>
          <p:nvPr/>
        </p:nvSpPr>
        <p:spPr>
          <a:xfrm>
            <a:off x="4526280" y="3310128"/>
            <a:ext cx="1325880" cy="329184"/>
          </a:xfrm>
          <a:prstGeom prst="rect">
            <a:avLst/>
          </a:prstGeom>
          <a:solidFill>
            <a:srgbClr val="161616"/>
          </a:solidFill>
          <a:ln w="12700">
            <a:solidFill>
              <a:srgbClr val="333333"/>
            </a:solidFill>
            <a:prstDash val="solid"/>
          </a:ln>
        </p:spPr>
      </p:sp>
      <p:sp>
        <p:nvSpPr>
          <p:cNvPr id="69" name="Text 67"/>
          <p:cNvSpPr/>
          <p:nvPr/>
        </p:nvSpPr>
        <p:spPr>
          <a:xfrm>
            <a:off x="4572000" y="3355848"/>
            <a:ext cx="1261872" cy="237744"/>
          </a:xfrm>
          <a:prstGeom prst="rect">
            <a:avLst/>
          </a:prstGeom>
          <a:noFill/>
          <a:ln/>
        </p:spPr>
        <p:txBody>
          <a:bodyPr wrap="square" rtlCol="0" anchor="ctr"/>
          <a:lstStyle/>
          <a:p>
            <a:pPr algn="ctr" indent="0" marL="0">
              <a:buNone/>
            </a:pPr>
            <a:r>
              <a:rPr lang="en-US" sz="1100" b="1" dirty="0">
                <a:solidFill>
                  <a:srgbClr val="00B37D"/>
                </a:solidFill>
                <a:latin typeface="Calibri" pitchFamily="34" charset="0"/>
                <a:ea typeface="Calibri" pitchFamily="34" charset="-122"/>
                <a:cs typeface="Calibri" pitchFamily="34" charset="-120"/>
              </a:rPr>
              <a:t>✅</a:t>
            </a:r>
            <a:endParaRPr lang="en-US" sz="1100" dirty="0"/>
          </a:p>
        </p:txBody>
      </p:sp>
      <p:sp>
        <p:nvSpPr>
          <p:cNvPr id="70" name="Shape 68"/>
          <p:cNvSpPr/>
          <p:nvPr/>
        </p:nvSpPr>
        <p:spPr>
          <a:xfrm>
            <a:off x="5943600" y="3310128"/>
            <a:ext cx="1325880" cy="329184"/>
          </a:xfrm>
          <a:prstGeom prst="rect">
            <a:avLst/>
          </a:prstGeom>
          <a:solidFill>
            <a:srgbClr val="161616"/>
          </a:solidFill>
          <a:ln w="12700">
            <a:solidFill>
              <a:srgbClr val="333333"/>
            </a:solidFill>
            <a:prstDash val="solid"/>
          </a:ln>
        </p:spPr>
      </p:sp>
      <p:sp>
        <p:nvSpPr>
          <p:cNvPr id="71" name="Text 69"/>
          <p:cNvSpPr/>
          <p:nvPr/>
        </p:nvSpPr>
        <p:spPr>
          <a:xfrm>
            <a:off x="5989320" y="3355848"/>
            <a:ext cx="1261872" cy="237744"/>
          </a:xfrm>
          <a:prstGeom prst="rect">
            <a:avLst/>
          </a:prstGeom>
          <a:noFill/>
          <a:ln/>
        </p:spPr>
        <p:txBody>
          <a:bodyPr wrap="square" rtlCol="0" anchor="ctr"/>
          <a:lstStyle/>
          <a:p>
            <a:pPr algn="ctr" indent="0" marL="0">
              <a:buNone/>
            </a:pPr>
            <a:r>
              <a:rPr lang="en-US" sz="1100" b="1" dirty="0">
                <a:solidFill>
                  <a:srgbClr val="00B37D"/>
                </a:solidFill>
                <a:latin typeface="Calibri" pitchFamily="34" charset="0"/>
                <a:ea typeface="Calibri" pitchFamily="34" charset="-122"/>
                <a:cs typeface="Calibri" pitchFamily="34" charset="-120"/>
              </a:rPr>
              <a:t>✅</a:t>
            </a:r>
            <a:endParaRPr lang="en-US" sz="1100" dirty="0"/>
          </a:p>
        </p:txBody>
      </p:sp>
      <p:sp>
        <p:nvSpPr>
          <p:cNvPr id="72" name="Shape 70"/>
          <p:cNvSpPr/>
          <p:nvPr/>
        </p:nvSpPr>
        <p:spPr>
          <a:xfrm>
            <a:off x="7360920" y="3310128"/>
            <a:ext cx="1325880" cy="329184"/>
          </a:xfrm>
          <a:prstGeom prst="rect">
            <a:avLst/>
          </a:prstGeom>
          <a:solidFill>
            <a:srgbClr val="161616"/>
          </a:solidFill>
          <a:ln w="12700">
            <a:solidFill>
              <a:srgbClr val="333333"/>
            </a:solidFill>
            <a:prstDash val="solid"/>
          </a:ln>
        </p:spPr>
      </p:sp>
      <p:sp>
        <p:nvSpPr>
          <p:cNvPr id="73" name="Text 71"/>
          <p:cNvSpPr/>
          <p:nvPr/>
        </p:nvSpPr>
        <p:spPr>
          <a:xfrm>
            <a:off x="7406640" y="3355848"/>
            <a:ext cx="1261872" cy="237744"/>
          </a:xfrm>
          <a:prstGeom prst="rect">
            <a:avLst/>
          </a:prstGeom>
          <a:noFill/>
          <a:ln/>
        </p:spPr>
        <p:txBody>
          <a:bodyPr wrap="square" rtlCol="0" anchor="ctr"/>
          <a:lstStyle/>
          <a:p>
            <a:pPr algn="ctr" indent="0" marL="0">
              <a:buNone/>
            </a:pPr>
            <a:r>
              <a:rPr lang="en-US" sz="1100" b="1" dirty="0">
                <a:solidFill>
                  <a:srgbClr val="FF4444"/>
                </a:solidFill>
                <a:latin typeface="Calibri" pitchFamily="34" charset="0"/>
                <a:ea typeface="Calibri" pitchFamily="34" charset="-122"/>
                <a:cs typeface="Calibri" pitchFamily="34" charset="-120"/>
              </a:rPr>
              <a:t>❌</a:t>
            </a:r>
            <a:endParaRPr lang="en-US" sz="1100" dirty="0"/>
          </a:p>
        </p:txBody>
      </p:sp>
      <p:sp>
        <p:nvSpPr>
          <p:cNvPr id="74" name="Shape 72"/>
          <p:cNvSpPr/>
          <p:nvPr/>
        </p:nvSpPr>
        <p:spPr>
          <a:xfrm>
            <a:off x="320040" y="3657600"/>
            <a:ext cx="2697480" cy="329184"/>
          </a:xfrm>
          <a:prstGeom prst="rect">
            <a:avLst/>
          </a:prstGeom>
          <a:solidFill>
            <a:srgbClr val="1A1A1A"/>
          </a:solidFill>
          <a:ln w="12700">
            <a:solidFill>
              <a:srgbClr val="333333"/>
            </a:solidFill>
            <a:prstDash val="solid"/>
          </a:ln>
        </p:spPr>
      </p:sp>
      <p:sp>
        <p:nvSpPr>
          <p:cNvPr id="75" name="Text 73"/>
          <p:cNvSpPr/>
          <p:nvPr/>
        </p:nvSpPr>
        <p:spPr>
          <a:xfrm>
            <a:off x="365760" y="3703320"/>
            <a:ext cx="2633472" cy="237744"/>
          </a:xfrm>
          <a:prstGeom prst="rect">
            <a:avLst/>
          </a:prstGeom>
          <a:noFill/>
          <a:ln/>
        </p:spPr>
        <p:txBody>
          <a:bodyPr wrap="square" rtlCol="0" anchor="ctr"/>
          <a:lstStyle/>
          <a:p>
            <a:pPr algn="l" indent="0" marL="0">
              <a:buNone/>
            </a:pPr>
            <a:r>
              <a:rPr lang="en-US" sz="900" dirty="0">
                <a:solidFill>
                  <a:srgbClr val="CCCCCC"/>
                </a:solidFill>
                <a:latin typeface="Calibri" pitchFamily="34" charset="0"/>
                <a:ea typeface="Calibri" pitchFamily="34" charset="-122"/>
                <a:cs typeface="Calibri" pitchFamily="34" charset="-120"/>
              </a:rPr>
              <a:t>AI personalized upsell</a:t>
            </a:r>
            <a:endParaRPr lang="en-US" sz="900" dirty="0"/>
          </a:p>
        </p:txBody>
      </p:sp>
      <p:sp>
        <p:nvSpPr>
          <p:cNvPr id="76" name="Shape 74"/>
          <p:cNvSpPr/>
          <p:nvPr/>
        </p:nvSpPr>
        <p:spPr>
          <a:xfrm>
            <a:off x="3108960" y="3657600"/>
            <a:ext cx="1325880" cy="329184"/>
          </a:xfrm>
          <a:prstGeom prst="rect">
            <a:avLst/>
          </a:prstGeom>
          <a:solidFill>
            <a:srgbClr val="0A2A1E"/>
          </a:solidFill>
          <a:ln w="12700">
            <a:solidFill>
              <a:srgbClr val="333333"/>
            </a:solidFill>
            <a:prstDash val="solid"/>
          </a:ln>
        </p:spPr>
      </p:sp>
      <p:sp>
        <p:nvSpPr>
          <p:cNvPr id="77" name="Text 75"/>
          <p:cNvSpPr/>
          <p:nvPr/>
        </p:nvSpPr>
        <p:spPr>
          <a:xfrm>
            <a:off x="3154680" y="3703320"/>
            <a:ext cx="1261872" cy="237744"/>
          </a:xfrm>
          <a:prstGeom prst="rect">
            <a:avLst/>
          </a:prstGeom>
          <a:noFill/>
          <a:ln/>
        </p:spPr>
        <p:txBody>
          <a:bodyPr wrap="square" rtlCol="0" anchor="ctr"/>
          <a:lstStyle/>
          <a:p>
            <a:pPr algn="ctr" indent="0" marL="0">
              <a:buNone/>
            </a:pPr>
            <a:r>
              <a:rPr lang="en-US" sz="1100" b="1" dirty="0">
                <a:solidFill>
                  <a:srgbClr val="00B37D"/>
                </a:solidFill>
                <a:latin typeface="Calibri" pitchFamily="34" charset="0"/>
                <a:ea typeface="Calibri" pitchFamily="34" charset="-122"/>
                <a:cs typeface="Calibri" pitchFamily="34" charset="-120"/>
              </a:rPr>
              <a:t>✅</a:t>
            </a:r>
            <a:endParaRPr lang="en-US" sz="1100" dirty="0"/>
          </a:p>
        </p:txBody>
      </p:sp>
      <p:sp>
        <p:nvSpPr>
          <p:cNvPr id="78" name="Shape 76"/>
          <p:cNvSpPr/>
          <p:nvPr/>
        </p:nvSpPr>
        <p:spPr>
          <a:xfrm>
            <a:off x="4526280" y="3657600"/>
            <a:ext cx="1325880" cy="329184"/>
          </a:xfrm>
          <a:prstGeom prst="rect">
            <a:avLst/>
          </a:prstGeom>
          <a:solidFill>
            <a:srgbClr val="1A1A1A"/>
          </a:solidFill>
          <a:ln w="12700">
            <a:solidFill>
              <a:srgbClr val="333333"/>
            </a:solidFill>
            <a:prstDash val="solid"/>
          </a:ln>
        </p:spPr>
      </p:sp>
      <p:sp>
        <p:nvSpPr>
          <p:cNvPr id="79" name="Text 77"/>
          <p:cNvSpPr/>
          <p:nvPr/>
        </p:nvSpPr>
        <p:spPr>
          <a:xfrm>
            <a:off x="4572000" y="3703320"/>
            <a:ext cx="1261872" cy="237744"/>
          </a:xfrm>
          <a:prstGeom prst="rect">
            <a:avLst/>
          </a:prstGeom>
          <a:noFill/>
          <a:ln/>
        </p:spPr>
        <p:txBody>
          <a:bodyPr wrap="square" rtlCol="0" anchor="ctr"/>
          <a:lstStyle/>
          <a:p>
            <a:pPr algn="ctr" indent="0" marL="0">
              <a:buNone/>
            </a:pPr>
            <a:r>
              <a:rPr lang="en-US" sz="1100" b="1" dirty="0">
                <a:solidFill>
                  <a:srgbClr val="FF4444"/>
                </a:solidFill>
                <a:latin typeface="Calibri" pitchFamily="34" charset="0"/>
                <a:ea typeface="Calibri" pitchFamily="34" charset="-122"/>
                <a:cs typeface="Calibri" pitchFamily="34" charset="-120"/>
              </a:rPr>
              <a:t>❌</a:t>
            </a:r>
            <a:endParaRPr lang="en-US" sz="1100" dirty="0"/>
          </a:p>
        </p:txBody>
      </p:sp>
      <p:sp>
        <p:nvSpPr>
          <p:cNvPr id="80" name="Shape 78"/>
          <p:cNvSpPr/>
          <p:nvPr/>
        </p:nvSpPr>
        <p:spPr>
          <a:xfrm>
            <a:off x="5943600" y="3657600"/>
            <a:ext cx="1325880" cy="329184"/>
          </a:xfrm>
          <a:prstGeom prst="rect">
            <a:avLst/>
          </a:prstGeom>
          <a:solidFill>
            <a:srgbClr val="1A1A1A"/>
          </a:solidFill>
          <a:ln w="12700">
            <a:solidFill>
              <a:srgbClr val="333333"/>
            </a:solidFill>
            <a:prstDash val="solid"/>
          </a:ln>
        </p:spPr>
      </p:sp>
      <p:sp>
        <p:nvSpPr>
          <p:cNvPr id="81" name="Text 79"/>
          <p:cNvSpPr/>
          <p:nvPr/>
        </p:nvSpPr>
        <p:spPr>
          <a:xfrm>
            <a:off x="5989320" y="3703320"/>
            <a:ext cx="1261872" cy="237744"/>
          </a:xfrm>
          <a:prstGeom prst="rect">
            <a:avLst/>
          </a:prstGeom>
          <a:noFill/>
          <a:ln/>
        </p:spPr>
        <p:txBody>
          <a:bodyPr wrap="square" rtlCol="0" anchor="ctr"/>
          <a:lstStyle/>
          <a:p>
            <a:pPr algn="ctr" indent="0" marL="0">
              <a:buNone/>
            </a:pPr>
            <a:r>
              <a:rPr lang="en-US" sz="1100" b="1" dirty="0">
                <a:solidFill>
                  <a:srgbClr val="FF4444"/>
                </a:solidFill>
                <a:latin typeface="Calibri" pitchFamily="34" charset="0"/>
                <a:ea typeface="Calibri" pitchFamily="34" charset="-122"/>
                <a:cs typeface="Calibri" pitchFamily="34" charset="-120"/>
              </a:rPr>
              <a:t>❌</a:t>
            </a:r>
            <a:endParaRPr lang="en-US" sz="1100" dirty="0"/>
          </a:p>
        </p:txBody>
      </p:sp>
      <p:sp>
        <p:nvSpPr>
          <p:cNvPr id="82" name="Shape 80"/>
          <p:cNvSpPr/>
          <p:nvPr/>
        </p:nvSpPr>
        <p:spPr>
          <a:xfrm>
            <a:off x="7360920" y="3657600"/>
            <a:ext cx="1325880" cy="329184"/>
          </a:xfrm>
          <a:prstGeom prst="rect">
            <a:avLst/>
          </a:prstGeom>
          <a:solidFill>
            <a:srgbClr val="1A1A1A"/>
          </a:solidFill>
          <a:ln w="12700">
            <a:solidFill>
              <a:srgbClr val="333333"/>
            </a:solidFill>
            <a:prstDash val="solid"/>
          </a:ln>
        </p:spPr>
      </p:sp>
      <p:sp>
        <p:nvSpPr>
          <p:cNvPr id="83" name="Text 81"/>
          <p:cNvSpPr/>
          <p:nvPr/>
        </p:nvSpPr>
        <p:spPr>
          <a:xfrm>
            <a:off x="7406640" y="3703320"/>
            <a:ext cx="1261872" cy="237744"/>
          </a:xfrm>
          <a:prstGeom prst="rect">
            <a:avLst/>
          </a:prstGeom>
          <a:noFill/>
          <a:ln/>
        </p:spPr>
        <p:txBody>
          <a:bodyPr wrap="square" rtlCol="0" anchor="ctr"/>
          <a:lstStyle/>
          <a:p>
            <a:pPr algn="ctr" indent="0" marL="0">
              <a:buNone/>
            </a:pPr>
            <a:r>
              <a:rPr lang="en-US" sz="1100" b="1" dirty="0">
                <a:solidFill>
                  <a:srgbClr val="FF4444"/>
                </a:solidFill>
                <a:latin typeface="Calibri" pitchFamily="34" charset="0"/>
                <a:ea typeface="Calibri" pitchFamily="34" charset="-122"/>
                <a:cs typeface="Calibri" pitchFamily="34" charset="-120"/>
              </a:rPr>
              <a:t>❌</a:t>
            </a:r>
            <a:endParaRPr lang="en-US" sz="1100" dirty="0"/>
          </a:p>
        </p:txBody>
      </p:sp>
      <p:sp>
        <p:nvSpPr>
          <p:cNvPr id="84" name="Shape 82"/>
          <p:cNvSpPr/>
          <p:nvPr/>
        </p:nvSpPr>
        <p:spPr>
          <a:xfrm>
            <a:off x="320040" y="4005072"/>
            <a:ext cx="2697480" cy="329184"/>
          </a:xfrm>
          <a:prstGeom prst="rect">
            <a:avLst/>
          </a:prstGeom>
          <a:solidFill>
            <a:srgbClr val="161616"/>
          </a:solidFill>
          <a:ln w="12700">
            <a:solidFill>
              <a:srgbClr val="333333"/>
            </a:solidFill>
            <a:prstDash val="solid"/>
          </a:ln>
        </p:spPr>
      </p:sp>
      <p:sp>
        <p:nvSpPr>
          <p:cNvPr id="85" name="Text 83"/>
          <p:cNvSpPr/>
          <p:nvPr/>
        </p:nvSpPr>
        <p:spPr>
          <a:xfrm>
            <a:off x="365760" y="4050792"/>
            <a:ext cx="2633472" cy="237744"/>
          </a:xfrm>
          <a:prstGeom prst="rect">
            <a:avLst/>
          </a:prstGeom>
          <a:noFill/>
          <a:ln/>
        </p:spPr>
        <p:txBody>
          <a:bodyPr wrap="square" rtlCol="0" anchor="ctr"/>
          <a:lstStyle/>
          <a:p>
            <a:pPr algn="l" indent="0" marL="0">
              <a:buNone/>
            </a:pPr>
            <a:r>
              <a:rPr lang="en-US" sz="900" dirty="0">
                <a:solidFill>
                  <a:srgbClr val="CCCCCC"/>
                </a:solidFill>
                <a:latin typeface="Calibri" pitchFamily="34" charset="0"/>
                <a:ea typeface="Calibri" pitchFamily="34" charset="-122"/>
                <a:cs typeface="Calibri" pitchFamily="34" charset="-120"/>
              </a:rPr>
              <a:t>Setup time</a:t>
            </a:r>
            <a:endParaRPr lang="en-US" sz="900" dirty="0"/>
          </a:p>
        </p:txBody>
      </p:sp>
      <p:sp>
        <p:nvSpPr>
          <p:cNvPr id="86" name="Shape 84"/>
          <p:cNvSpPr/>
          <p:nvPr/>
        </p:nvSpPr>
        <p:spPr>
          <a:xfrm>
            <a:off x="3108960" y="4005072"/>
            <a:ext cx="1325880" cy="329184"/>
          </a:xfrm>
          <a:prstGeom prst="rect">
            <a:avLst/>
          </a:prstGeom>
          <a:solidFill>
            <a:srgbClr val="0A2A1E"/>
          </a:solidFill>
          <a:ln w="12700">
            <a:solidFill>
              <a:srgbClr val="333333"/>
            </a:solidFill>
            <a:prstDash val="solid"/>
          </a:ln>
        </p:spPr>
      </p:sp>
      <p:sp>
        <p:nvSpPr>
          <p:cNvPr id="87" name="Text 85"/>
          <p:cNvSpPr/>
          <p:nvPr/>
        </p:nvSpPr>
        <p:spPr>
          <a:xfrm>
            <a:off x="3154680" y="4050792"/>
            <a:ext cx="1261872" cy="237744"/>
          </a:xfrm>
          <a:prstGeom prst="rect">
            <a:avLst/>
          </a:prstGeom>
          <a:noFill/>
          <a:ln/>
        </p:spPr>
        <p:txBody>
          <a:bodyPr wrap="square" rtlCol="0" anchor="ctr"/>
          <a:lstStyle/>
          <a:p>
            <a:pPr algn="ctr" indent="0" marL="0">
              <a:buNone/>
            </a:pPr>
            <a:r>
              <a:rPr lang="en-US" sz="1100" dirty="0">
                <a:solidFill>
                  <a:srgbClr val="00D696"/>
                </a:solidFill>
                <a:latin typeface="Calibri" pitchFamily="34" charset="0"/>
                <a:ea typeface="Calibri" pitchFamily="34" charset="-122"/>
                <a:cs typeface="Calibri" pitchFamily="34" charset="-120"/>
              </a:rPr>
              <a:t>15 min</a:t>
            </a:r>
            <a:endParaRPr lang="en-US" sz="1100" dirty="0"/>
          </a:p>
        </p:txBody>
      </p:sp>
      <p:sp>
        <p:nvSpPr>
          <p:cNvPr id="88" name="Shape 86"/>
          <p:cNvSpPr/>
          <p:nvPr/>
        </p:nvSpPr>
        <p:spPr>
          <a:xfrm>
            <a:off x="4526280" y="4005072"/>
            <a:ext cx="1325880" cy="329184"/>
          </a:xfrm>
          <a:prstGeom prst="rect">
            <a:avLst/>
          </a:prstGeom>
          <a:solidFill>
            <a:srgbClr val="161616"/>
          </a:solidFill>
          <a:ln w="12700">
            <a:solidFill>
              <a:srgbClr val="333333"/>
            </a:solidFill>
            <a:prstDash val="solid"/>
          </a:ln>
        </p:spPr>
      </p:sp>
      <p:sp>
        <p:nvSpPr>
          <p:cNvPr id="89" name="Text 87"/>
          <p:cNvSpPr/>
          <p:nvPr/>
        </p:nvSpPr>
        <p:spPr>
          <a:xfrm>
            <a:off x="4572000" y="4050792"/>
            <a:ext cx="1261872" cy="237744"/>
          </a:xfrm>
          <a:prstGeom prst="rect">
            <a:avLst/>
          </a:prstGeom>
          <a:noFill/>
          <a:ln/>
        </p:spPr>
        <p:txBody>
          <a:bodyPr wrap="square" rtlCol="0" anchor="ctr"/>
          <a:lstStyle/>
          <a:p>
            <a:pPr algn="ctr" indent="0" marL="0">
              <a:buNone/>
            </a:pPr>
            <a:r>
              <a:rPr lang="en-US" sz="1100" dirty="0">
                <a:solidFill>
                  <a:srgbClr val="CCCCCC"/>
                </a:solidFill>
                <a:latin typeface="Calibri" pitchFamily="34" charset="0"/>
                <a:ea typeface="Calibri" pitchFamily="34" charset="-122"/>
                <a:cs typeface="Calibri" pitchFamily="34" charset="-120"/>
              </a:rPr>
              <a:t>3 days</a:t>
            </a:r>
            <a:endParaRPr lang="en-US" sz="1100" dirty="0"/>
          </a:p>
        </p:txBody>
      </p:sp>
      <p:sp>
        <p:nvSpPr>
          <p:cNvPr id="90" name="Shape 88"/>
          <p:cNvSpPr/>
          <p:nvPr/>
        </p:nvSpPr>
        <p:spPr>
          <a:xfrm>
            <a:off x="5943600" y="4005072"/>
            <a:ext cx="1325880" cy="329184"/>
          </a:xfrm>
          <a:prstGeom prst="rect">
            <a:avLst/>
          </a:prstGeom>
          <a:solidFill>
            <a:srgbClr val="161616"/>
          </a:solidFill>
          <a:ln w="12700">
            <a:solidFill>
              <a:srgbClr val="333333"/>
            </a:solidFill>
            <a:prstDash val="solid"/>
          </a:ln>
        </p:spPr>
      </p:sp>
      <p:sp>
        <p:nvSpPr>
          <p:cNvPr id="91" name="Text 89"/>
          <p:cNvSpPr/>
          <p:nvPr/>
        </p:nvSpPr>
        <p:spPr>
          <a:xfrm>
            <a:off x="5989320" y="4050792"/>
            <a:ext cx="1261872" cy="237744"/>
          </a:xfrm>
          <a:prstGeom prst="rect">
            <a:avLst/>
          </a:prstGeom>
          <a:noFill/>
          <a:ln/>
        </p:spPr>
        <p:txBody>
          <a:bodyPr wrap="square" rtlCol="0" anchor="ctr"/>
          <a:lstStyle/>
          <a:p>
            <a:pPr algn="ctr" indent="0" marL="0">
              <a:buNone/>
            </a:pPr>
            <a:r>
              <a:rPr lang="en-US" sz="1100" dirty="0">
                <a:solidFill>
                  <a:srgbClr val="CCCCCC"/>
                </a:solidFill>
                <a:latin typeface="Calibri" pitchFamily="34" charset="0"/>
                <a:ea typeface="Calibri" pitchFamily="34" charset="-122"/>
                <a:cs typeface="Calibri" pitchFamily="34" charset="-120"/>
              </a:rPr>
              <a:t>1 week</a:t>
            </a:r>
            <a:endParaRPr lang="en-US" sz="1100" dirty="0"/>
          </a:p>
        </p:txBody>
      </p:sp>
      <p:sp>
        <p:nvSpPr>
          <p:cNvPr id="92" name="Shape 90"/>
          <p:cNvSpPr/>
          <p:nvPr/>
        </p:nvSpPr>
        <p:spPr>
          <a:xfrm>
            <a:off x="7360920" y="4005072"/>
            <a:ext cx="1325880" cy="329184"/>
          </a:xfrm>
          <a:prstGeom prst="rect">
            <a:avLst/>
          </a:prstGeom>
          <a:solidFill>
            <a:srgbClr val="161616"/>
          </a:solidFill>
          <a:ln w="12700">
            <a:solidFill>
              <a:srgbClr val="333333"/>
            </a:solidFill>
            <a:prstDash val="solid"/>
          </a:ln>
        </p:spPr>
      </p:sp>
      <p:sp>
        <p:nvSpPr>
          <p:cNvPr id="93" name="Text 91"/>
          <p:cNvSpPr/>
          <p:nvPr/>
        </p:nvSpPr>
        <p:spPr>
          <a:xfrm>
            <a:off x="7406640" y="4050792"/>
            <a:ext cx="1261872" cy="237744"/>
          </a:xfrm>
          <a:prstGeom prst="rect">
            <a:avLst/>
          </a:prstGeom>
          <a:noFill/>
          <a:ln/>
        </p:spPr>
        <p:txBody>
          <a:bodyPr wrap="square" rtlCol="0" anchor="ctr"/>
          <a:lstStyle/>
          <a:p>
            <a:pPr algn="ctr" indent="0" marL="0">
              <a:buNone/>
            </a:pPr>
            <a:r>
              <a:rPr lang="en-US" sz="1100" dirty="0">
                <a:solidFill>
                  <a:srgbClr val="CCCCCC"/>
                </a:solidFill>
                <a:latin typeface="Calibri" pitchFamily="34" charset="0"/>
                <a:ea typeface="Calibri" pitchFamily="34" charset="-122"/>
                <a:cs typeface="Calibri" pitchFamily="34" charset="-120"/>
              </a:rPr>
              <a:t>Never</a:t>
            </a:r>
            <a:endParaRPr lang="en-US" sz="1100" dirty="0"/>
          </a:p>
        </p:txBody>
      </p:sp>
      <p:sp>
        <p:nvSpPr>
          <p:cNvPr id="94" name="Shape 92"/>
          <p:cNvSpPr/>
          <p:nvPr/>
        </p:nvSpPr>
        <p:spPr>
          <a:xfrm>
            <a:off x="320040" y="4352544"/>
            <a:ext cx="2697480" cy="329184"/>
          </a:xfrm>
          <a:prstGeom prst="rect">
            <a:avLst/>
          </a:prstGeom>
          <a:solidFill>
            <a:srgbClr val="1A1A1A"/>
          </a:solidFill>
          <a:ln w="12700">
            <a:solidFill>
              <a:srgbClr val="333333"/>
            </a:solidFill>
            <a:prstDash val="solid"/>
          </a:ln>
        </p:spPr>
      </p:sp>
      <p:sp>
        <p:nvSpPr>
          <p:cNvPr id="95" name="Text 93"/>
          <p:cNvSpPr/>
          <p:nvPr/>
        </p:nvSpPr>
        <p:spPr>
          <a:xfrm>
            <a:off x="365760" y="4398264"/>
            <a:ext cx="2633472" cy="237744"/>
          </a:xfrm>
          <a:prstGeom prst="rect">
            <a:avLst/>
          </a:prstGeom>
          <a:noFill/>
          <a:ln/>
        </p:spPr>
        <p:txBody>
          <a:bodyPr wrap="square" rtlCol="0" anchor="ctr"/>
          <a:lstStyle/>
          <a:p>
            <a:pPr algn="l" indent="0" marL="0">
              <a:buNone/>
            </a:pPr>
            <a:r>
              <a:rPr lang="en-US" sz="900" dirty="0">
                <a:solidFill>
                  <a:srgbClr val="CCCCCC"/>
                </a:solidFill>
                <a:latin typeface="Calibri" pitchFamily="34" charset="0"/>
                <a:ea typeface="Calibri" pitchFamily="34" charset="-122"/>
                <a:cs typeface="Calibri" pitchFamily="34" charset="-120"/>
              </a:rPr>
              <a:t>Starting price (India)</a:t>
            </a:r>
            <a:endParaRPr lang="en-US" sz="900" dirty="0"/>
          </a:p>
        </p:txBody>
      </p:sp>
      <p:sp>
        <p:nvSpPr>
          <p:cNvPr id="96" name="Shape 94"/>
          <p:cNvSpPr/>
          <p:nvPr/>
        </p:nvSpPr>
        <p:spPr>
          <a:xfrm>
            <a:off x="3108960" y="4352544"/>
            <a:ext cx="1325880" cy="329184"/>
          </a:xfrm>
          <a:prstGeom prst="rect">
            <a:avLst/>
          </a:prstGeom>
          <a:solidFill>
            <a:srgbClr val="0A2A1E"/>
          </a:solidFill>
          <a:ln w="12700">
            <a:solidFill>
              <a:srgbClr val="333333"/>
            </a:solidFill>
            <a:prstDash val="solid"/>
          </a:ln>
        </p:spPr>
      </p:sp>
      <p:sp>
        <p:nvSpPr>
          <p:cNvPr id="97" name="Text 95"/>
          <p:cNvSpPr/>
          <p:nvPr/>
        </p:nvSpPr>
        <p:spPr>
          <a:xfrm>
            <a:off x="3154680" y="4398264"/>
            <a:ext cx="1261872" cy="237744"/>
          </a:xfrm>
          <a:prstGeom prst="rect">
            <a:avLst/>
          </a:prstGeom>
          <a:noFill/>
          <a:ln/>
        </p:spPr>
        <p:txBody>
          <a:bodyPr wrap="square" rtlCol="0" anchor="ctr"/>
          <a:lstStyle/>
          <a:p>
            <a:pPr algn="ctr" indent="0" marL="0">
              <a:buNone/>
            </a:pPr>
            <a:r>
              <a:rPr lang="en-US" sz="1100" dirty="0">
                <a:solidFill>
                  <a:srgbClr val="00D696"/>
                </a:solidFill>
                <a:latin typeface="Calibri" pitchFamily="34" charset="0"/>
                <a:ea typeface="Calibri" pitchFamily="34" charset="-122"/>
                <a:cs typeface="Calibri" pitchFamily="34" charset="-120"/>
              </a:rPr>
              <a:t>Rs.499/mo</a:t>
            </a:r>
            <a:endParaRPr lang="en-US" sz="1100" dirty="0"/>
          </a:p>
        </p:txBody>
      </p:sp>
      <p:sp>
        <p:nvSpPr>
          <p:cNvPr id="98" name="Shape 96"/>
          <p:cNvSpPr/>
          <p:nvPr/>
        </p:nvSpPr>
        <p:spPr>
          <a:xfrm>
            <a:off x="4526280" y="4352544"/>
            <a:ext cx="1325880" cy="329184"/>
          </a:xfrm>
          <a:prstGeom prst="rect">
            <a:avLst/>
          </a:prstGeom>
          <a:solidFill>
            <a:srgbClr val="1A1A1A"/>
          </a:solidFill>
          <a:ln w="12700">
            <a:solidFill>
              <a:srgbClr val="333333"/>
            </a:solidFill>
            <a:prstDash val="solid"/>
          </a:ln>
        </p:spPr>
      </p:sp>
      <p:sp>
        <p:nvSpPr>
          <p:cNvPr id="99" name="Text 97"/>
          <p:cNvSpPr/>
          <p:nvPr/>
        </p:nvSpPr>
        <p:spPr>
          <a:xfrm>
            <a:off x="4572000" y="4398264"/>
            <a:ext cx="1261872" cy="237744"/>
          </a:xfrm>
          <a:prstGeom prst="rect">
            <a:avLst/>
          </a:prstGeom>
          <a:noFill/>
          <a:ln/>
        </p:spPr>
        <p:txBody>
          <a:bodyPr wrap="square" rtlCol="0" anchor="ctr"/>
          <a:lstStyle/>
          <a:p>
            <a:pPr algn="ctr" indent="0" marL="0">
              <a:buNone/>
            </a:pPr>
            <a:r>
              <a:rPr lang="en-US" sz="1100" dirty="0">
                <a:solidFill>
                  <a:srgbClr val="CCCCCC"/>
                </a:solidFill>
                <a:latin typeface="Calibri" pitchFamily="34" charset="0"/>
                <a:ea typeface="Calibri" pitchFamily="34" charset="-122"/>
                <a:cs typeface="Calibri" pitchFamily="34" charset="-120"/>
              </a:rPr>
              <a:t>Rs.1,499/mo</a:t>
            </a:r>
            <a:endParaRPr lang="en-US" sz="1100" dirty="0"/>
          </a:p>
        </p:txBody>
      </p:sp>
      <p:sp>
        <p:nvSpPr>
          <p:cNvPr id="100" name="Shape 98"/>
          <p:cNvSpPr/>
          <p:nvPr/>
        </p:nvSpPr>
        <p:spPr>
          <a:xfrm>
            <a:off x="5943600" y="4352544"/>
            <a:ext cx="1325880" cy="329184"/>
          </a:xfrm>
          <a:prstGeom prst="rect">
            <a:avLst/>
          </a:prstGeom>
          <a:solidFill>
            <a:srgbClr val="1A1A1A"/>
          </a:solidFill>
          <a:ln w="12700">
            <a:solidFill>
              <a:srgbClr val="333333"/>
            </a:solidFill>
            <a:prstDash val="solid"/>
          </a:ln>
        </p:spPr>
      </p:sp>
      <p:sp>
        <p:nvSpPr>
          <p:cNvPr id="101" name="Text 99"/>
          <p:cNvSpPr/>
          <p:nvPr/>
        </p:nvSpPr>
        <p:spPr>
          <a:xfrm>
            <a:off x="5989320" y="4398264"/>
            <a:ext cx="1261872" cy="237744"/>
          </a:xfrm>
          <a:prstGeom prst="rect">
            <a:avLst/>
          </a:prstGeom>
          <a:noFill/>
          <a:ln/>
        </p:spPr>
        <p:txBody>
          <a:bodyPr wrap="square" rtlCol="0" anchor="ctr"/>
          <a:lstStyle/>
          <a:p>
            <a:pPr algn="ctr" indent="0" marL="0">
              <a:buNone/>
            </a:pPr>
            <a:r>
              <a:rPr lang="en-US" sz="1100" dirty="0">
                <a:solidFill>
                  <a:srgbClr val="CCCCCC"/>
                </a:solidFill>
                <a:latin typeface="Calibri" pitchFamily="34" charset="0"/>
                <a:ea typeface="Calibri" pitchFamily="34" charset="-122"/>
                <a:cs typeface="Calibri" pitchFamily="34" charset="-120"/>
              </a:rPr>
              <a:t>Rs.1,200/mo</a:t>
            </a:r>
            <a:endParaRPr lang="en-US" sz="1100" dirty="0"/>
          </a:p>
        </p:txBody>
      </p:sp>
      <p:sp>
        <p:nvSpPr>
          <p:cNvPr id="102" name="Shape 100"/>
          <p:cNvSpPr/>
          <p:nvPr/>
        </p:nvSpPr>
        <p:spPr>
          <a:xfrm>
            <a:off x="7360920" y="4352544"/>
            <a:ext cx="1325880" cy="329184"/>
          </a:xfrm>
          <a:prstGeom prst="rect">
            <a:avLst/>
          </a:prstGeom>
          <a:solidFill>
            <a:srgbClr val="1A1A1A"/>
          </a:solidFill>
          <a:ln w="12700">
            <a:solidFill>
              <a:srgbClr val="333333"/>
            </a:solidFill>
            <a:prstDash val="solid"/>
          </a:ln>
        </p:spPr>
      </p:sp>
      <p:sp>
        <p:nvSpPr>
          <p:cNvPr id="103" name="Text 101"/>
          <p:cNvSpPr/>
          <p:nvPr/>
        </p:nvSpPr>
        <p:spPr>
          <a:xfrm>
            <a:off x="7406640" y="4398264"/>
            <a:ext cx="1261872" cy="237744"/>
          </a:xfrm>
          <a:prstGeom prst="rect">
            <a:avLst/>
          </a:prstGeom>
          <a:noFill/>
          <a:ln/>
        </p:spPr>
        <p:txBody>
          <a:bodyPr wrap="square" rtlCol="0" anchor="ctr"/>
          <a:lstStyle/>
          <a:p>
            <a:pPr algn="ctr" indent="0" marL="0">
              <a:buNone/>
            </a:pPr>
            <a:r>
              <a:rPr lang="en-US" sz="1100" dirty="0">
                <a:solidFill>
                  <a:srgbClr val="CCCCCC"/>
                </a:solidFill>
                <a:latin typeface="Calibri" pitchFamily="34" charset="0"/>
                <a:ea typeface="Calibri" pitchFamily="34" charset="-122"/>
                <a:cs typeface="Calibri" pitchFamily="34" charset="-120"/>
              </a:rPr>
              <a:t>Rs.0</a:t>
            </a:r>
            <a:endParaRPr lang="en-US" sz="1100" dirty="0"/>
          </a:p>
        </p:txBody>
      </p:sp>
      <p:sp>
        <p:nvSpPr>
          <p:cNvPr id="104" name="Text 102"/>
          <p:cNvSpPr/>
          <p:nvPr/>
        </p:nvSpPr>
        <p:spPr>
          <a:xfrm>
            <a:off x="365760" y="4846320"/>
            <a:ext cx="6400800" cy="182880"/>
          </a:xfrm>
          <a:prstGeom prst="rect">
            <a:avLst/>
          </a:prstGeom>
          <a:noFill/>
          <a:ln/>
        </p:spPr>
        <p:txBody>
          <a:bodyPr wrap="square" rtlCol="0" anchor="ctr"/>
          <a:lstStyle/>
          <a:p>
            <a:pPr algn="l" indent="0" marL="0">
              <a:buNone/>
            </a:pPr>
            <a:r>
              <a:rPr lang="en-US" sz="800" dirty="0">
                <a:solidFill>
                  <a:srgbClr val="888888"/>
                </a:solidFill>
                <a:latin typeface="Calibri" pitchFamily="34" charset="0"/>
                <a:ea typeface="Calibri" pitchFamily="34" charset="-122"/>
                <a:cs typeface="Calibri" pitchFamily="34" charset="-120"/>
              </a:rPr>
              <a:t>aviqr.com  ·  Confidential  ·  June 2026</a:t>
            </a:r>
            <a:endParaRPr lang="en-US" sz="800" dirty="0"/>
          </a:p>
        </p:txBody>
      </p:sp>
      <p:sp>
        <p:nvSpPr>
          <p:cNvPr id="105" name="Text 103"/>
          <p:cNvSpPr/>
          <p:nvPr/>
        </p:nvSpPr>
        <p:spPr>
          <a:xfrm>
            <a:off x="7772400" y="4846320"/>
            <a:ext cx="914400" cy="18288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8 / 18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00B37D"/>
          </a:solidFill>
          <a:ln w="12700">
            <a:solidFill>
              <a:srgbClr val="00B37D"/>
            </a:solidFill>
            <a:prstDash val="solid"/>
          </a:ln>
        </p:spPr>
      </p:sp>
      <p:sp>
        <p:nvSpPr>
          <p:cNvPr id="3" name="Text 1"/>
          <p:cNvSpPr/>
          <p:nvPr/>
        </p:nvSpPr>
        <p:spPr>
          <a:xfrm>
            <a:off x="365760" y="91440"/>
            <a:ext cx="8229600" cy="365760"/>
          </a:xfrm>
          <a:prstGeom prst="rect">
            <a:avLst/>
          </a:prstGeom>
          <a:noFill/>
          <a:ln/>
        </p:spPr>
        <p:txBody>
          <a:bodyPr wrap="square" rtlCol="0" anchor="ctr"/>
          <a:lstStyle/>
          <a:p>
            <a:pPr indent="0" marL="0">
              <a:buNone/>
            </a:pPr>
            <a:r>
              <a:rPr lang="en-US" sz="1100" b="1" spc="300" kern="0" dirty="0">
                <a:solidFill>
                  <a:srgbClr val="111111"/>
                </a:solidFill>
                <a:latin typeface="Calibri" pitchFamily="34" charset="0"/>
                <a:ea typeface="Calibri" pitchFamily="34" charset="-122"/>
                <a:cs typeface="Calibri" pitchFamily="34" charset="-120"/>
              </a:rPr>
              <a:t>🎉  AVIQR LAUNCH OFFER</a:t>
            </a:r>
            <a:endParaRPr lang="en-US" sz="1100" dirty="0"/>
          </a:p>
        </p:txBody>
      </p:sp>
      <p:sp>
        <p:nvSpPr>
          <p:cNvPr id="4" name="Text 2"/>
          <p:cNvSpPr/>
          <p:nvPr/>
        </p:nvSpPr>
        <p:spPr>
          <a:xfrm>
            <a:off x="365760" y="457200"/>
            <a:ext cx="8229600" cy="320040"/>
          </a:xfrm>
          <a:prstGeom prst="rect">
            <a:avLst/>
          </a:prstGeom>
          <a:noFill/>
          <a:ln/>
        </p:spPr>
        <p:txBody>
          <a:bodyPr wrap="square" rtlCol="0" anchor="ctr"/>
          <a:lstStyle/>
          <a:p>
            <a:pPr indent="0" marL="0">
              <a:buNone/>
            </a:pPr>
            <a:r>
              <a:rPr lang="en-US" sz="1800" b="1" dirty="0">
                <a:solidFill>
                  <a:srgbClr val="111111"/>
                </a:solidFill>
                <a:latin typeface="Calibri" pitchFamily="34" charset="0"/>
                <a:ea typeface="Calibri" pitchFamily="34" charset="-122"/>
                <a:cs typeface="Calibri" pitchFamily="34" charset="-120"/>
              </a:rPr>
              <a:t>Limited to first 500 restaurants in India</a:t>
            </a:r>
            <a:endParaRPr lang="en-US" sz="1800" dirty="0"/>
          </a:p>
        </p:txBody>
      </p:sp>
      <p:sp>
        <p:nvSpPr>
          <p:cNvPr id="5" name="Text 3"/>
          <p:cNvSpPr/>
          <p:nvPr/>
        </p:nvSpPr>
        <p:spPr>
          <a:xfrm>
            <a:off x="365760" y="804672"/>
            <a:ext cx="8229600" cy="256032"/>
          </a:xfrm>
          <a:prstGeom prst="rect">
            <a:avLst/>
          </a:prstGeom>
          <a:noFill/>
          <a:ln/>
        </p:spPr>
        <p:txBody>
          <a:bodyPr wrap="square" rtlCol="0" anchor="ctr"/>
          <a:lstStyle/>
          <a:p>
            <a:pPr indent="0" marL="0">
              <a:buNone/>
            </a:pPr>
            <a:r>
              <a:rPr lang="en-US" sz="1000" dirty="0">
                <a:solidFill>
                  <a:srgbClr val="333333"/>
                </a:solidFill>
                <a:latin typeface="Calibri" pitchFamily="34" charset="0"/>
                <a:ea typeface="Calibri" pitchFamily="34" charset="-122"/>
                <a:cs typeface="Calibri" pitchFamily="34" charset="-120"/>
              </a:rPr>
              <a:t>No credit card required  ·  No automatic billing  ·  Cancel anytime</a:t>
            </a:r>
            <a:endParaRPr lang="en-US" sz="1000" dirty="0"/>
          </a:p>
        </p:txBody>
      </p:sp>
      <p:sp>
        <p:nvSpPr>
          <p:cNvPr id="6" name="Shape 4"/>
          <p:cNvSpPr/>
          <p:nvPr/>
        </p:nvSpPr>
        <p:spPr>
          <a:xfrm>
            <a:off x="320040" y="1280160"/>
            <a:ext cx="3657600" cy="1371600"/>
          </a:xfrm>
          <a:prstGeom prst="roundRect">
            <a:avLst>
              <a:gd name="adj" fmla="val 8000"/>
            </a:avLst>
          </a:prstGeom>
          <a:solidFill>
            <a:srgbClr val="1A1A1A"/>
          </a:solidFill>
          <a:ln w="25400">
            <a:solidFill>
              <a:srgbClr val="00B37D"/>
            </a:solidFill>
            <a:prstDash val="solid"/>
          </a:ln>
        </p:spPr>
      </p:sp>
      <p:sp>
        <p:nvSpPr>
          <p:cNvPr id="7" name="Text 5"/>
          <p:cNvSpPr/>
          <p:nvPr/>
        </p:nvSpPr>
        <p:spPr>
          <a:xfrm>
            <a:off x="320040" y="1371600"/>
            <a:ext cx="3657600" cy="731520"/>
          </a:xfrm>
          <a:prstGeom prst="rect">
            <a:avLst/>
          </a:prstGeom>
          <a:noFill/>
          <a:ln/>
        </p:spPr>
        <p:txBody>
          <a:bodyPr wrap="square" rtlCol="0" anchor="ctr"/>
          <a:lstStyle/>
          <a:p>
            <a:pPr algn="ctr" indent="0" marL="0">
              <a:buNone/>
            </a:pPr>
            <a:r>
              <a:rPr lang="en-US" sz="5200" b="1" dirty="0">
                <a:solidFill>
                  <a:srgbClr val="00B37D"/>
                </a:solidFill>
                <a:latin typeface="Calibri" pitchFamily="34" charset="0"/>
                <a:ea typeface="Calibri" pitchFamily="34" charset="-122"/>
                <a:cs typeface="Calibri" pitchFamily="34" charset="-120"/>
              </a:rPr>
              <a:t>FREE</a:t>
            </a:r>
            <a:endParaRPr lang="en-US" sz="5200" dirty="0"/>
          </a:p>
        </p:txBody>
      </p:sp>
      <p:sp>
        <p:nvSpPr>
          <p:cNvPr id="8" name="Text 6"/>
          <p:cNvSpPr/>
          <p:nvPr/>
        </p:nvSpPr>
        <p:spPr>
          <a:xfrm>
            <a:off x="320040" y="2057400"/>
            <a:ext cx="3657600" cy="36576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for 90 days</a:t>
            </a:r>
            <a:endParaRPr lang="en-US" sz="1600" dirty="0"/>
          </a:p>
        </p:txBody>
      </p:sp>
      <p:sp>
        <p:nvSpPr>
          <p:cNvPr id="9" name="Text 7"/>
          <p:cNvSpPr/>
          <p:nvPr/>
        </p:nvSpPr>
        <p:spPr>
          <a:xfrm>
            <a:off x="320040" y="2514600"/>
            <a:ext cx="3657600" cy="256032"/>
          </a:xfrm>
          <a:prstGeom prst="rect">
            <a:avLst/>
          </a:prstGeom>
          <a:noFill/>
          <a:ln/>
        </p:spPr>
        <p:txBody>
          <a:bodyPr wrap="square" rtlCol="0" anchor="ctr"/>
          <a:lstStyle/>
          <a:p>
            <a:pPr algn="ctr" indent="0" marL="0">
              <a:buNone/>
            </a:pPr>
            <a:r>
              <a:rPr lang="en-US" sz="900" dirty="0">
                <a:solidFill>
                  <a:srgbClr val="888888"/>
                </a:solidFill>
                <a:latin typeface="Calibri" pitchFamily="34" charset="0"/>
                <a:ea typeface="Calibri" pitchFamily="34" charset="-122"/>
                <a:cs typeface="Calibri" pitchFamily="34" charset="-120"/>
              </a:rPr>
              <a:t>then Rs.499/mo for 6 months  ·  then Rs.999/mo standard</a:t>
            </a:r>
            <a:endParaRPr lang="en-US" sz="900" dirty="0"/>
          </a:p>
        </p:txBody>
      </p:sp>
      <p:sp>
        <p:nvSpPr>
          <p:cNvPr id="10" name="Shape 8"/>
          <p:cNvSpPr/>
          <p:nvPr/>
        </p:nvSpPr>
        <p:spPr>
          <a:xfrm>
            <a:off x="4160520" y="1280160"/>
            <a:ext cx="2331720" cy="1261872"/>
          </a:xfrm>
          <a:prstGeom prst="roundRect">
            <a:avLst>
              <a:gd name="adj" fmla="val 5797"/>
            </a:avLst>
          </a:prstGeom>
          <a:solidFill>
            <a:srgbClr val="222222"/>
          </a:solidFill>
          <a:ln w="12700">
            <a:solidFill>
              <a:srgbClr val="333333"/>
            </a:solidFill>
            <a:prstDash val="solid"/>
          </a:ln>
        </p:spPr>
      </p:sp>
      <p:sp>
        <p:nvSpPr>
          <p:cNvPr id="11" name="Text 9"/>
          <p:cNvSpPr/>
          <p:nvPr/>
        </p:nvSpPr>
        <p:spPr>
          <a:xfrm>
            <a:off x="4251960" y="1371600"/>
            <a:ext cx="365760" cy="320040"/>
          </a:xfrm>
          <a:prstGeom prst="rect">
            <a:avLst/>
          </a:prstGeom>
          <a:noFill/>
          <a:ln/>
        </p:spPr>
        <p:txBody>
          <a:bodyPr wrap="square" rtlCol="0" anchor="ctr"/>
          <a:lstStyle/>
          <a:p>
            <a:pPr indent="0" marL="0">
              <a:buNone/>
            </a:pPr>
            <a:r>
              <a:rPr lang="en-US" sz="1400" dirty="0">
                <a:solidFill>
                  <a:srgbClr val="000000"/>
                </a:solidFill>
              </a:rPr>
              <a:t>📷</a:t>
            </a:r>
            <a:endParaRPr lang="en-US" sz="1400" dirty="0"/>
          </a:p>
        </p:txBody>
      </p:sp>
      <p:sp>
        <p:nvSpPr>
          <p:cNvPr id="12" name="Text 10"/>
          <p:cNvSpPr/>
          <p:nvPr/>
        </p:nvSpPr>
        <p:spPr>
          <a:xfrm>
            <a:off x="4617720" y="1389888"/>
            <a:ext cx="1783080" cy="292608"/>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Free AI Menu OCR</a:t>
            </a:r>
            <a:endParaRPr lang="en-US" sz="1000" dirty="0"/>
          </a:p>
        </p:txBody>
      </p:sp>
      <p:sp>
        <p:nvSpPr>
          <p:cNvPr id="13" name="Text 11"/>
          <p:cNvSpPr/>
          <p:nvPr/>
        </p:nvSpPr>
        <p:spPr>
          <a:xfrm>
            <a:off x="4251960" y="1755648"/>
            <a:ext cx="2148840" cy="68580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We turn your paper/PDF menu into digital in 15 min. You don't type anything.</a:t>
            </a:r>
            <a:endParaRPr lang="en-US" sz="900" dirty="0"/>
          </a:p>
        </p:txBody>
      </p:sp>
      <p:sp>
        <p:nvSpPr>
          <p:cNvPr id="14" name="Shape 12"/>
          <p:cNvSpPr/>
          <p:nvPr/>
        </p:nvSpPr>
        <p:spPr>
          <a:xfrm>
            <a:off x="6629400" y="1280160"/>
            <a:ext cx="2331720" cy="1261872"/>
          </a:xfrm>
          <a:prstGeom prst="roundRect">
            <a:avLst>
              <a:gd name="adj" fmla="val 5797"/>
            </a:avLst>
          </a:prstGeom>
          <a:solidFill>
            <a:srgbClr val="222222"/>
          </a:solidFill>
          <a:ln w="12700">
            <a:solidFill>
              <a:srgbClr val="333333"/>
            </a:solidFill>
            <a:prstDash val="solid"/>
          </a:ln>
        </p:spPr>
      </p:sp>
      <p:sp>
        <p:nvSpPr>
          <p:cNvPr id="15" name="Text 13"/>
          <p:cNvSpPr/>
          <p:nvPr/>
        </p:nvSpPr>
        <p:spPr>
          <a:xfrm>
            <a:off x="6720840" y="1371600"/>
            <a:ext cx="365760" cy="320040"/>
          </a:xfrm>
          <a:prstGeom prst="rect">
            <a:avLst/>
          </a:prstGeom>
          <a:noFill/>
          <a:ln/>
        </p:spPr>
        <p:txBody>
          <a:bodyPr wrap="square" rtlCol="0" anchor="ctr"/>
          <a:lstStyle/>
          <a:p>
            <a:pPr indent="0" marL="0">
              <a:buNone/>
            </a:pPr>
            <a:r>
              <a:rPr lang="en-US" sz="1400" dirty="0">
                <a:solidFill>
                  <a:srgbClr val="000000"/>
                </a:solidFill>
              </a:rPr>
              <a:t>🖨️</a:t>
            </a:r>
            <a:endParaRPr lang="en-US" sz="1400" dirty="0"/>
          </a:p>
        </p:txBody>
      </p:sp>
      <p:sp>
        <p:nvSpPr>
          <p:cNvPr id="16" name="Text 14"/>
          <p:cNvSpPr/>
          <p:nvPr/>
        </p:nvSpPr>
        <p:spPr>
          <a:xfrm>
            <a:off x="7086600" y="1389888"/>
            <a:ext cx="1783080" cy="292608"/>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Free Printed QRs</a:t>
            </a:r>
            <a:endParaRPr lang="en-US" sz="1000" dirty="0"/>
          </a:p>
        </p:txBody>
      </p:sp>
      <p:sp>
        <p:nvSpPr>
          <p:cNvPr id="17" name="Text 15"/>
          <p:cNvSpPr/>
          <p:nvPr/>
        </p:nvSpPr>
        <p:spPr>
          <a:xfrm>
            <a:off x="6720840" y="1755648"/>
            <a:ext cx="2148840" cy="68580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We courier printed QR table tents in your brand colours. Worth Rs.500.</a:t>
            </a:r>
            <a:endParaRPr lang="en-US" sz="900" dirty="0"/>
          </a:p>
        </p:txBody>
      </p:sp>
      <p:sp>
        <p:nvSpPr>
          <p:cNvPr id="18" name="Shape 16"/>
          <p:cNvSpPr/>
          <p:nvPr/>
        </p:nvSpPr>
        <p:spPr>
          <a:xfrm>
            <a:off x="4160520" y="2697480"/>
            <a:ext cx="2331720" cy="1261872"/>
          </a:xfrm>
          <a:prstGeom prst="roundRect">
            <a:avLst>
              <a:gd name="adj" fmla="val 5797"/>
            </a:avLst>
          </a:prstGeom>
          <a:solidFill>
            <a:srgbClr val="222222"/>
          </a:solidFill>
          <a:ln w="12700">
            <a:solidFill>
              <a:srgbClr val="333333"/>
            </a:solidFill>
            <a:prstDash val="solid"/>
          </a:ln>
        </p:spPr>
      </p:sp>
      <p:sp>
        <p:nvSpPr>
          <p:cNvPr id="19" name="Text 17"/>
          <p:cNvSpPr/>
          <p:nvPr/>
        </p:nvSpPr>
        <p:spPr>
          <a:xfrm>
            <a:off x="4251960" y="2788920"/>
            <a:ext cx="365760" cy="320040"/>
          </a:xfrm>
          <a:prstGeom prst="rect">
            <a:avLst/>
          </a:prstGeom>
          <a:noFill/>
          <a:ln/>
        </p:spPr>
        <p:txBody>
          <a:bodyPr wrap="square" rtlCol="0" anchor="ctr"/>
          <a:lstStyle/>
          <a:p>
            <a:pPr indent="0" marL="0">
              <a:buNone/>
            </a:pPr>
            <a:r>
              <a:rPr lang="en-US" sz="1400" dirty="0">
                <a:solidFill>
                  <a:srgbClr val="000000"/>
                </a:solidFill>
              </a:rPr>
              <a:t>⏰</a:t>
            </a:r>
            <a:endParaRPr lang="en-US" sz="1400" dirty="0"/>
          </a:p>
        </p:txBody>
      </p:sp>
      <p:sp>
        <p:nvSpPr>
          <p:cNvPr id="20" name="Text 18"/>
          <p:cNvSpPr/>
          <p:nvPr/>
        </p:nvSpPr>
        <p:spPr>
          <a:xfrm>
            <a:off x="4617720" y="2807208"/>
            <a:ext cx="1783080" cy="292608"/>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AI Dynamic Pricing</a:t>
            </a:r>
            <a:endParaRPr lang="en-US" sz="1000" dirty="0"/>
          </a:p>
        </p:txBody>
      </p:sp>
      <p:sp>
        <p:nvSpPr>
          <p:cNvPr id="21" name="Text 19"/>
          <p:cNvSpPr/>
          <p:nvPr/>
        </p:nvSpPr>
        <p:spPr>
          <a:xfrm>
            <a:off x="4251960" y="3172968"/>
            <a:ext cx="2148840" cy="68580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Set happy hour and weekend prices once. AI runs them automatically forever.</a:t>
            </a:r>
            <a:endParaRPr lang="en-US" sz="900" dirty="0"/>
          </a:p>
        </p:txBody>
      </p:sp>
      <p:sp>
        <p:nvSpPr>
          <p:cNvPr id="22" name="Shape 20"/>
          <p:cNvSpPr/>
          <p:nvPr/>
        </p:nvSpPr>
        <p:spPr>
          <a:xfrm>
            <a:off x="6629400" y="2697480"/>
            <a:ext cx="2331720" cy="1261872"/>
          </a:xfrm>
          <a:prstGeom prst="roundRect">
            <a:avLst>
              <a:gd name="adj" fmla="val 5797"/>
            </a:avLst>
          </a:prstGeom>
          <a:solidFill>
            <a:srgbClr val="222222"/>
          </a:solidFill>
          <a:ln w="12700">
            <a:solidFill>
              <a:srgbClr val="333333"/>
            </a:solidFill>
            <a:prstDash val="solid"/>
          </a:ln>
        </p:spPr>
      </p:sp>
      <p:sp>
        <p:nvSpPr>
          <p:cNvPr id="23" name="Text 21"/>
          <p:cNvSpPr/>
          <p:nvPr/>
        </p:nvSpPr>
        <p:spPr>
          <a:xfrm>
            <a:off x="6720840" y="2788920"/>
            <a:ext cx="365760" cy="320040"/>
          </a:xfrm>
          <a:prstGeom prst="rect">
            <a:avLst/>
          </a:prstGeom>
          <a:noFill/>
          <a:ln/>
        </p:spPr>
        <p:txBody>
          <a:bodyPr wrap="square" rtlCol="0" anchor="ctr"/>
          <a:lstStyle/>
          <a:p>
            <a:pPr indent="0" marL="0">
              <a:buNone/>
            </a:pPr>
            <a:r>
              <a:rPr lang="en-US" sz="1400" dirty="0">
                <a:solidFill>
                  <a:srgbClr val="000000"/>
                </a:solidFill>
              </a:rPr>
              <a:t>💬</a:t>
            </a:r>
            <a:endParaRPr lang="en-US" sz="1400" dirty="0"/>
          </a:p>
        </p:txBody>
      </p:sp>
      <p:sp>
        <p:nvSpPr>
          <p:cNvPr id="24" name="Text 22"/>
          <p:cNvSpPr/>
          <p:nvPr/>
        </p:nvSpPr>
        <p:spPr>
          <a:xfrm>
            <a:off x="7086600" y="2807208"/>
            <a:ext cx="1783080" cy="292608"/>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15-min WhatsApp Setup</a:t>
            </a:r>
            <a:endParaRPr lang="en-US" sz="1000" dirty="0"/>
          </a:p>
        </p:txBody>
      </p:sp>
      <p:sp>
        <p:nvSpPr>
          <p:cNvPr id="25" name="Text 23"/>
          <p:cNvSpPr/>
          <p:nvPr/>
        </p:nvSpPr>
        <p:spPr>
          <a:xfrm>
            <a:off x="6720840" y="3172968"/>
            <a:ext cx="2148840" cy="68580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Our team walks you through your dashboard on WhatsApp. Any language.</a:t>
            </a:r>
            <a:endParaRPr lang="en-US" sz="900" dirty="0"/>
          </a:p>
        </p:txBody>
      </p:sp>
      <p:sp>
        <p:nvSpPr>
          <p:cNvPr id="26" name="Shape 24"/>
          <p:cNvSpPr/>
          <p:nvPr/>
        </p:nvSpPr>
        <p:spPr>
          <a:xfrm>
            <a:off x="320040" y="3063240"/>
            <a:ext cx="274320" cy="274320"/>
          </a:xfrm>
          <a:prstGeom prst="ellipse">
            <a:avLst/>
          </a:prstGeom>
          <a:solidFill>
            <a:srgbClr val="00B37D"/>
          </a:solidFill>
          <a:ln w="12700">
            <a:solidFill>
              <a:srgbClr val="00B37D"/>
            </a:solidFill>
            <a:prstDash val="solid"/>
          </a:ln>
        </p:spPr>
      </p:sp>
      <p:sp>
        <p:nvSpPr>
          <p:cNvPr id="27" name="Text 25"/>
          <p:cNvSpPr/>
          <p:nvPr/>
        </p:nvSpPr>
        <p:spPr>
          <a:xfrm>
            <a:off x="320040" y="3063240"/>
            <a:ext cx="274320" cy="274320"/>
          </a:xfrm>
          <a:prstGeom prst="rect">
            <a:avLst/>
          </a:prstGeom>
          <a:noFill/>
          <a:ln/>
        </p:spPr>
        <p:txBody>
          <a:bodyPr wrap="square" rtlCol="0" anchor="ctr"/>
          <a:lstStyle/>
          <a:p>
            <a:pPr algn="ctr" indent="0" marL="0">
              <a:buNone/>
            </a:pPr>
            <a:r>
              <a:rPr lang="en-US" sz="900" b="1" dirty="0">
                <a:solidFill>
                  <a:srgbClr val="111111"/>
                </a:solidFill>
                <a:latin typeface="Calibri" pitchFamily="34" charset="0"/>
                <a:ea typeface="Calibri" pitchFamily="34" charset="-122"/>
                <a:cs typeface="Calibri" pitchFamily="34" charset="-120"/>
              </a:rPr>
              <a:t>1</a:t>
            </a:r>
            <a:endParaRPr lang="en-US" sz="900" dirty="0"/>
          </a:p>
        </p:txBody>
      </p:sp>
      <p:sp>
        <p:nvSpPr>
          <p:cNvPr id="28" name="Text 26"/>
          <p:cNvSpPr/>
          <p:nvPr/>
        </p:nvSpPr>
        <p:spPr>
          <a:xfrm>
            <a:off x="640080" y="3063240"/>
            <a:ext cx="1828800" cy="457200"/>
          </a:xfrm>
          <a:prstGeom prst="rect">
            <a:avLst/>
          </a:prstGeom>
          <a:noFill/>
          <a:ln/>
        </p:spPr>
        <p:txBody>
          <a:bodyPr wrap="square" rtlCol="0" anchor="ctr"/>
          <a:lstStyle/>
          <a:p>
            <a:pPr indent="0" marL="0">
              <a:buNone/>
            </a:pPr>
            <a:r>
              <a:rPr lang="en-US" sz="800" dirty="0">
                <a:solidFill>
                  <a:srgbClr val="CCCCCC"/>
                </a:solidFill>
                <a:latin typeface="Calibri" pitchFamily="34" charset="0"/>
                <a:ea typeface="Calibri" pitchFamily="34" charset="-122"/>
                <a:cs typeface="Calibri" pitchFamily="34" charset="-120"/>
              </a:rPr>
              <a:t>Day 0: WhatsApp us your menu photo. Confirm in 5 min.</a:t>
            </a:r>
            <a:endParaRPr lang="en-US" sz="800" dirty="0"/>
          </a:p>
        </p:txBody>
      </p:sp>
      <p:sp>
        <p:nvSpPr>
          <p:cNvPr id="29" name="Shape 27"/>
          <p:cNvSpPr/>
          <p:nvPr/>
        </p:nvSpPr>
        <p:spPr>
          <a:xfrm>
            <a:off x="2468880" y="3063240"/>
            <a:ext cx="274320" cy="274320"/>
          </a:xfrm>
          <a:prstGeom prst="ellipse">
            <a:avLst/>
          </a:prstGeom>
          <a:solidFill>
            <a:srgbClr val="00B37D"/>
          </a:solidFill>
          <a:ln w="12700">
            <a:solidFill>
              <a:srgbClr val="00B37D"/>
            </a:solidFill>
            <a:prstDash val="solid"/>
          </a:ln>
        </p:spPr>
      </p:sp>
      <p:sp>
        <p:nvSpPr>
          <p:cNvPr id="30" name="Text 28"/>
          <p:cNvSpPr/>
          <p:nvPr/>
        </p:nvSpPr>
        <p:spPr>
          <a:xfrm>
            <a:off x="2468880" y="3063240"/>
            <a:ext cx="274320" cy="274320"/>
          </a:xfrm>
          <a:prstGeom prst="rect">
            <a:avLst/>
          </a:prstGeom>
          <a:noFill/>
          <a:ln/>
        </p:spPr>
        <p:txBody>
          <a:bodyPr wrap="square" rtlCol="0" anchor="ctr"/>
          <a:lstStyle/>
          <a:p>
            <a:pPr algn="ctr" indent="0" marL="0">
              <a:buNone/>
            </a:pPr>
            <a:r>
              <a:rPr lang="en-US" sz="900" b="1" dirty="0">
                <a:solidFill>
                  <a:srgbClr val="111111"/>
                </a:solidFill>
                <a:latin typeface="Calibri" pitchFamily="34" charset="0"/>
                <a:ea typeface="Calibri" pitchFamily="34" charset="-122"/>
                <a:cs typeface="Calibri" pitchFamily="34" charset="-120"/>
              </a:rPr>
              <a:t>2</a:t>
            </a:r>
            <a:endParaRPr lang="en-US" sz="900" dirty="0"/>
          </a:p>
        </p:txBody>
      </p:sp>
      <p:sp>
        <p:nvSpPr>
          <p:cNvPr id="31" name="Text 29"/>
          <p:cNvSpPr/>
          <p:nvPr/>
        </p:nvSpPr>
        <p:spPr>
          <a:xfrm>
            <a:off x="2788920" y="3063240"/>
            <a:ext cx="1828800" cy="457200"/>
          </a:xfrm>
          <a:prstGeom prst="rect">
            <a:avLst/>
          </a:prstGeom>
          <a:noFill/>
          <a:ln/>
        </p:spPr>
        <p:txBody>
          <a:bodyPr wrap="square" rtlCol="0" anchor="ctr"/>
          <a:lstStyle/>
          <a:p>
            <a:pPr indent="0" marL="0">
              <a:buNone/>
            </a:pPr>
            <a:r>
              <a:rPr lang="en-US" sz="800" dirty="0">
                <a:solidFill>
                  <a:srgbClr val="CCCCCC"/>
                </a:solidFill>
                <a:latin typeface="Calibri" pitchFamily="34" charset="0"/>
                <a:ea typeface="Calibri" pitchFamily="34" charset="-122"/>
                <a:cs typeface="Calibri" pitchFamily="34" charset="-120"/>
              </a:rPr>
              <a:t>Day 0: AI OCR runs. You review. QR live in 15 min.</a:t>
            </a:r>
            <a:endParaRPr lang="en-US" sz="800" dirty="0"/>
          </a:p>
        </p:txBody>
      </p:sp>
      <p:sp>
        <p:nvSpPr>
          <p:cNvPr id="32" name="Shape 30"/>
          <p:cNvSpPr/>
          <p:nvPr/>
        </p:nvSpPr>
        <p:spPr>
          <a:xfrm>
            <a:off x="4617720" y="3063240"/>
            <a:ext cx="274320" cy="274320"/>
          </a:xfrm>
          <a:prstGeom prst="ellipse">
            <a:avLst/>
          </a:prstGeom>
          <a:solidFill>
            <a:srgbClr val="00B37D"/>
          </a:solidFill>
          <a:ln w="12700">
            <a:solidFill>
              <a:srgbClr val="00B37D"/>
            </a:solidFill>
            <a:prstDash val="solid"/>
          </a:ln>
        </p:spPr>
      </p:sp>
      <p:sp>
        <p:nvSpPr>
          <p:cNvPr id="33" name="Text 31"/>
          <p:cNvSpPr/>
          <p:nvPr/>
        </p:nvSpPr>
        <p:spPr>
          <a:xfrm>
            <a:off x="4617720" y="3063240"/>
            <a:ext cx="274320" cy="274320"/>
          </a:xfrm>
          <a:prstGeom prst="rect">
            <a:avLst/>
          </a:prstGeom>
          <a:noFill/>
          <a:ln/>
        </p:spPr>
        <p:txBody>
          <a:bodyPr wrap="square" rtlCol="0" anchor="ctr"/>
          <a:lstStyle/>
          <a:p>
            <a:pPr algn="ctr" indent="0" marL="0">
              <a:buNone/>
            </a:pPr>
            <a:r>
              <a:rPr lang="en-US" sz="900" b="1" dirty="0">
                <a:solidFill>
                  <a:srgbClr val="111111"/>
                </a:solidFill>
                <a:latin typeface="Calibri" pitchFamily="34" charset="0"/>
                <a:ea typeface="Calibri" pitchFamily="34" charset="-122"/>
                <a:cs typeface="Calibri" pitchFamily="34" charset="-120"/>
              </a:rPr>
              <a:t>3</a:t>
            </a:r>
            <a:endParaRPr lang="en-US" sz="900" dirty="0"/>
          </a:p>
        </p:txBody>
      </p:sp>
      <p:sp>
        <p:nvSpPr>
          <p:cNvPr id="34" name="Text 32"/>
          <p:cNvSpPr/>
          <p:nvPr/>
        </p:nvSpPr>
        <p:spPr>
          <a:xfrm>
            <a:off x="4937760" y="3063240"/>
            <a:ext cx="1828800" cy="457200"/>
          </a:xfrm>
          <a:prstGeom prst="rect">
            <a:avLst/>
          </a:prstGeom>
          <a:noFill/>
          <a:ln/>
        </p:spPr>
        <p:txBody>
          <a:bodyPr wrap="square" rtlCol="0" anchor="ctr"/>
          <a:lstStyle/>
          <a:p>
            <a:pPr indent="0" marL="0">
              <a:buNone/>
            </a:pPr>
            <a:r>
              <a:rPr lang="en-US" sz="800" dirty="0">
                <a:solidFill>
                  <a:srgbClr val="CCCCCC"/>
                </a:solidFill>
                <a:latin typeface="Calibri" pitchFamily="34" charset="0"/>
                <a:ea typeface="Calibri" pitchFamily="34" charset="-122"/>
                <a:cs typeface="Calibri" pitchFamily="34" charset="-120"/>
              </a:rPr>
              <a:t>Days 1–90: Use AviQR fully — orders, AI pricing, dashboard.</a:t>
            </a:r>
            <a:endParaRPr lang="en-US" sz="800" dirty="0"/>
          </a:p>
        </p:txBody>
      </p:sp>
      <p:sp>
        <p:nvSpPr>
          <p:cNvPr id="35" name="Shape 33"/>
          <p:cNvSpPr/>
          <p:nvPr/>
        </p:nvSpPr>
        <p:spPr>
          <a:xfrm>
            <a:off x="6766560" y="3063240"/>
            <a:ext cx="274320" cy="274320"/>
          </a:xfrm>
          <a:prstGeom prst="ellipse">
            <a:avLst/>
          </a:prstGeom>
          <a:solidFill>
            <a:srgbClr val="00B37D"/>
          </a:solidFill>
          <a:ln w="12700">
            <a:solidFill>
              <a:srgbClr val="00B37D"/>
            </a:solidFill>
            <a:prstDash val="solid"/>
          </a:ln>
        </p:spPr>
      </p:sp>
      <p:sp>
        <p:nvSpPr>
          <p:cNvPr id="36" name="Text 34"/>
          <p:cNvSpPr/>
          <p:nvPr/>
        </p:nvSpPr>
        <p:spPr>
          <a:xfrm>
            <a:off x="6766560" y="3063240"/>
            <a:ext cx="274320" cy="274320"/>
          </a:xfrm>
          <a:prstGeom prst="rect">
            <a:avLst/>
          </a:prstGeom>
          <a:noFill/>
          <a:ln/>
        </p:spPr>
        <p:txBody>
          <a:bodyPr wrap="square" rtlCol="0" anchor="ctr"/>
          <a:lstStyle/>
          <a:p>
            <a:pPr algn="ctr" indent="0" marL="0">
              <a:buNone/>
            </a:pPr>
            <a:r>
              <a:rPr lang="en-US" sz="900" b="1" dirty="0">
                <a:solidFill>
                  <a:srgbClr val="111111"/>
                </a:solidFill>
                <a:latin typeface="Calibri" pitchFamily="34" charset="0"/>
                <a:ea typeface="Calibri" pitchFamily="34" charset="-122"/>
                <a:cs typeface="Calibri" pitchFamily="34" charset="-120"/>
              </a:rPr>
              <a:t>4</a:t>
            </a:r>
            <a:endParaRPr lang="en-US" sz="900" dirty="0"/>
          </a:p>
        </p:txBody>
      </p:sp>
      <p:sp>
        <p:nvSpPr>
          <p:cNvPr id="37" name="Text 35"/>
          <p:cNvSpPr/>
          <p:nvPr/>
        </p:nvSpPr>
        <p:spPr>
          <a:xfrm>
            <a:off x="7086600" y="3063240"/>
            <a:ext cx="1828800" cy="457200"/>
          </a:xfrm>
          <a:prstGeom prst="rect">
            <a:avLst/>
          </a:prstGeom>
          <a:noFill/>
          <a:ln/>
        </p:spPr>
        <p:txBody>
          <a:bodyPr wrap="square" rtlCol="0" anchor="ctr"/>
          <a:lstStyle/>
          <a:p>
            <a:pPr indent="0" marL="0">
              <a:buNone/>
            </a:pPr>
            <a:r>
              <a:rPr lang="en-US" sz="800" dirty="0">
                <a:solidFill>
                  <a:srgbClr val="CCCCCC"/>
                </a:solidFill>
                <a:latin typeface="Calibri" pitchFamily="34" charset="0"/>
                <a:ea typeface="Calibri" pitchFamily="34" charset="-122"/>
                <a:cs typeface="Calibri" pitchFamily="34" charset="-120"/>
              </a:rPr>
              <a:t>Day 91: Continue Rs.499/mo or stop. No auto-billing.</a:t>
            </a:r>
            <a:endParaRPr lang="en-US" sz="800" dirty="0"/>
          </a:p>
        </p:txBody>
      </p:sp>
      <p:sp>
        <p:nvSpPr>
          <p:cNvPr id="38" name="Shape 36"/>
          <p:cNvSpPr/>
          <p:nvPr/>
        </p:nvSpPr>
        <p:spPr>
          <a:xfrm>
            <a:off x="320040" y="4526280"/>
            <a:ext cx="8503920" cy="411480"/>
          </a:xfrm>
          <a:prstGeom prst="roundRect">
            <a:avLst>
              <a:gd name="adj" fmla="val 17778"/>
            </a:avLst>
          </a:prstGeom>
          <a:solidFill>
            <a:srgbClr val="00B37D"/>
          </a:solidFill>
          <a:ln w="12700">
            <a:solidFill>
              <a:srgbClr val="00B37D"/>
            </a:solidFill>
            <a:prstDash val="solid"/>
          </a:ln>
        </p:spPr>
      </p:sp>
      <p:sp>
        <p:nvSpPr>
          <p:cNvPr id="39" name="Text 37"/>
          <p:cNvSpPr/>
          <p:nvPr/>
        </p:nvSpPr>
        <p:spPr>
          <a:xfrm>
            <a:off x="320040" y="4572000"/>
            <a:ext cx="8503920" cy="301752"/>
          </a:xfrm>
          <a:prstGeom prst="rect">
            <a:avLst/>
          </a:prstGeom>
          <a:noFill/>
          <a:ln/>
        </p:spPr>
        <p:txBody>
          <a:bodyPr wrap="square" rtlCol="0" anchor="ctr"/>
          <a:lstStyle/>
          <a:p>
            <a:pPr algn="ctr" indent="0" marL="0">
              <a:buNone/>
            </a:pPr>
            <a:r>
              <a:rPr lang="en-US" sz="1000" b="1" dirty="0">
                <a:solidFill>
                  <a:srgbClr val="111111"/>
                </a:solidFill>
                <a:latin typeface="Calibri" pitchFamily="34" charset="0"/>
                <a:ea typeface="Calibri" pitchFamily="34" charset="-122"/>
                <a:cs typeface="Calibri" pitchFamily="34" charset="-120"/>
              </a:rPr>
              <a:t>Claim on WhatsApp: +91 88729 47878  ·  aviqr.com  ·  hello@aviqr.com</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rtlCol="0" anchor="ctr"/>
          <a:lstStyle/>
          <a:p>
            <a:pPr indent="0" marL="0">
              <a:buNone/>
            </a:pPr>
            <a:r>
              <a:rPr lang="en-US" sz="900" b="1" spc="400" kern="0" dirty="0">
                <a:solidFill>
                  <a:srgbClr val="00B37D"/>
                </a:solidFill>
                <a:latin typeface="Calibri" pitchFamily="34" charset="0"/>
                <a:ea typeface="Calibri" pitchFamily="34" charset="-122"/>
                <a:cs typeface="Calibri" pitchFamily="34" charset="-120"/>
              </a:rPr>
              <a:t>BUSINESS MODEL</a:t>
            </a:r>
            <a:endParaRPr lang="en-US" sz="900" dirty="0"/>
          </a:p>
        </p:txBody>
      </p:sp>
      <p:sp>
        <p:nvSpPr>
          <p:cNvPr id="3" name="Text 1"/>
          <p:cNvSpPr/>
          <p:nvPr/>
        </p:nvSpPr>
        <p:spPr>
          <a:xfrm>
            <a:off x="365760" y="502920"/>
            <a:ext cx="8229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SaaS subscription. AI launch offer to win speed.</a:t>
            </a:r>
            <a:endParaRPr lang="en-US" sz="2400" dirty="0"/>
          </a:p>
        </p:txBody>
      </p:sp>
      <p:sp>
        <p:nvSpPr>
          <p:cNvPr id="4" name="Shape 2"/>
          <p:cNvSpPr/>
          <p:nvPr/>
        </p:nvSpPr>
        <p:spPr>
          <a:xfrm>
            <a:off x="320040" y="1188720"/>
            <a:ext cx="1965960" cy="3520440"/>
          </a:xfrm>
          <a:prstGeom prst="roundRect">
            <a:avLst>
              <a:gd name="adj" fmla="val 4651"/>
            </a:avLst>
          </a:prstGeom>
          <a:solidFill>
            <a:srgbClr val="1A1A1A"/>
          </a:solidFill>
          <a:ln w="12700">
            <a:solidFill>
              <a:srgbClr val="333333"/>
            </a:solidFill>
            <a:prstDash val="solid"/>
          </a:ln>
        </p:spPr>
      </p:sp>
      <p:sp>
        <p:nvSpPr>
          <p:cNvPr id="5" name="Text 3"/>
          <p:cNvSpPr/>
          <p:nvPr/>
        </p:nvSpPr>
        <p:spPr>
          <a:xfrm>
            <a:off x="393192" y="1280160"/>
            <a:ext cx="1819656" cy="292608"/>
          </a:xfrm>
          <a:prstGeom prst="rect">
            <a:avLst/>
          </a:prstGeom>
          <a:noFill/>
          <a:ln/>
        </p:spPr>
        <p:txBody>
          <a:bodyPr wrap="square" rtlCol="0" anchor="ctr"/>
          <a:lstStyle/>
          <a:p>
            <a:pPr algn="ctr" indent="0" marL="0">
              <a:buNone/>
            </a:pPr>
            <a:r>
              <a:rPr lang="en-US" sz="1000" b="1" dirty="0">
                <a:solidFill>
                  <a:srgbClr val="CCCCCC"/>
                </a:solidFill>
                <a:latin typeface="Calibri" pitchFamily="34" charset="0"/>
                <a:ea typeface="Calibri" pitchFamily="34" charset="-122"/>
                <a:cs typeface="Calibri" pitchFamily="34" charset="-120"/>
              </a:rPr>
              <a:t>STARTER</a:t>
            </a:r>
            <a:endParaRPr lang="en-US" sz="1000" dirty="0"/>
          </a:p>
        </p:txBody>
      </p:sp>
      <p:sp>
        <p:nvSpPr>
          <p:cNvPr id="6" name="Text 4"/>
          <p:cNvSpPr/>
          <p:nvPr/>
        </p:nvSpPr>
        <p:spPr>
          <a:xfrm>
            <a:off x="393192" y="1600200"/>
            <a:ext cx="1819656" cy="5029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Rs.499</a:t>
            </a:r>
            <a:endParaRPr lang="en-US" sz="2200" dirty="0"/>
          </a:p>
        </p:txBody>
      </p:sp>
      <p:sp>
        <p:nvSpPr>
          <p:cNvPr id="7" name="Text 5"/>
          <p:cNvSpPr/>
          <p:nvPr/>
        </p:nvSpPr>
        <p:spPr>
          <a:xfrm>
            <a:off x="393192" y="2121408"/>
            <a:ext cx="1819656" cy="228600"/>
          </a:xfrm>
          <a:prstGeom prst="rect">
            <a:avLst/>
          </a:prstGeom>
          <a:noFill/>
          <a:ln/>
        </p:spPr>
        <p:txBody>
          <a:bodyPr wrap="square" rtlCol="0" anchor="ctr"/>
          <a:lstStyle/>
          <a:p>
            <a:pPr algn="ctr" indent="0" marL="0">
              <a:buNone/>
            </a:pPr>
            <a:r>
              <a:rPr lang="en-US" sz="900" dirty="0">
                <a:solidFill>
                  <a:srgbClr val="888888"/>
                </a:solidFill>
                <a:latin typeface="Calibri" pitchFamily="34" charset="0"/>
                <a:ea typeface="Calibri" pitchFamily="34" charset="-122"/>
                <a:cs typeface="Calibri" pitchFamily="34" charset="-120"/>
              </a:rPr>
              <a:t>/outlet/mo</a:t>
            </a:r>
            <a:endParaRPr lang="en-US" sz="900" dirty="0"/>
          </a:p>
        </p:txBody>
      </p:sp>
      <p:sp>
        <p:nvSpPr>
          <p:cNvPr id="8" name="Shape 6"/>
          <p:cNvSpPr/>
          <p:nvPr/>
        </p:nvSpPr>
        <p:spPr>
          <a:xfrm>
            <a:off x="502920" y="2395728"/>
            <a:ext cx="1600200" cy="201168"/>
          </a:xfrm>
          <a:prstGeom prst="roundRect">
            <a:avLst>
              <a:gd name="adj" fmla="val 22727"/>
            </a:avLst>
          </a:prstGeom>
          <a:solidFill>
            <a:srgbClr val="222222"/>
          </a:solidFill>
          <a:ln w="12700">
            <a:solidFill>
              <a:srgbClr val="000000"/>
            </a:solidFill>
            <a:prstDash val="solid"/>
          </a:ln>
        </p:spPr>
      </p:sp>
      <p:sp>
        <p:nvSpPr>
          <p:cNvPr id="9" name="Text 7"/>
          <p:cNvSpPr/>
          <p:nvPr/>
        </p:nvSpPr>
        <p:spPr>
          <a:xfrm>
            <a:off x="502920" y="2386584"/>
            <a:ext cx="1600200" cy="219456"/>
          </a:xfrm>
          <a:prstGeom prst="rect">
            <a:avLst/>
          </a:prstGeom>
          <a:noFill/>
          <a:ln/>
        </p:spPr>
        <p:txBody>
          <a:bodyPr wrap="square" rtlCol="0" anchor="ctr"/>
          <a:lstStyle/>
          <a:p>
            <a:pPr algn="ctr" indent="0" marL="0">
              <a:buNone/>
            </a:pPr>
            <a:r>
              <a:rPr lang="en-US" sz="700" b="1" dirty="0">
                <a:solidFill>
                  <a:srgbClr val="888888"/>
                </a:solidFill>
                <a:latin typeface="Calibri" pitchFamily="34" charset="0"/>
                <a:ea typeface="Calibri" pitchFamily="34" charset="-122"/>
                <a:cs typeface="Calibri" pitchFamily="34" charset="-120"/>
              </a:rPr>
              <a:t>🎉 LAUNCH — First 500</a:t>
            </a:r>
            <a:endParaRPr lang="en-US" sz="700" dirty="0"/>
          </a:p>
        </p:txBody>
      </p:sp>
      <p:sp>
        <p:nvSpPr>
          <p:cNvPr id="10" name="Text 8"/>
          <p:cNvSpPr/>
          <p:nvPr/>
        </p:nvSpPr>
        <p:spPr>
          <a:xfrm>
            <a:off x="429768" y="2697480"/>
            <a:ext cx="1783080" cy="310896"/>
          </a:xfrm>
          <a:prstGeom prst="rect">
            <a:avLst/>
          </a:prstGeom>
          <a:noFill/>
          <a:ln/>
        </p:spPr>
        <p:txBody>
          <a:bodyPr wrap="square" rtlCol="0" anchor="ctr"/>
          <a:lstStyle/>
          <a:p>
            <a:pPr indent="0" marL="0">
              <a:buNone/>
            </a:pPr>
            <a:r>
              <a:rPr lang="en-US" sz="850" dirty="0">
                <a:solidFill>
                  <a:srgbClr val="CCCCCC"/>
                </a:solidFill>
                <a:latin typeface="Calibri" pitchFamily="34" charset="0"/>
                <a:ea typeface="Calibri" pitchFamily="34" charset="-122"/>
                <a:cs typeface="Calibri" pitchFamily="34" charset="-120"/>
              </a:rPr>
              <a:t>✓  Unlimited QR codes</a:t>
            </a:r>
            <a:endParaRPr lang="en-US" sz="850" dirty="0"/>
          </a:p>
        </p:txBody>
      </p:sp>
      <p:sp>
        <p:nvSpPr>
          <p:cNvPr id="11" name="Text 9"/>
          <p:cNvSpPr/>
          <p:nvPr/>
        </p:nvSpPr>
        <p:spPr>
          <a:xfrm>
            <a:off x="429768" y="3044952"/>
            <a:ext cx="1783080" cy="310896"/>
          </a:xfrm>
          <a:prstGeom prst="rect">
            <a:avLst/>
          </a:prstGeom>
          <a:noFill/>
          <a:ln/>
        </p:spPr>
        <p:txBody>
          <a:bodyPr wrap="square" rtlCol="0" anchor="ctr"/>
          <a:lstStyle/>
          <a:p>
            <a:pPr indent="0" marL="0">
              <a:buNone/>
            </a:pPr>
            <a:r>
              <a:rPr lang="en-US" sz="850" dirty="0">
                <a:solidFill>
                  <a:srgbClr val="CCCCCC"/>
                </a:solidFill>
                <a:latin typeface="Calibri" pitchFamily="34" charset="0"/>
                <a:ea typeface="Calibri" pitchFamily="34" charset="-122"/>
                <a:cs typeface="Calibri" pitchFamily="34" charset="-120"/>
              </a:rPr>
              <a:t>✓  AI OCR menu upload</a:t>
            </a:r>
            <a:endParaRPr lang="en-US" sz="850" dirty="0"/>
          </a:p>
        </p:txBody>
      </p:sp>
      <p:sp>
        <p:nvSpPr>
          <p:cNvPr id="12" name="Text 10"/>
          <p:cNvSpPr/>
          <p:nvPr/>
        </p:nvSpPr>
        <p:spPr>
          <a:xfrm>
            <a:off x="429768" y="3392424"/>
            <a:ext cx="1783080" cy="310896"/>
          </a:xfrm>
          <a:prstGeom prst="rect">
            <a:avLst/>
          </a:prstGeom>
          <a:noFill/>
          <a:ln/>
        </p:spPr>
        <p:txBody>
          <a:bodyPr wrap="square" rtlCol="0" anchor="ctr"/>
          <a:lstStyle/>
          <a:p>
            <a:pPr indent="0" marL="0">
              <a:buNone/>
            </a:pPr>
            <a:r>
              <a:rPr lang="en-US" sz="850" dirty="0">
                <a:solidFill>
                  <a:srgbClr val="CCCCCC"/>
                </a:solidFill>
                <a:latin typeface="Calibri" pitchFamily="34" charset="0"/>
                <a:ea typeface="Calibri" pitchFamily="34" charset="-122"/>
                <a:cs typeface="Calibri" pitchFamily="34" charset="-120"/>
              </a:rPr>
              <a:t>✓  100 orders/day</a:t>
            </a:r>
            <a:endParaRPr lang="en-US" sz="850" dirty="0"/>
          </a:p>
        </p:txBody>
      </p:sp>
      <p:sp>
        <p:nvSpPr>
          <p:cNvPr id="13" name="Text 11"/>
          <p:cNvSpPr/>
          <p:nvPr/>
        </p:nvSpPr>
        <p:spPr>
          <a:xfrm>
            <a:off x="429768" y="3739896"/>
            <a:ext cx="1783080" cy="310896"/>
          </a:xfrm>
          <a:prstGeom prst="rect">
            <a:avLst/>
          </a:prstGeom>
          <a:noFill/>
          <a:ln/>
        </p:spPr>
        <p:txBody>
          <a:bodyPr wrap="square" rtlCol="0" anchor="ctr"/>
          <a:lstStyle/>
          <a:p>
            <a:pPr indent="0" marL="0">
              <a:buNone/>
            </a:pPr>
            <a:r>
              <a:rPr lang="en-US" sz="850" dirty="0">
                <a:solidFill>
                  <a:srgbClr val="CCCCCC"/>
                </a:solidFill>
                <a:latin typeface="Calibri" pitchFamily="34" charset="0"/>
                <a:ea typeface="Calibri" pitchFamily="34" charset="-122"/>
                <a:cs typeface="Calibri" pitchFamily="34" charset="-120"/>
              </a:rPr>
              <a:t>✓  Basic order dashboard</a:t>
            </a:r>
            <a:endParaRPr lang="en-US" sz="850" dirty="0"/>
          </a:p>
        </p:txBody>
      </p:sp>
      <p:sp>
        <p:nvSpPr>
          <p:cNvPr id="14" name="Text 12"/>
          <p:cNvSpPr/>
          <p:nvPr/>
        </p:nvSpPr>
        <p:spPr>
          <a:xfrm>
            <a:off x="429768" y="4087368"/>
            <a:ext cx="1783080" cy="310896"/>
          </a:xfrm>
          <a:prstGeom prst="rect">
            <a:avLst/>
          </a:prstGeom>
          <a:noFill/>
          <a:ln/>
        </p:spPr>
        <p:txBody>
          <a:bodyPr wrap="square" rtlCol="0" anchor="ctr"/>
          <a:lstStyle/>
          <a:p>
            <a:pPr indent="0" marL="0">
              <a:buNone/>
            </a:pPr>
            <a:r>
              <a:rPr lang="en-US" sz="850" dirty="0">
                <a:solidFill>
                  <a:srgbClr val="CCCCCC"/>
                </a:solidFill>
                <a:latin typeface="Calibri" pitchFamily="34" charset="0"/>
                <a:ea typeface="Calibri" pitchFamily="34" charset="-122"/>
                <a:cs typeface="Calibri" pitchFamily="34" charset="-120"/>
              </a:rPr>
              <a:t>✓  WhatsApp support</a:t>
            </a:r>
            <a:endParaRPr lang="en-US" sz="850" dirty="0"/>
          </a:p>
        </p:txBody>
      </p:sp>
      <p:sp>
        <p:nvSpPr>
          <p:cNvPr id="15" name="Shape 13"/>
          <p:cNvSpPr/>
          <p:nvPr/>
        </p:nvSpPr>
        <p:spPr>
          <a:xfrm>
            <a:off x="2468880" y="1188720"/>
            <a:ext cx="1965960" cy="3520440"/>
          </a:xfrm>
          <a:prstGeom prst="roundRect">
            <a:avLst>
              <a:gd name="adj" fmla="val 4651"/>
            </a:avLst>
          </a:prstGeom>
          <a:solidFill>
            <a:srgbClr val="0A2A1E"/>
          </a:solidFill>
          <a:ln w="25400">
            <a:solidFill>
              <a:srgbClr val="00B37D"/>
            </a:solidFill>
            <a:prstDash val="solid"/>
          </a:ln>
        </p:spPr>
      </p:sp>
      <p:sp>
        <p:nvSpPr>
          <p:cNvPr id="16" name="Text 14"/>
          <p:cNvSpPr/>
          <p:nvPr/>
        </p:nvSpPr>
        <p:spPr>
          <a:xfrm>
            <a:off x="2542032" y="1280160"/>
            <a:ext cx="1819656" cy="292608"/>
          </a:xfrm>
          <a:prstGeom prst="rect">
            <a:avLst/>
          </a:prstGeom>
          <a:noFill/>
          <a:ln/>
        </p:spPr>
        <p:txBody>
          <a:bodyPr wrap="square" rtlCol="0" anchor="ctr"/>
          <a:lstStyle/>
          <a:p>
            <a:pPr algn="ctr" indent="0" marL="0">
              <a:buNone/>
            </a:pPr>
            <a:r>
              <a:rPr lang="en-US" sz="1000" b="1" dirty="0">
                <a:solidFill>
                  <a:srgbClr val="00B37D"/>
                </a:solidFill>
                <a:latin typeface="Calibri" pitchFamily="34" charset="0"/>
                <a:ea typeface="Calibri" pitchFamily="34" charset="-122"/>
                <a:cs typeface="Calibri" pitchFamily="34" charset="-120"/>
              </a:rPr>
              <a:t>GROWTH</a:t>
            </a:r>
            <a:endParaRPr lang="en-US" sz="1000" dirty="0"/>
          </a:p>
        </p:txBody>
      </p:sp>
      <p:sp>
        <p:nvSpPr>
          <p:cNvPr id="17" name="Text 15"/>
          <p:cNvSpPr/>
          <p:nvPr/>
        </p:nvSpPr>
        <p:spPr>
          <a:xfrm>
            <a:off x="2542032" y="1600200"/>
            <a:ext cx="1819656" cy="502920"/>
          </a:xfrm>
          <a:prstGeom prst="rect">
            <a:avLst/>
          </a:prstGeom>
          <a:noFill/>
          <a:ln/>
        </p:spPr>
        <p:txBody>
          <a:bodyPr wrap="square" rtlCol="0" anchor="ctr"/>
          <a:lstStyle/>
          <a:p>
            <a:pPr algn="ctr" indent="0" marL="0">
              <a:buNone/>
            </a:pPr>
            <a:r>
              <a:rPr lang="en-US" sz="2200" b="1" dirty="0">
                <a:solidFill>
                  <a:srgbClr val="00B37D"/>
                </a:solidFill>
                <a:latin typeface="Calibri" pitchFamily="34" charset="0"/>
                <a:ea typeface="Calibri" pitchFamily="34" charset="-122"/>
                <a:cs typeface="Calibri" pitchFamily="34" charset="-120"/>
              </a:rPr>
              <a:t>Rs.999</a:t>
            </a:r>
            <a:endParaRPr lang="en-US" sz="2200" dirty="0"/>
          </a:p>
        </p:txBody>
      </p:sp>
      <p:sp>
        <p:nvSpPr>
          <p:cNvPr id="18" name="Text 16"/>
          <p:cNvSpPr/>
          <p:nvPr/>
        </p:nvSpPr>
        <p:spPr>
          <a:xfrm>
            <a:off x="2542032" y="2121408"/>
            <a:ext cx="1819656" cy="228600"/>
          </a:xfrm>
          <a:prstGeom prst="rect">
            <a:avLst/>
          </a:prstGeom>
          <a:noFill/>
          <a:ln/>
        </p:spPr>
        <p:txBody>
          <a:bodyPr wrap="square" rtlCol="0" anchor="ctr"/>
          <a:lstStyle/>
          <a:p>
            <a:pPr algn="ctr" indent="0" marL="0">
              <a:buNone/>
            </a:pPr>
            <a:r>
              <a:rPr lang="en-US" sz="900" dirty="0">
                <a:solidFill>
                  <a:srgbClr val="888888"/>
                </a:solidFill>
                <a:latin typeface="Calibri" pitchFamily="34" charset="0"/>
                <a:ea typeface="Calibri" pitchFamily="34" charset="-122"/>
                <a:cs typeface="Calibri" pitchFamily="34" charset="-120"/>
              </a:rPr>
              <a:t>/outlet/mo</a:t>
            </a:r>
            <a:endParaRPr lang="en-US" sz="900" dirty="0"/>
          </a:p>
        </p:txBody>
      </p:sp>
      <p:sp>
        <p:nvSpPr>
          <p:cNvPr id="19" name="Shape 17"/>
          <p:cNvSpPr/>
          <p:nvPr/>
        </p:nvSpPr>
        <p:spPr>
          <a:xfrm>
            <a:off x="2651760" y="2395728"/>
            <a:ext cx="1600200" cy="201168"/>
          </a:xfrm>
          <a:prstGeom prst="roundRect">
            <a:avLst>
              <a:gd name="adj" fmla="val 22727"/>
            </a:avLst>
          </a:prstGeom>
          <a:solidFill>
            <a:srgbClr val="00B37D"/>
          </a:solidFill>
          <a:ln w="12700">
            <a:solidFill>
              <a:srgbClr val="000000"/>
            </a:solidFill>
            <a:prstDash val="solid"/>
          </a:ln>
        </p:spPr>
      </p:sp>
      <p:sp>
        <p:nvSpPr>
          <p:cNvPr id="20" name="Text 18"/>
          <p:cNvSpPr/>
          <p:nvPr/>
        </p:nvSpPr>
        <p:spPr>
          <a:xfrm>
            <a:off x="2651760" y="2386584"/>
            <a:ext cx="1600200" cy="219456"/>
          </a:xfrm>
          <a:prstGeom prst="rect">
            <a:avLst/>
          </a:prstGeom>
          <a:noFill/>
          <a:ln/>
        </p:spPr>
        <p:txBody>
          <a:bodyPr wrap="square" rtlCol="0" anchor="ctr"/>
          <a:lstStyle/>
          <a:p>
            <a:pPr algn="ctr" indent="0" marL="0">
              <a:buNone/>
            </a:pPr>
            <a:r>
              <a:rPr lang="en-US" sz="700" b="1" dirty="0">
                <a:solidFill>
                  <a:srgbClr val="111111"/>
                </a:solidFill>
                <a:latin typeface="Calibri" pitchFamily="34" charset="0"/>
                <a:ea typeface="Calibri" pitchFamily="34" charset="-122"/>
                <a:cs typeface="Calibri" pitchFamily="34" charset="-120"/>
              </a:rPr>
              <a:t>MOST POPULAR</a:t>
            </a:r>
            <a:endParaRPr lang="en-US" sz="700" dirty="0"/>
          </a:p>
        </p:txBody>
      </p:sp>
      <p:sp>
        <p:nvSpPr>
          <p:cNvPr id="21" name="Text 19"/>
          <p:cNvSpPr/>
          <p:nvPr/>
        </p:nvSpPr>
        <p:spPr>
          <a:xfrm>
            <a:off x="2578608" y="2697480"/>
            <a:ext cx="1783080" cy="310896"/>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  Everything in Starter</a:t>
            </a:r>
            <a:endParaRPr lang="en-US" sz="850" dirty="0"/>
          </a:p>
        </p:txBody>
      </p:sp>
      <p:sp>
        <p:nvSpPr>
          <p:cNvPr id="22" name="Text 20"/>
          <p:cNvSpPr/>
          <p:nvPr/>
        </p:nvSpPr>
        <p:spPr>
          <a:xfrm>
            <a:off x="2578608" y="3044952"/>
            <a:ext cx="1783080" cy="310896"/>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  AI dynamic pricing</a:t>
            </a:r>
            <a:endParaRPr lang="en-US" sz="850" dirty="0"/>
          </a:p>
        </p:txBody>
      </p:sp>
      <p:sp>
        <p:nvSpPr>
          <p:cNvPr id="23" name="Text 21"/>
          <p:cNvSpPr/>
          <p:nvPr/>
        </p:nvSpPr>
        <p:spPr>
          <a:xfrm>
            <a:off x="2578608" y="3392424"/>
            <a:ext cx="1783080" cy="310896"/>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  Staff roles &amp; permissions</a:t>
            </a:r>
            <a:endParaRPr lang="en-US" sz="850" dirty="0"/>
          </a:p>
        </p:txBody>
      </p:sp>
      <p:sp>
        <p:nvSpPr>
          <p:cNvPr id="24" name="Text 22"/>
          <p:cNvSpPr/>
          <p:nvPr/>
        </p:nvSpPr>
        <p:spPr>
          <a:xfrm>
            <a:off x="2578608" y="3739896"/>
            <a:ext cx="1783080" cy="310896"/>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  Analytics dashboard</a:t>
            </a:r>
            <a:endParaRPr lang="en-US" sz="850" dirty="0"/>
          </a:p>
        </p:txBody>
      </p:sp>
      <p:sp>
        <p:nvSpPr>
          <p:cNvPr id="25" name="Text 23"/>
          <p:cNvSpPr/>
          <p:nvPr/>
        </p:nvSpPr>
        <p:spPr>
          <a:xfrm>
            <a:off x="2578608" y="4087368"/>
            <a:ext cx="1783080" cy="310896"/>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  Customer ratings &amp; feedback</a:t>
            </a:r>
            <a:endParaRPr lang="en-US" sz="850" dirty="0"/>
          </a:p>
        </p:txBody>
      </p:sp>
      <p:sp>
        <p:nvSpPr>
          <p:cNvPr id="26" name="Shape 24"/>
          <p:cNvSpPr/>
          <p:nvPr/>
        </p:nvSpPr>
        <p:spPr>
          <a:xfrm>
            <a:off x="4617720" y="1188720"/>
            <a:ext cx="1965960" cy="3520440"/>
          </a:xfrm>
          <a:prstGeom prst="roundRect">
            <a:avLst>
              <a:gd name="adj" fmla="val 4651"/>
            </a:avLst>
          </a:prstGeom>
          <a:solidFill>
            <a:srgbClr val="1A1A1A"/>
          </a:solidFill>
          <a:ln w="12700">
            <a:solidFill>
              <a:srgbClr val="333333"/>
            </a:solidFill>
            <a:prstDash val="solid"/>
          </a:ln>
        </p:spPr>
      </p:sp>
      <p:sp>
        <p:nvSpPr>
          <p:cNvPr id="27" name="Text 25"/>
          <p:cNvSpPr/>
          <p:nvPr/>
        </p:nvSpPr>
        <p:spPr>
          <a:xfrm>
            <a:off x="4690872" y="1280160"/>
            <a:ext cx="1819656" cy="292608"/>
          </a:xfrm>
          <a:prstGeom prst="rect">
            <a:avLst/>
          </a:prstGeom>
          <a:noFill/>
          <a:ln/>
        </p:spPr>
        <p:txBody>
          <a:bodyPr wrap="square" rtlCol="0" anchor="ctr"/>
          <a:lstStyle/>
          <a:p>
            <a:pPr algn="ctr" indent="0" marL="0">
              <a:buNone/>
            </a:pPr>
            <a:r>
              <a:rPr lang="en-US" sz="1000" b="1" dirty="0">
                <a:solidFill>
                  <a:srgbClr val="CCCCCC"/>
                </a:solidFill>
                <a:latin typeface="Calibri" pitchFamily="34" charset="0"/>
                <a:ea typeface="Calibri" pitchFamily="34" charset="-122"/>
                <a:cs typeface="Calibri" pitchFamily="34" charset="-120"/>
              </a:rPr>
              <a:t>BUSINESS</a:t>
            </a:r>
            <a:endParaRPr lang="en-US" sz="1000" dirty="0"/>
          </a:p>
        </p:txBody>
      </p:sp>
      <p:sp>
        <p:nvSpPr>
          <p:cNvPr id="28" name="Text 26"/>
          <p:cNvSpPr/>
          <p:nvPr/>
        </p:nvSpPr>
        <p:spPr>
          <a:xfrm>
            <a:off x="4690872" y="1600200"/>
            <a:ext cx="1819656" cy="5029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Rs.2,499</a:t>
            </a:r>
            <a:endParaRPr lang="en-US" sz="2200" dirty="0"/>
          </a:p>
        </p:txBody>
      </p:sp>
      <p:sp>
        <p:nvSpPr>
          <p:cNvPr id="29" name="Text 27"/>
          <p:cNvSpPr/>
          <p:nvPr/>
        </p:nvSpPr>
        <p:spPr>
          <a:xfrm>
            <a:off x="4690872" y="2121408"/>
            <a:ext cx="1819656" cy="228600"/>
          </a:xfrm>
          <a:prstGeom prst="rect">
            <a:avLst/>
          </a:prstGeom>
          <a:noFill/>
          <a:ln/>
        </p:spPr>
        <p:txBody>
          <a:bodyPr wrap="square" rtlCol="0" anchor="ctr"/>
          <a:lstStyle/>
          <a:p>
            <a:pPr algn="ctr" indent="0" marL="0">
              <a:buNone/>
            </a:pPr>
            <a:r>
              <a:rPr lang="en-US" sz="900" dirty="0">
                <a:solidFill>
                  <a:srgbClr val="888888"/>
                </a:solidFill>
                <a:latin typeface="Calibri" pitchFamily="34" charset="0"/>
                <a:ea typeface="Calibri" pitchFamily="34" charset="-122"/>
                <a:cs typeface="Calibri" pitchFamily="34" charset="-120"/>
              </a:rPr>
              <a:t>/outlet/mo</a:t>
            </a:r>
            <a:endParaRPr lang="en-US" sz="900" dirty="0"/>
          </a:p>
        </p:txBody>
      </p:sp>
      <p:sp>
        <p:nvSpPr>
          <p:cNvPr id="30" name="Shape 28"/>
          <p:cNvSpPr/>
          <p:nvPr/>
        </p:nvSpPr>
        <p:spPr>
          <a:xfrm>
            <a:off x="4800600" y="2395728"/>
            <a:ext cx="1600200" cy="201168"/>
          </a:xfrm>
          <a:prstGeom prst="roundRect">
            <a:avLst>
              <a:gd name="adj" fmla="val 22727"/>
            </a:avLst>
          </a:prstGeom>
          <a:solidFill>
            <a:srgbClr val="222222"/>
          </a:solidFill>
          <a:ln w="12700">
            <a:solidFill>
              <a:srgbClr val="000000"/>
            </a:solidFill>
            <a:prstDash val="solid"/>
          </a:ln>
        </p:spPr>
      </p:sp>
      <p:sp>
        <p:nvSpPr>
          <p:cNvPr id="31" name="Text 29"/>
          <p:cNvSpPr/>
          <p:nvPr/>
        </p:nvSpPr>
        <p:spPr>
          <a:xfrm>
            <a:off x="4800600" y="2386584"/>
            <a:ext cx="1600200" cy="219456"/>
          </a:xfrm>
          <a:prstGeom prst="rect">
            <a:avLst/>
          </a:prstGeom>
          <a:noFill/>
          <a:ln/>
        </p:spPr>
        <p:txBody>
          <a:bodyPr wrap="square" rtlCol="0" anchor="ctr"/>
          <a:lstStyle/>
          <a:p>
            <a:pPr algn="ctr" indent="0" marL="0">
              <a:buNone/>
            </a:pPr>
            <a:r>
              <a:rPr lang="en-US" sz="700" b="1" dirty="0">
                <a:solidFill>
                  <a:srgbClr val="888888"/>
                </a:solidFill>
                <a:latin typeface="Calibri" pitchFamily="34" charset="0"/>
                <a:ea typeface="Calibri" pitchFamily="34" charset="-122"/>
                <a:cs typeface="Calibri" pitchFamily="34" charset="-120"/>
              </a:rPr>
              <a:t>Hotels + Chains</a:t>
            </a:r>
            <a:endParaRPr lang="en-US" sz="700" dirty="0"/>
          </a:p>
        </p:txBody>
      </p:sp>
      <p:sp>
        <p:nvSpPr>
          <p:cNvPr id="32" name="Text 30"/>
          <p:cNvSpPr/>
          <p:nvPr/>
        </p:nvSpPr>
        <p:spPr>
          <a:xfrm>
            <a:off x="4727448" y="2697480"/>
            <a:ext cx="1783080" cy="310896"/>
          </a:xfrm>
          <a:prstGeom prst="rect">
            <a:avLst/>
          </a:prstGeom>
          <a:noFill/>
          <a:ln/>
        </p:spPr>
        <p:txBody>
          <a:bodyPr wrap="square" rtlCol="0" anchor="ctr"/>
          <a:lstStyle/>
          <a:p>
            <a:pPr indent="0" marL="0">
              <a:buNone/>
            </a:pPr>
            <a:r>
              <a:rPr lang="en-US" sz="850" dirty="0">
                <a:solidFill>
                  <a:srgbClr val="CCCCCC"/>
                </a:solidFill>
                <a:latin typeface="Calibri" pitchFamily="34" charset="0"/>
                <a:ea typeface="Calibri" pitchFamily="34" charset="-122"/>
                <a:cs typeface="Calibri" pitchFamily="34" charset="-120"/>
              </a:rPr>
              <a:t>✓  Everything in Growth</a:t>
            </a:r>
            <a:endParaRPr lang="en-US" sz="850" dirty="0"/>
          </a:p>
        </p:txBody>
      </p:sp>
      <p:sp>
        <p:nvSpPr>
          <p:cNvPr id="33" name="Text 31"/>
          <p:cNvSpPr/>
          <p:nvPr/>
        </p:nvSpPr>
        <p:spPr>
          <a:xfrm>
            <a:off x="4727448" y="3044952"/>
            <a:ext cx="1783080" cy="310896"/>
          </a:xfrm>
          <a:prstGeom prst="rect">
            <a:avLst/>
          </a:prstGeom>
          <a:noFill/>
          <a:ln/>
        </p:spPr>
        <p:txBody>
          <a:bodyPr wrap="square" rtlCol="0" anchor="ctr"/>
          <a:lstStyle/>
          <a:p>
            <a:pPr indent="0" marL="0">
              <a:buNone/>
            </a:pPr>
            <a:r>
              <a:rPr lang="en-US" sz="850" dirty="0">
                <a:solidFill>
                  <a:srgbClr val="CCCCCC"/>
                </a:solidFill>
                <a:latin typeface="Calibri" pitchFamily="34" charset="0"/>
                <a:ea typeface="Calibri" pitchFamily="34" charset="-122"/>
                <a:cs typeface="Calibri" pitchFamily="34" charset="-120"/>
              </a:rPr>
              <a:t>✓  Hotel room QR + billing</a:t>
            </a:r>
            <a:endParaRPr lang="en-US" sz="850" dirty="0"/>
          </a:p>
        </p:txBody>
      </p:sp>
      <p:sp>
        <p:nvSpPr>
          <p:cNvPr id="34" name="Text 32"/>
          <p:cNvSpPr/>
          <p:nvPr/>
        </p:nvSpPr>
        <p:spPr>
          <a:xfrm>
            <a:off x="4727448" y="3392424"/>
            <a:ext cx="1783080" cy="310896"/>
          </a:xfrm>
          <a:prstGeom prst="rect">
            <a:avLst/>
          </a:prstGeom>
          <a:noFill/>
          <a:ln/>
        </p:spPr>
        <p:txBody>
          <a:bodyPr wrap="square" rtlCol="0" anchor="ctr"/>
          <a:lstStyle/>
          <a:p>
            <a:pPr indent="0" marL="0">
              <a:buNone/>
            </a:pPr>
            <a:r>
              <a:rPr lang="en-US" sz="850" dirty="0">
                <a:solidFill>
                  <a:srgbClr val="CCCCCC"/>
                </a:solidFill>
                <a:latin typeface="Calibri" pitchFamily="34" charset="0"/>
                <a:ea typeface="Calibri" pitchFamily="34" charset="-122"/>
                <a:cs typeface="Calibri" pitchFamily="34" charset="-120"/>
              </a:rPr>
              <a:t>✓  Custom domain</a:t>
            </a:r>
            <a:endParaRPr lang="en-US" sz="850" dirty="0"/>
          </a:p>
        </p:txBody>
      </p:sp>
      <p:sp>
        <p:nvSpPr>
          <p:cNvPr id="35" name="Text 33"/>
          <p:cNvSpPr/>
          <p:nvPr/>
        </p:nvSpPr>
        <p:spPr>
          <a:xfrm>
            <a:off x="4727448" y="3739896"/>
            <a:ext cx="1783080" cy="310896"/>
          </a:xfrm>
          <a:prstGeom prst="rect">
            <a:avLst/>
          </a:prstGeom>
          <a:noFill/>
          <a:ln/>
        </p:spPr>
        <p:txBody>
          <a:bodyPr wrap="square" rtlCol="0" anchor="ctr"/>
          <a:lstStyle/>
          <a:p>
            <a:pPr indent="0" marL="0">
              <a:buNone/>
            </a:pPr>
            <a:r>
              <a:rPr lang="en-US" sz="850" dirty="0">
                <a:solidFill>
                  <a:srgbClr val="CCCCCC"/>
                </a:solidFill>
                <a:latin typeface="Calibri" pitchFamily="34" charset="0"/>
                <a:ea typeface="Calibri" pitchFamily="34" charset="-122"/>
                <a:cs typeface="Calibri" pitchFamily="34" charset="-120"/>
              </a:rPr>
              <a:t>✓  White-label option</a:t>
            </a:r>
            <a:endParaRPr lang="en-US" sz="850" dirty="0"/>
          </a:p>
        </p:txBody>
      </p:sp>
      <p:sp>
        <p:nvSpPr>
          <p:cNvPr id="36" name="Text 34"/>
          <p:cNvSpPr/>
          <p:nvPr/>
        </p:nvSpPr>
        <p:spPr>
          <a:xfrm>
            <a:off x="4727448" y="4087368"/>
            <a:ext cx="1783080" cy="310896"/>
          </a:xfrm>
          <a:prstGeom prst="rect">
            <a:avLst/>
          </a:prstGeom>
          <a:noFill/>
          <a:ln/>
        </p:spPr>
        <p:txBody>
          <a:bodyPr wrap="square" rtlCol="0" anchor="ctr"/>
          <a:lstStyle/>
          <a:p>
            <a:pPr indent="0" marL="0">
              <a:buNone/>
            </a:pPr>
            <a:r>
              <a:rPr lang="en-US" sz="850" dirty="0">
                <a:solidFill>
                  <a:srgbClr val="CCCCCC"/>
                </a:solidFill>
                <a:latin typeface="Calibri" pitchFamily="34" charset="0"/>
                <a:ea typeface="Calibri" pitchFamily="34" charset="-122"/>
                <a:cs typeface="Calibri" pitchFamily="34" charset="-120"/>
              </a:rPr>
              <a:t>✓  Priority WhatsApp support</a:t>
            </a:r>
            <a:endParaRPr lang="en-US" sz="850" dirty="0"/>
          </a:p>
        </p:txBody>
      </p:sp>
      <p:sp>
        <p:nvSpPr>
          <p:cNvPr id="37" name="Shape 35"/>
          <p:cNvSpPr/>
          <p:nvPr/>
        </p:nvSpPr>
        <p:spPr>
          <a:xfrm>
            <a:off x="6766560" y="1188720"/>
            <a:ext cx="1965960" cy="3520440"/>
          </a:xfrm>
          <a:prstGeom prst="roundRect">
            <a:avLst>
              <a:gd name="adj" fmla="val 4651"/>
            </a:avLst>
          </a:prstGeom>
          <a:solidFill>
            <a:srgbClr val="1A1A1A"/>
          </a:solidFill>
          <a:ln w="12700">
            <a:solidFill>
              <a:srgbClr val="333333"/>
            </a:solidFill>
            <a:prstDash val="solid"/>
          </a:ln>
        </p:spPr>
      </p:sp>
      <p:sp>
        <p:nvSpPr>
          <p:cNvPr id="38" name="Text 36"/>
          <p:cNvSpPr/>
          <p:nvPr/>
        </p:nvSpPr>
        <p:spPr>
          <a:xfrm>
            <a:off x="6839712" y="1280160"/>
            <a:ext cx="1819656" cy="292608"/>
          </a:xfrm>
          <a:prstGeom prst="rect">
            <a:avLst/>
          </a:prstGeom>
          <a:noFill/>
          <a:ln/>
        </p:spPr>
        <p:txBody>
          <a:bodyPr wrap="square" rtlCol="0" anchor="ctr"/>
          <a:lstStyle/>
          <a:p>
            <a:pPr algn="ctr" indent="0" marL="0">
              <a:buNone/>
            </a:pPr>
            <a:r>
              <a:rPr lang="en-US" sz="1000" b="1" dirty="0">
                <a:solidFill>
                  <a:srgbClr val="CCCCCC"/>
                </a:solidFill>
                <a:latin typeface="Calibri" pitchFamily="34" charset="0"/>
                <a:ea typeface="Calibri" pitchFamily="34" charset="-122"/>
                <a:cs typeface="Calibri" pitchFamily="34" charset="-120"/>
              </a:rPr>
              <a:t>SUPPLIER</a:t>
            </a:r>
            <a:endParaRPr lang="en-US" sz="1000" dirty="0"/>
          </a:p>
        </p:txBody>
      </p:sp>
      <p:sp>
        <p:nvSpPr>
          <p:cNvPr id="39" name="Text 37"/>
          <p:cNvSpPr/>
          <p:nvPr/>
        </p:nvSpPr>
        <p:spPr>
          <a:xfrm>
            <a:off x="6839712" y="1600200"/>
            <a:ext cx="1819656" cy="5029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Rs.1,499×</a:t>
            </a:r>
            <a:endParaRPr lang="en-US" sz="2200" dirty="0"/>
          </a:p>
        </p:txBody>
      </p:sp>
      <p:sp>
        <p:nvSpPr>
          <p:cNvPr id="40" name="Text 38"/>
          <p:cNvSpPr/>
          <p:nvPr/>
        </p:nvSpPr>
        <p:spPr>
          <a:xfrm>
            <a:off x="6839712" y="2121408"/>
            <a:ext cx="1819656" cy="228600"/>
          </a:xfrm>
          <a:prstGeom prst="rect">
            <a:avLst/>
          </a:prstGeom>
          <a:noFill/>
          <a:ln/>
        </p:spPr>
        <p:txBody>
          <a:bodyPr wrap="square" rtlCol="0" anchor="ctr"/>
          <a:lstStyle/>
          <a:p>
            <a:pPr algn="ctr" indent="0" marL="0">
              <a:buNone/>
            </a:pPr>
            <a:r>
              <a:rPr lang="en-US" sz="900" dirty="0">
                <a:solidFill>
                  <a:srgbClr val="888888"/>
                </a:solidFill>
                <a:latin typeface="Calibri" pitchFamily="34" charset="0"/>
                <a:ea typeface="Calibri" pitchFamily="34" charset="-122"/>
                <a:cs typeface="Calibri" pitchFamily="34" charset="-120"/>
              </a:rPr>
              <a:t>outlet/mo (5+)</a:t>
            </a:r>
            <a:endParaRPr lang="en-US" sz="900" dirty="0"/>
          </a:p>
        </p:txBody>
      </p:sp>
      <p:sp>
        <p:nvSpPr>
          <p:cNvPr id="41" name="Shape 39"/>
          <p:cNvSpPr/>
          <p:nvPr/>
        </p:nvSpPr>
        <p:spPr>
          <a:xfrm>
            <a:off x="6949440" y="2395728"/>
            <a:ext cx="1600200" cy="201168"/>
          </a:xfrm>
          <a:prstGeom prst="roundRect">
            <a:avLst>
              <a:gd name="adj" fmla="val 22727"/>
            </a:avLst>
          </a:prstGeom>
          <a:solidFill>
            <a:srgbClr val="222222"/>
          </a:solidFill>
          <a:ln w="12700">
            <a:solidFill>
              <a:srgbClr val="000000"/>
            </a:solidFill>
            <a:prstDash val="solid"/>
          </a:ln>
        </p:spPr>
      </p:sp>
      <p:sp>
        <p:nvSpPr>
          <p:cNvPr id="42" name="Text 40"/>
          <p:cNvSpPr/>
          <p:nvPr/>
        </p:nvSpPr>
        <p:spPr>
          <a:xfrm>
            <a:off x="6949440" y="2386584"/>
            <a:ext cx="1600200" cy="219456"/>
          </a:xfrm>
          <a:prstGeom prst="rect">
            <a:avLst/>
          </a:prstGeom>
          <a:noFill/>
          <a:ln/>
        </p:spPr>
        <p:txBody>
          <a:bodyPr wrap="square" rtlCol="0" anchor="ctr"/>
          <a:lstStyle/>
          <a:p>
            <a:pPr algn="ctr" indent="0" marL="0">
              <a:buNone/>
            </a:pPr>
            <a:r>
              <a:rPr lang="en-US" sz="700" b="1" dirty="0">
                <a:solidFill>
                  <a:srgbClr val="888888"/>
                </a:solidFill>
                <a:latin typeface="Calibri" pitchFamily="34" charset="0"/>
                <a:ea typeface="Calibri" pitchFamily="34" charset="-122"/>
                <a:cs typeface="Calibri" pitchFamily="34" charset="-120"/>
              </a:rPr>
              <a:t>Chain / Mall</a:t>
            </a:r>
            <a:endParaRPr lang="en-US" sz="700" dirty="0"/>
          </a:p>
        </p:txBody>
      </p:sp>
      <p:sp>
        <p:nvSpPr>
          <p:cNvPr id="43" name="Text 41"/>
          <p:cNvSpPr/>
          <p:nvPr/>
        </p:nvSpPr>
        <p:spPr>
          <a:xfrm>
            <a:off x="6876288" y="2697480"/>
            <a:ext cx="1783080" cy="310896"/>
          </a:xfrm>
          <a:prstGeom prst="rect">
            <a:avLst/>
          </a:prstGeom>
          <a:noFill/>
          <a:ln/>
        </p:spPr>
        <p:txBody>
          <a:bodyPr wrap="square" rtlCol="0" anchor="ctr"/>
          <a:lstStyle/>
          <a:p>
            <a:pPr indent="0" marL="0">
              <a:buNone/>
            </a:pPr>
            <a:r>
              <a:rPr lang="en-US" sz="850" dirty="0">
                <a:solidFill>
                  <a:srgbClr val="CCCCCC"/>
                </a:solidFill>
                <a:latin typeface="Calibri" pitchFamily="34" charset="0"/>
                <a:ea typeface="Calibri" pitchFamily="34" charset="-122"/>
                <a:cs typeface="Calibri" pitchFamily="34" charset="-120"/>
              </a:rPr>
              <a:t>✓  Central chain dashboard</a:t>
            </a:r>
            <a:endParaRPr lang="en-US" sz="850" dirty="0"/>
          </a:p>
        </p:txBody>
      </p:sp>
      <p:sp>
        <p:nvSpPr>
          <p:cNvPr id="44" name="Text 42"/>
          <p:cNvSpPr/>
          <p:nvPr/>
        </p:nvSpPr>
        <p:spPr>
          <a:xfrm>
            <a:off x="6876288" y="3044952"/>
            <a:ext cx="1783080" cy="310896"/>
          </a:xfrm>
          <a:prstGeom prst="rect">
            <a:avLst/>
          </a:prstGeom>
          <a:noFill/>
          <a:ln/>
        </p:spPr>
        <p:txBody>
          <a:bodyPr wrap="square" rtlCol="0" anchor="ctr"/>
          <a:lstStyle/>
          <a:p>
            <a:pPr indent="0" marL="0">
              <a:buNone/>
            </a:pPr>
            <a:r>
              <a:rPr lang="en-US" sz="850" dirty="0">
                <a:solidFill>
                  <a:srgbClr val="CCCCCC"/>
                </a:solidFill>
                <a:latin typeface="Calibri" pitchFamily="34" charset="0"/>
                <a:ea typeface="Calibri" pitchFamily="34" charset="-122"/>
                <a:cs typeface="Calibri" pitchFamily="34" charset="-120"/>
              </a:rPr>
              <a:t>✓  Menu sync across outlets</a:t>
            </a:r>
            <a:endParaRPr lang="en-US" sz="850" dirty="0"/>
          </a:p>
        </p:txBody>
      </p:sp>
      <p:sp>
        <p:nvSpPr>
          <p:cNvPr id="45" name="Text 43"/>
          <p:cNvSpPr/>
          <p:nvPr/>
        </p:nvSpPr>
        <p:spPr>
          <a:xfrm>
            <a:off x="6876288" y="3392424"/>
            <a:ext cx="1783080" cy="310896"/>
          </a:xfrm>
          <a:prstGeom prst="rect">
            <a:avLst/>
          </a:prstGeom>
          <a:noFill/>
          <a:ln/>
        </p:spPr>
        <p:txBody>
          <a:bodyPr wrap="square" rtlCol="0" anchor="ctr"/>
          <a:lstStyle/>
          <a:p>
            <a:pPr indent="0" marL="0">
              <a:buNone/>
            </a:pPr>
            <a:r>
              <a:rPr lang="en-US" sz="850" dirty="0">
                <a:solidFill>
                  <a:srgbClr val="CCCCCC"/>
                </a:solidFill>
                <a:latin typeface="Calibri" pitchFamily="34" charset="0"/>
                <a:ea typeface="Calibri" pitchFamily="34" charset="-122"/>
                <a:cs typeface="Calibri" pitchFamily="34" charset="-120"/>
              </a:rPr>
              <a:t>✓  Brand analytics</a:t>
            </a:r>
            <a:endParaRPr lang="en-US" sz="850" dirty="0"/>
          </a:p>
        </p:txBody>
      </p:sp>
      <p:sp>
        <p:nvSpPr>
          <p:cNvPr id="46" name="Text 44"/>
          <p:cNvSpPr/>
          <p:nvPr/>
        </p:nvSpPr>
        <p:spPr>
          <a:xfrm>
            <a:off x="6876288" y="3739896"/>
            <a:ext cx="1783080" cy="310896"/>
          </a:xfrm>
          <a:prstGeom prst="rect">
            <a:avLst/>
          </a:prstGeom>
          <a:noFill/>
          <a:ln/>
        </p:spPr>
        <p:txBody>
          <a:bodyPr wrap="square" rtlCol="0" anchor="ctr"/>
          <a:lstStyle/>
          <a:p>
            <a:pPr indent="0" marL="0">
              <a:buNone/>
            </a:pPr>
            <a:r>
              <a:rPr lang="en-US" sz="850" dirty="0">
                <a:solidFill>
                  <a:srgbClr val="CCCCCC"/>
                </a:solidFill>
                <a:latin typeface="Calibri" pitchFamily="34" charset="0"/>
                <a:ea typeface="Calibri" pitchFamily="34" charset="-122"/>
                <a:cs typeface="Calibri" pitchFamily="34" charset="-120"/>
              </a:rPr>
              <a:t>✓  Multi-city management</a:t>
            </a:r>
            <a:endParaRPr lang="en-US" sz="850" dirty="0"/>
          </a:p>
        </p:txBody>
      </p:sp>
      <p:sp>
        <p:nvSpPr>
          <p:cNvPr id="47" name="Text 45"/>
          <p:cNvSpPr/>
          <p:nvPr/>
        </p:nvSpPr>
        <p:spPr>
          <a:xfrm>
            <a:off x="6876288" y="4087368"/>
            <a:ext cx="1783080" cy="310896"/>
          </a:xfrm>
          <a:prstGeom prst="rect">
            <a:avLst/>
          </a:prstGeom>
          <a:noFill/>
          <a:ln/>
        </p:spPr>
        <p:txBody>
          <a:bodyPr wrap="square" rtlCol="0" anchor="ctr"/>
          <a:lstStyle/>
          <a:p>
            <a:pPr indent="0" marL="0">
              <a:buNone/>
            </a:pPr>
            <a:r>
              <a:rPr lang="en-US" sz="850" dirty="0">
                <a:solidFill>
                  <a:srgbClr val="CCCCCC"/>
                </a:solidFill>
                <a:latin typeface="Calibri" pitchFamily="34" charset="0"/>
                <a:ea typeface="Calibri" pitchFamily="34" charset="-122"/>
                <a:cs typeface="Calibri" pitchFamily="34" charset="-120"/>
              </a:rPr>
              <a:t>✓  Dedicated account manager</a:t>
            </a:r>
            <a:endParaRPr lang="en-US" sz="850" dirty="0"/>
          </a:p>
        </p:txBody>
      </p:sp>
      <p:sp>
        <p:nvSpPr>
          <p:cNvPr id="48" name="Text 46"/>
          <p:cNvSpPr/>
          <p:nvPr/>
        </p:nvSpPr>
        <p:spPr>
          <a:xfrm>
            <a:off x="365760" y="4800600"/>
            <a:ext cx="8412480" cy="201168"/>
          </a:xfrm>
          <a:prstGeom prst="rect">
            <a:avLst/>
          </a:prstGeom>
          <a:noFill/>
          <a:ln/>
        </p:spPr>
        <p:txBody>
          <a:bodyPr wrap="square" rtlCol="0" anchor="ctr"/>
          <a:lstStyle/>
          <a:p>
            <a:pPr algn="ctr" indent="0" marL="0">
              <a:buNone/>
            </a:pPr>
            <a:r>
              <a:rPr lang="en-US" sz="850" i="1" dirty="0">
                <a:solidFill>
                  <a:srgbClr val="888888"/>
                </a:solidFill>
                <a:latin typeface="Calibri" pitchFamily="34" charset="0"/>
                <a:ea typeface="Calibri" pitchFamily="34" charset="-122"/>
                <a:cs typeface="Calibri" pitchFamily="34" charset="-120"/>
              </a:rPr>
              <a:t>+ 0.5% transaction fee on online orders (waived on Growth+ with own Razorpay account)</a:t>
            </a:r>
            <a:endParaRPr lang="en-US" sz="850" dirty="0"/>
          </a:p>
        </p:txBody>
      </p:sp>
      <p:sp>
        <p:nvSpPr>
          <p:cNvPr id="49" name="Text 47"/>
          <p:cNvSpPr/>
          <p:nvPr/>
        </p:nvSpPr>
        <p:spPr>
          <a:xfrm>
            <a:off x="365760" y="4846320"/>
            <a:ext cx="6400800" cy="182880"/>
          </a:xfrm>
          <a:prstGeom prst="rect">
            <a:avLst/>
          </a:prstGeom>
          <a:noFill/>
          <a:ln/>
        </p:spPr>
        <p:txBody>
          <a:bodyPr wrap="square" rtlCol="0" anchor="ctr"/>
          <a:lstStyle/>
          <a:p>
            <a:pPr algn="l" indent="0" marL="0">
              <a:buNone/>
            </a:pPr>
            <a:r>
              <a:rPr lang="en-US" sz="800" dirty="0">
                <a:solidFill>
                  <a:srgbClr val="888888"/>
                </a:solidFill>
                <a:latin typeface="Calibri" pitchFamily="34" charset="0"/>
                <a:ea typeface="Calibri" pitchFamily="34" charset="-122"/>
                <a:cs typeface="Calibri" pitchFamily="34" charset="-120"/>
              </a:rPr>
              <a:t>aviqr.com  ·  Confidential  ·  June 2026</a:t>
            </a:r>
            <a:endParaRPr lang="en-US" sz="800" dirty="0"/>
          </a:p>
        </p:txBody>
      </p:sp>
      <p:sp>
        <p:nvSpPr>
          <p:cNvPr id="50" name="Text 48"/>
          <p:cNvSpPr/>
          <p:nvPr/>
        </p:nvSpPr>
        <p:spPr>
          <a:xfrm>
            <a:off x="7772400" y="4846320"/>
            <a:ext cx="914400" cy="18288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10 / 18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rtlCol="0" anchor="ctr"/>
          <a:lstStyle/>
          <a:p>
            <a:pPr indent="0" marL="0">
              <a:buNone/>
            </a:pPr>
            <a:r>
              <a:rPr lang="en-US" sz="900" b="1" spc="400" kern="0" dirty="0">
                <a:solidFill>
                  <a:srgbClr val="00B37D"/>
                </a:solidFill>
                <a:latin typeface="Calibri" pitchFamily="34" charset="0"/>
                <a:ea typeface="Calibri" pitchFamily="34" charset="-122"/>
                <a:cs typeface="Calibri" pitchFamily="34" charset="-120"/>
              </a:rPr>
              <a:t>TRACTION</a:t>
            </a:r>
            <a:endParaRPr lang="en-US" sz="900" dirty="0"/>
          </a:p>
        </p:txBody>
      </p:sp>
      <p:sp>
        <p:nvSpPr>
          <p:cNvPr id="3" name="Text 1"/>
          <p:cNvSpPr/>
          <p:nvPr/>
        </p:nvSpPr>
        <p:spPr>
          <a:xfrm>
            <a:off x="365760" y="502920"/>
            <a:ext cx="822960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Early signal is strong.</a:t>
            </a:r>
            <a:endParaRPr lang="en-US" sz="2800" dirty="0"/>
          </a:p>
        </p:txBody>
      </p:sp>
      <p:sp>
        <p:nvSpPr>
          <p:cNvPr id="4" name="Shape 2"/>
          <p:cNvSpPr/>
          <p:nvPr/>
        </p:nvSpPr>
        <p:spPr>
          <a:xfrm>
            <a:off x="320040" y="1143000"/>
            <a:ext cx="1965960" cy="1188720"/>
          </a:xfrm>
          <a:prstGeom prst="roundRect">
            <a:avLst>
              <a:gd name="adj" fmla="val 7692"/>
            </a:avLst>
          </a:prstGeom>
          <a:solidFill>
            <a:srgbClr val="1A1A1A"/>
          </a:solidFill>
          <a:ln w="12700">
            <a:solidFill>
              <a:srgbClr val="00B37D"/>
            </a:solidFill>
            <a:prstDash val="solid"/>
          </a:ln>
          <a:effectLst>
            <a:outerShdw sx="100000" sy="100000" kx="0" ky="0" algn="bl" rotWithShape="0" blurRad="127000" dist="25400" dir="2700000">
              <a:srgbClr val="00B37D">
                <a:alpha val="30000"/>
              </a:srgbClr>
            </a:outerShdw>
          </a:effectLst>
        </p:spPr>
      </p:sp>
      <p:sp>
        <p:nvSpPr>
          <p:cNvPr id="5" name="Text 3"/>
          <p:cNvSpPr/>
          <p:nvPr/>
        </p:nvSpPr>
        <p:spPr>
          <a:xfrm>
            <a:off x="365760" y="1234440"/>
            <a:ext cx="1874520" cy="594360"/>
          </a:xfrm>
          <a:prstGeom prst="rect">
            <a:avLst/>
          </a:prstGeom>
          <a:noFill/>
          <a:ln/>
        </p:spPr>
        <p:txBody>
          <a:bodyPr wrap="square" rtlCol="0" anchor="ctr"/>
          <a:lstStyle/>
          <a:p>
            <a:pPr algn="ctr" indent="0" marL="0">
              <a:buNone/>
            </a:pPr>
            <a:r>
              <a:rPr lang="en-US" sz="2800" b="1" dirty="0">
                <a:solidFill>
                  <a:srgbClr val="00B37D"/>
                </a:solidFill>
                <a:latin typeface="Calibri" pitchFamily="34" charset="0"/>
                <a:ea typeface="Calibri" pitchFamily="34" charset="-122"/>
                <a:cs typeface="Calibri" pitchFamily="34" charset="-120"/>
              </a:rPr>
              <a:t>10</a:t>
            </a:r>
            <a:endParaRPr lang="en-US" sz="2800" dirty="0"/>
          </a:p>
        </p:txBody>
      </p:sp>
      <p:sp>
        <p:nvSpPr>
          <p:cNvPr id="6" name="Text 4"/>
          <p:cNvSpPr/>
          <p:nvPr/>
        </p:nvSpPr>
        <p:spPr>
          <a:xfrm>
            <a:off x="365760" y="1828800"/>
            <a:ext cx="1874520" cy="320040"/>
          </a:xfrm>
          <a:prstGeom prst="rect">
            <a:avLst/>
          </a:prstGeom>
          <a:noFill/>
          <a:ln/>
        </p:spPr>
        <p:txBody>
          <a:bodyPr wrap="square" rtlCol="0" anchor="ctr"/>
          <a:lstStyle/>
          <a:p>
            <a:pPr algn="ctr" indent="0" marL="0">
              <a:buNone/>
            </a:pPr>
            <a:r>
              <a:rPr lang="en-US" sz="900" dirty="0">
                <a:solidFill>
                  <a:srgbClr val="CCCCCC"/>
                </a:solidFill>
                <a:latin typeface="Calibri" pitchFamily="34" charset="0"/>
                <a:ea typeface="Calibri" pitchFamily="34" charset="-122"/>
                <a:cs typeface="Calibri" pitchFamily="34" charset="-120"/>
              </a:rPr>
              <a:t>Pilot outlets live</a:t>
            </a:r>
            <a:endParaRPr lang="en-US" sz="900" dirty="0"/>
          </a:p>
        </p:txBody>
      </p:sp>
      <p:sp>
        <p:nvSpPr>
          <p:cNvPr id="7" name="Shape 5"/>
          <p:cNvSpPr/>
          <p:nvPr/>
        </p:nvSpPr>
        <p:spPr>
          <a:xfrm>
            <a:off x="2468880" y="1143000"/>
            <a:ext cx="1965960" cy="1188720"/>
          </a:xfrm>
          <a:prstGeom prst="roundRect">
            <a:avLst>
              <a:gd name="adj" fmla="val 7692"/>
            </a:avLst>
          </a:prstGeom>
          <a:solidFill>
            <a:srgbClr val="1A1A1A"/>
          </a:solidFill>
          <a:ln w="12700">
            <a:solidFill>
              <a:srgbClr val="00B37D"/>
            </a:solidFill>
            <a:prstDash val="solid"/>
          </a:ln>
          <a:effectLst>
            <a:outerShdw sx="100000" sy="100000" kx="0" ky="0" algn="bl" rotWithShape="0" blurRad="127000" dist="25400" dir="2700000">
              <a:srgbClr val="00B37D">
                <a:alpha val="30000"/>
              </a:srgbClr>
            </a:outerShdw>
          </a:effectLst>
        </p:spPr>
      </p:sp>
      <p:sp>
        <p:nvSpPr>
          <p:cNvPr id="8" name="Text 6"/>
          <p:cNvSpPr/>
          <p:nvPr/>
        </p:nvSpPr>
        <p:spPr>
          <a:xfrm>
            <a:off x="2514600" y="1234440"/>
            <a:ext cx="1874520" cy="594360"/>
          </a:xfrm>
          <a:prstGeom prst="rect">
            <a:avLst/>
          </a:prstGeom>
          <a:noFill/>
          <a:ln/>
        </p:spPr>
        <p:txBody>
          <a:bodyPr wrap="square" rtlCol="0" anchor="ctr"/>
          <a:lstStyle/>
          <a:p>
            <a:pPr algn="ctr" indent="0" marL="0">
              <a:buNone/>
            </a:pPr>
            <a:r>
              <a:rPr lang="en-US" sz="2800" b="1" dirty="0">
                <a:solidFill>
                  <a:srgbClr val="00B37D"/>
                </a:solidFill>
                <a:latin typeface="Calibri" pitchFamily="34" charset="0"/>
                <a:ea typeface="Calibri" pitchFamily="34" charset="-122"/>
                <a:cs typeface="Calibri" pitchFamily="34" charset="-120"/>
              </a:rPr>
              <a:t>94%</a:t>
            </a:r>
            <a:endParaRPr lang="en-US" sz="2800" dirty="0"/>
          </a:p>
        </p:txBody>
      </p:sp>
      <p:sp>
        <p:nvSpPr>
          <p:cNvPr id="9" name="Text 7"/>
          <p:cNvSpPr/>
          <p:nvPr/>
        </p:nvSpPr>
        <p:spPr>
          <a:xfrm>
            <a:off x="2514600" y="1828800"/>
            <a:ext cx="1874520" cy="320040"/>
          </a:xfrm>
          <a:prstGeom prst="rect">
            <a:avLst/>
          </a:prstGeom>
          <a:noFill/>
          <a:ln/>
        </p:spPr>
        <p:txBody>
          <a:bodyPr wrap="square" rtlCol="0" anchor="ctr"/>
          <a:lstStyle/>
          <a:p>
            <a:pPr algn="ctr" indent="0" marL="0">
              <a:buNone/>
            </a:pPr>
            <a:r>
              <a:rPr lang="en-US" sz="900" dirty="0">
                <a:solidFill>
                  <a:srgbClr val="CCCCCC"/>
                </a:solidFill>
                <a:latin typeface="Calibri" pitchFamily="34" charset="0"/>
                <a:ea typeface="Calibri" pitchFamily="34" charset="-122"/>
                <a:cs typeface="Calibri" pitchFamily="34" charset="-120"/>
              </a:rPr>
              <a:t>Retention at 8 weeks</a:t>
            </a:r>
            <a:endParaRPr lang="en-US" sz="900" dirty="0"/>
          </a:p>
        </p:txBody>
      </p:sp>
      <p:sp>
        <p:nvSpPr>
          <p:cNvPr id="10" name="Shape 8"/>
          <p:cNvSpPr/>
          <p:nvPr/>
        </p:nvSpPr>
        <p:spPr>
          <a:xfrm>
            <a:off x="4617720" y="1143000"/>
            <a:ext cx="1965960" cy="1188720"/>
          </a:xfrm>
          <a:prstGeom prst="roundRect">
            <a:avLst>
              <a:gd name="adj" fmla="val 7692"/>
            </a:avLst>
          </a:prstGeom>
          <a:solidFill>
            <a:srgbClr val="1A1A1A"/>
          </a:solidFill>
          <a:ln w="12700">
            <a:solidFill>
              <a:srgbClr val="00B37D"/>
            </a:solidFill>
            <a:prstDash val="solid"/>
          </a:ln>
          <a:effectLst>
            <a:outerShdw sx="100000" sy="100000" kx="0" ky="0" algn="bl" rotWithShape="0" blurRad="127000" dist="25400" dir="2700000">
              <a:srgbClr val="00B37D">
                <a:alpha val="30000"/>
              </a:srgbClr>
            </a:outerShdw>
          </a:effectLst>
        </p:spPr>
      </p:sp>
      <p:sp>
        <p:nvSpPr>
          <p:cNvPr id="11" name="Text 9"/>
          <p:cNvSpPr/>
          <p:nvPr/>
        </p:nvSpPr>
        <p:spPr>
          <a:xfrm>
            <a:off x="4663440" y="1234440"/>
            <a:ext cx="1874520" cy="594360"/>
          </a:xfrm>
          <a:prstGeom prst="rect">
            <a:avLst/>
          </a:prstGeom>
          <a:noFill/>
          <a:ln/>
        </p:spPr>
        <p:txBody>
          <a:bodyPr wrap="square" rtlCol="0" anchor="ctr"/>
          <a:lstStyle/>
          <a:p>
            <a:pPr algn="ctr" indent="0" marL="0">
              <a:buNone/>
            </a:pPr>
            <a:r>
              <a:rPr lang="en-US" sz="2800" b="1" dirty="0">
                <a:solidFill>
                  <a:srgbClr val="00B37D"/>
                </a:solidFill>
                <a:latin typeface="Calibri" pitchFamily="34" charset="0"/>
                <a:ea typeface="Calibri" pitchFamily="34" charset="-122"/>
                <a:cs typeface="Calibri" pitchFamily="34" charset="-120"/>
              </a:rPr>
              <a:t>12 min</a:t>
            </a:r>
            <a:endParaRPr lang="en-US" sz="2800" dirty="0"/>
          </a:p>
        </p:txBody>
      </p:sp>
      <p:sp>
        <p:nvSpPr>
          <p:cNvPr id="12" name="Text 10"/>
          <p:cNvSpPr/>
          <p:nvPr/>
        </p:nvSpPr>
        <p:spPr>
          <a:xfrm>
            <a:off x="4663440" y="1828800"/>
            <a:ext cx="1874520" cy="320040"/>
          </a:xfrm>
          <a:prstGeom prst="rect">
            <a:avLst/>
          </a:prstGeom>
          <a:noFill/>
          <a:ln/>
        </p:spPr>
        <p:txBody>
          <a:bodyPr wrap="square" rtlCol="0" anchor="ctr"/>
          <a:lstStyle/>
          <a:p>
            <a:pPr algn="ctr" indent="0" marL="0">
              <a:buNone/>
            </a:pPr>
            <a:r>
              <a:rPr lang="en-US" sz="900" dirty="0">
                <a:solidFill>
                  <a:srgbClr val="CCCCCC"/>
                </a:solidFill>
                <a:latin typeface="Calibri" pitchFamily="34" charset="0"/>
                <a:ea typeface="Calibri" pitchFamily="34" charset="-122"/>
                <a:cs typeface="Calibri" pitchFamily="34" charset="-120"/>
              </a:rPr>
              <a:t>Median time to QR</a:t>
            </a:r>
            <a:endParaRPr lang="en-US" sz="900" dirty="0"/>
          </a:p>
        </p:txBody>
      </p:sp>
      <p:sp>
        <p:nvSpPr>
          <p:cNvPr id="13" name="Shape 11"/>
          <p:cNvSpPr/>
          <p:nvPr/>
        </p:nvSpPr>
        <p:spPr>
          <a:xfrm>
            <a:off x="6766560" y="1143000"/>
            <a:ext cx="1965960" cy="1188720"/>
          </a:xfrm>
          <a:prstGeom prst="roundRect">
            <a:avLst>
              <a:gd name="adj" fmla="val 7692"/>
            </a:avLst>
          </a:prstGeom>
          <a:solidFill>
            <a:srgbClr val="1A1A1A"/>
          </a:solidFill>
          <a:ln w="12700">
            <a:solidFill>
              <a:srgbClr val="00B37D"/>
            </a:solidFill>
            <a:prstDash val="solid"/>
          </a:ln>
          <a:effectLst>
            <a:outerShdw sx="100000" sy="100000" kx="0" ky="0" algn="bl" rotWithShape="0" blurRad="127000" dist="25400" dir="2700000">
              <a:srgbClr val="00B37D">
                <a:alpha val="30000"/>
              </a:srgbClr>
            </a:outerShdw>
          </a:effectLst>
        </p:spPr>
      </p:sp>
      <p:sp>
        <p:nvSpPr>
          <p:cNvPr id="14" name="Text 12"/>
          <p:cNvSpPr/>
          <p:nvPr/>
        </p:nvSpPr>
        <p:spPr>
          <a:xfrm>
            <a:off x="6812280" y="1234440"/>
            <a:ext cx="1874520" cy="594360"/>
          </a:xfrm>
          <a:prstGeom prst="rect">
            <a:avLst/>
          </a:prstGeom>
          <a:noFill/>
          <a:ln/>
        </p:spPr>
        <p:txBody>
          <a:bodyPr wrap="square" rtlCol="0" anchor="ctr"/>
          <a:lstStyle/>
          <a:p>
            <a:pPr algn="ctr" indent="0" marL="0">
              <a:buNone/>
            </a:pPr>
            <a:r>
              <a:rPr lang="en-US" sz="2800" b="1" dirty="0">
                <a:solidFill>
                  <a:srgbClr val="00B37D"/>
                </a:solidFill>
                <a:latin typeface="Calibri" pitchFamily="34" charset="0"/>
                <a:ea typeface="Calibri" pitchFamily="34" charset="-122"/>
                <a:cs typeface="Calibri" pitchFamily="34" charset="-120"/>
              </a:rPr>
              <a:t>Rs.3.2L</a:t>
            </a:r>
            <a:endParaRPr lang="en-US" sz="2800" dirty="0"/>
          </a:p>
        </p:txBody>
      </p:sp>
      <p:sp>
        <p:nvSpPr>
          <p:cNvPr id="15" name="Text 13"/>
          <p:cNvSpPr/>
          <p:nvPr/>
        </p:nvSpPr>
        <p:spPr>
          <a:xfrm>
            <a:off x="6812280" y="1828800"/>
            <a:ext cx="1874520" cy="320040"/>
          </a:xfrm>
          <a:prstGeom prst="rect">
            <a:avLst/>
          </a:prstGeom>
          <a:noFill/>
          <a:ln/>
        </p:spPr>
        <p:txBody>
          <a:bodyPr wrap="square" rtlCol="0" anchor="ctr"/>
          <a:lstStyle/>
          <a:p>
            <a:pPr algn="ctr" indent="0" marL="0">
              <a:buNone/>
            </a:pPr>
            <a:r>
              <a:rPr lang="en-US" sz="900" dirty="0">
                <a:solidFill>
                  <a:srgbClr val="CCCCCC"/>
                </a:solidFill>
                <a:latin typeface="Calibri" pitchFamily="34" charset="0"/>
                <a:ea typeface="Calibri" pitchFamily="34" charset="-122"/>
                <a:cs typeface="Calibri" pitchFamily="34" charset="-120"/>
              </a:rPr>
              <a:t>Pipeline ARR</a:t>
            </a:r>
            <a:endParaRPr lang="en-US" sz="900" dirty="0"/>
          </a:p>
        </p:txBody>
      </p:sp>
      <p:sp>
        <p:nvSpPr>
          <p:cNvPr id="16" name="Shape 14"/>
          <p:cNvSpPr/>
          <p:nvPr/>
        </p:nvSpPr>
        <p:spPr>
          <a:xfrm>
            <a:off x="320040" y="2514600"/>
            <a:ext cx="8503920" cy="1005840"/>
          </a:xfrm>
          <a:prstGeom prst="roundRect">
            <a:avLst>
              <a:gd name="adj" fmla="val 9091"/>
            </a:avLst>
          </a:prstGeom>
          <a:solidFill>
            <a:srgbClr val="1A1A1A"/>
          </a:solidFill>
          <a:ln w="12700">
            <a:solidFill>
              <a:srgbClr val="00B37D"/>
            </a:solidFill>
            <a:prstDash val="solid"/>
          </a:ln>
        </p:spPr>
      </p:sp>
      <p:sp>
        <p:nvSpPr>
          <p:cNvPr id="17" name="Text 15"/>
          <p:cNvSpPr/>
          <p:nvPr/>
        </p:nvSpPr>
        <p:spPr>
          <a:xfrm>
            <a:off x="411480" y="2487168"/>
            <a:ext cx="457200" cy="548640"/>
          </a:xfrm>
          <a:prstGeom prst="rect">
            <a:avLst/>
          </a:prstGeom>
          <a:noFill/>
          <a:ln/>
        </p:spPr>
        <p:txBody>
          <a:bodyPr wrap="square" rtlCol="0" anchor="ctr"/>
          <a:lstStyle/>
          <a:p>
            <a:pPr indent="0" marL="0">
              <a:buNone/>
            </a:pPr>
            <a:r>
              <a:rPr lang="en-US" sz="4800" dirty="0">
                <a:solidFill>
                  <a:srgbClr val="00B37D"/>
                </a:solidFill>
                <a:latin typeface="Calibri" pitchFamily="34" charset="0"/>
                <a:ea typeface="Calibri" pitchFamily="34" charset="-122"/>
                <a:cs typeface="Calibri" pitchFamily="34" charset="-120"/>
              </a:rPr>
              <a:t>"</a:t>
            </a:r>
            <a:endParaRPr lang="en-US" sz="4800" dirty="0"/>
          </a:p>
        </p:txBody>
      </p:sp>
      <p:sp>
        <p:nvSpPr>
          <p:cNvPr id="18" name="Text 16"/>
          <p:cNvSpPr/>
          <p:nvPr/>
        </p:nvSpPr>
        <p:spPr>
          <a:xfrm>
            <a:off x="777240" y="2606040"/>
            <a:ext cx="7132320" cy="548640"/>
          </a:xfrm>
          <a:prstGeom prst="rect">
            <a:avLst/>
          </a:prstGeom>
          <a:noFill/>
          <a:ln/>
        </p:spPr>
        <p:txBody>
          <a:bodyPr wrap="square"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We sent AviQR a photo of our menu on Tuesday morning. By Tuesday lunch, every table had a QR code customers were actually scanning. We never typed anything.</a:t>
            </a:r>
            <a:endParaRPr lang="en-US" sz="1100" dirty="0"/>
          </a:p>
        </p:txBody>
      </p:sp>
      <p:sp>
        <p:nvSpPr>
          <p:cNvPr id="19" name="Text 17"/>
          <p:cNvSpPr/>
          <p:nvPr/>
        </p:nvSpPr>
        <p:spPr>
          <a:xfrm>
            <a:off x="777240" y="3154680"/>
            <a:ext cx="7132320" cy="256032"/>
          </a:xfrm>
          <a:prstGeom prst="rect">
            <a:avLst/>
          </a:prstGeom>
          <a:noFill/>
          <a:ln/>
        </p:spPr>
        <p:txBody>
          <a:bodyPr wrap="square" rtlCol="0" anchor="ctr"/>
          <a:lstStyle/>
          <a:p>
            <a:pPr indent="0" marL="0">
              <a:buNone/>
            </a:pPr>
            <a:r>
              <a:rPr lang="en-US" sz="900" dirty="0">
                <a:solidFill>
                  <a:srgbClr val="00B37D"/>
                </a:solidFill>
                <a:latin typeface="Calibri" pitchFamily="34" charset="0"/>
                <a:ea typeface="Calibri" pitchFamily="34" charset="-122"/>
                <a:cs typeface="Calibri" pitchFamily="34" charset="-120"/>
              </a:rPr>
              <a:t>— Rajan K., Spice Route, Bengaluru</a:t>
            </a:r>
            <a:endParaRPr lang="en-US" sz="900" dirty="0"/>
          </a:p>
        </p:txBody>
      </p:sp>
      <p:sp>
        <p:nvSpPr>
          <p:cNvPr id="20" name="Shape 18"/>
          <p:cNvSpPr/>
          <p:nvPr/>
        </p:nvSpPr>
        <p:spPr>
          <a:xfrm>
            <a:off x="1097280" y="3749040"/>
            <a:ext cx="164592" cy="164592"/>
          </a:xfrm>
          <a:prstGeom prst="ellipse">
            <a:avLst/>
          </a:prstGeom>
          <a:solidFill>
            <a:srgbClr val="00B37D"/>
          </a:solidFill>
          <a:ln w="12700">
            <a:solidFill>
              <a:srgbClr val="00B37D"/>
            </a:solidFill>
            <a:prstDash val="solid"/>
          </a:ln>
        </p:spPr>
      </p:sp>
      <p:sp>
        <p:nvSpPr>
          <p:cNvPr id="21" name="Shape 19"/>
          <p:cNvSpPr/>
          <p:nvPr/>
        </p:nvSpPr>
        <p:spPr>
          <a:xfrm>
            <a:off x="1280160" y="3831336"/>
            <a:ext cx="2011680" cy="0"/>
          </a:xfrm>
          <a:prstGeom prst="line">
            <a:avLst/>
          </a:prstGeom>
          <a:noFill/>
          <a:ln w="12700">
            <a:solidFill>
              <a:srgbClr val="00B37D"/>
            </a:solidFill>
            <a:prstDash val="solid"/>
          </a:ln>
        </p:spPr>
      </p:sp>
      <p:sp>
        <p:nvSpPr>
          <p:cNvPr id="22" name="Text 20"/>
          <p:cNvSpPr/>
          <p:nvPr/>
        </p:nvSpPr>
        <p:spPr>
          <a:xfrm>
            <a:off x="457200" y="3977640"/>
            <a:ext cx="1920240" cy="228600"/>
          </a:xfrm>
          <a:prstGeom prst="rect">
            <a:avLst/>
          </a:prstGeom>
          <a:noFill/>
          <a:ln/>
        </p:spPr>
        <p:txBody>
          <a:bodyPr wrap="square" rtlCol="0" anchor="ctr"/>
          <a:lstStyle/>
          <a:p>
            <a:pPr algn="ctr" indent="0" marL="0">
              <a:buNone/>
            </a:pPr>
            <a:r>
              <a:rPr lang="en-US" sz="800" b="1" dirty="0">
                <a:solidFill>
                  <a:srgbClr val="00B37D"/>
                </a:solidFill>
                <a:latin typeface="Calibri" pitchFamily="34" charset="0"/>
                <a:ea typeface="Calibri" pitchFamily="34" charset="-122"/>
                <a:cs typeface="Calibri" pitchFamily="34" charset="-120"/>
              </a:rPr>
              <a:t>Month 1</a:t>
            </a:r>
            <a:endParaRPr lang="en-US" sz="800" dirty="0"/>
          </a:p>
        </p:txBody>
      </p:sp>
      <p:sp>
        <p:nvSpPr>
          <p:cNvPr id="23" name="Text 21"/>
          <p:cNvSpPr/>
          <p:nvPr/>
        </p:nvSpPr>
        <p:spPr>
          <a:xfrm>
            <a:off x="457200" y="4224528"/>
            <a:ext cx="1920240" cy="365760"/>
          </a:xfrm>
          <a:prstGeom prst="rect">
            <a:avLst/>
          </a:prstGeom>
          <a:noFill/>
          <a:ln/>
        </p:spPr>
        <p:txBody>
          <a:bodyPr wrap="square" rtlCol="0" anchor="ctr"/>
          <a:lstStyle/>
          <a:p>
            <a:pPr algn="ctr" indent="0" marL="0">
              <a:buNone/>
            </a:pPr>
            <a:r>
              <a:rPr lang="en-US" sz="900" dirty="0">
                <a:solidFill>
                  <a:srgbClr val="CCCCCC"/>
                </a:solidFill>
                <a:latin typeface="Calibri" pitchFamily="34" charset="0"/>
                <a:ea typeface="Calibri" pitchFamily="34" charset="-122"/>
                <a:cs typeface="Calibri" pitchFamily="34" charset="-120"/>
              </a:rPr>
              <a:t>Company filed</a:t>
            </a:r>
            <a:endParaRPr lang="en-US" sz="900" dirty="0"/>
          </a:p>
        </p:txBody>
      </p:sp>
      <p:sp>
        <p:nvSpPr>
          <p:cNvPr id="24" name="Shape 22"/>
          <p:cNvSpPr/>
          <p:nvPr/>
        </p:nvSpPr>
        <p:spPr>
          <a:xfrm>
            <a:off x="3246120" y="3749040"/>
            <a:ext cx="164592" cy="164592"/>
          </a:xfrm>
          <a:prstGeom prst="ellipse">
            <a:avLst/>
          </a:prstGeom>
          <a:solidFill>
            <a:srgbClr val="00B37D"/>
          </a:solidFill>
          <a:ln w="12700">
            <a:solidFill>
              <a:srgbClr val="00B37D"/>
            </a:solidFill>
            <a:prstDash val="solid"/>
          </a:ln>
        </p:spPr>
      </p:sp>
      <p:sp>
        <p:nvSpPr>
          <p:cNvPr id="25" name="Shape 23"/>
          <p:cNvSpPr/>
          <p:nvPr/>
        </p:nvSpPr>
        <p:spPr>
          <a:xfrm>
            <a:off x="3429000" y="3831336"/>
            <a:ext cx="2011680" cy="0"/>
          </a:xfrm>
          <a:prstGeom prst="line">
            <a:avLst/>
          </a:prstGeom>
          <a:noFill/>
          <a:ln w="12700">
            <a:solidFill>
              <a:srgbClr val="00B37D"/>
            </a:solidFill>
            <a:prstDash val="solid"/>
          </a:ln>
        </p:spPr>
      </p:sp>
      <p:sp>
        <p:nvSpPr>
          <p:cNvPr id="26" name="Text 24"/>
          <p:cNvSpPr/>
          <p:nvPr/>
        </p:nvSpPr>
        <p:spPr>
          <a:xfrm>
            <a:off x="2606040" y="3977640"/>
            <a:ext cx="1920240" cy="228600"/>
          </a:xfrm>
          <a:prstGeom prst="rect">
            <a:avLst/>
          </a:prstGeom>
          <a:noFill/>
          <a:ln/>
        </p:spPr>
        <p:txBody>
          <a:bodyPr wrap="square" rtlCol="0" anchor="ctr"/>
          <a:lstStyle/>
          <a:p>
            <a:pPr algn="ctr" indent="0" marL="0">
              <a:buNone/>
            </a:pPr>
            <a:r>
              <a:rPr lang="en-US" sz="800" b="1" dirty="0">
                <a:solidFill>
                  <a:srgbClr val="00B37D"/>
                </a:solidFill>
                <a:latin typeface="Calibri" pitchFamily="34" charset="0"/>
                <a:ea typeface="Calibri" pitchFamily="34" charset="-122"/>
                <a:cs typeface="Calibri" pitchFamily="34" charset="-120"/>
              </a:rPr>
              <a:t>Month 2</a:t>
            </a:r>
            <a:endParaRPr lang="en-US" sz="800" dirty="0"/>
          </a:p>
        </p:txBody>
      </p:sp>
      <p:sp>
        <p:nvSpPr>
          <p:cNvPr id="27" name="Text 25"/>
          <p:cNvSpPr/>
          <p:nvPr/>
        </p:nvSpPr>
        <p:spPr>
          <a:xfrm>
            <a:off x="2606040" y="4224528"/>
            <a:ext cx="1920240" cy="365760"/>
          </a:xfrm>
          <a:prstGeom prst="rect">
            <a:avLst/>
          </a:prstGeom>
          <a:noFill/>
          <a:ln/>
        </p:spPr>
        <p:txBody>
          <a:bodyPr wrap="square" rtlCol="0" anchor="ctr"/>
          <a:lstStyle/>
          <a:p>
            <a:pPr algn="ctr" indent="0" marL="0">
              <a:buNone/>
            </a:pPr>
            <a:r>
              <a:rPr lang="en-US" sz="900" dirty="0">
                <a:solidFill>
                  <a:srgbClr val="CCCCCC"/>
                </a:solidFill>
                <a:latin typeface="Calibri" pitchFamily="34" charset="0"/>
                <a:ea typeface="Calibri" pitchFamily="34" charset="-122"/>
                <a:cs typeface="Calibri" pitchFamily="34" charset="-120"/>
              </a:rPr>
              <a:t>AI OCR engine v1 live</a:t>
            </a:r>
            <a:endParaRPr lang="en-US" sz="900" dirty="0"/>
          </a:p>
        </p:txBody>
      </p:sp>
      <p:sp>
        <p:nvSpPr>
          <p:cNvPr id="28" name="Shape 26"/>
          <p:cNvSpPr/>
          <p:nvPr/>
        </p:nvSpPr>
        <p:spPr>
          <a:xfrm>
            <a:off x="5394960" y="3749040"/>
            <a:ext cx="164592" cy="164592"/>
          </a:xfrm>
          <a:prstGeom prst="ellipse">
            <a:avLst/>
          </a:prstGeom>
          <a:solidFill>
            <a:srgbClr val="00B37D"/>
          </a:solidFill>
          <a:ln w="12700">
            <a:solidFill>
              <a:srgbClr val="00B37D"/>
            </a:solidFill>
            <a:prstDash val="solid"/>
          </a:ln>
        </p:spPr>
      </p:sp>
      <p:sp>
        <p:nvSpPr>
          <p:cNvPr id="29" name="Shape 27"/>
          <p:cNvSpPr/>
          <p:nvPr/>
        </p:nvSpPr>
        <p:spPr>
          <a:xfrm>
            <a:off x="5577840" y="3831336"/>
            <a:ext cx="2011680" cy="0"/>
          </a:xfrm>
          <a:prstGeom prst="line">
            <a:avLst/>
          </a:prstGeom>
          <a:noFill/>
          <a:ln w="12700">
            <a:solidFill>
              <a:srgbClr val="00B37D"/>
            </a:solidFill>
            <a:prstDash val="solid"/>
          </a:ln>
        </p:spPr>
      </p:sp>
      <p:sp>
        <p:nvSpPr>
          <p:cNvPr id="30" name="Text 28"/>
          <p:cNvSpPr/>
          <p:nvPr/>
        </p:nvSpPr>
        <p:spPr>
          <a:xfrm>
            <a:off x="4754880" y="3977640"/>
            <a:ext cx="1920240" cy="228600"/>
          </a:xfrm>
          <a:prstGeom prst="rect">
            <a:avLst/>
          </a:prstGeom>
          <a:noFill/>
          <a:ln/>
        </p:spPr>
        <p:txBody>
          <a:bodyPr wrap="square" rtlCol="0" anchor="ctr"/>
          <a:lstStyle/>
          <a:p>
            <a:pPr algn="ctr" indent="0" marL="0">
              <a:buNone/>
            </a:pPr>
            <a:r>
              <a:rPr lang="en-US" sz="800" b="1" dirty="0">
                <a:solidFill>
                  <a:srgbClr val="00B37D"/>
                </a:solidFill>
                <a:latin typeface="Calibri" pitchFamily="34" charset="0"/>
                <a:ea typeface="Calibri" pitchFamily="34" charset="-122"/>
                <a:cs typeface="Calibri" pitchFamily="34" charset="-120"/>
              </a:rPr>
              <a:t>Month 3</a:t>
            </a:r>
            <a:endParaRPr lang="en-US" sz="800" dirty="0"/>
          </a:p>
        </p:txBody>
      </p:sp>
      <p:sp>
        <p:nvSpPr>
          <p:cNvPr id="31" name="Text 29"/>
          <p:cNvSpPr/>
          <p:nvPr/>
        </p:nvSpPr>
        <p:spPr>
          <a:xfrm>
            <a:off x="4754880" y="4224528"/>
            <a:ext cx="1920240" cy="365760"/>
          </a:xfrm>
          <a:prstGeom prst="rect">
            <a:avLst/>
          </a:prstGeom>
          <a:noFill/>
          <a:ln/>
        </p:spPr>
        <p:txBody>
          <a:bodyPr wrap="square" rtlCol="0" anchor="ctr"/>
          <a:lstStyle/>
          <a:p>
            <a:pPr algn="ctr" indent="0" marL="0">
              <a:buNone/>
            </a:pPr>
            <a:r>
              <a:rPr lang="en-US" sz="900" dirty="0">
                <a:solidFill>
                  <a:srgbClr val="CCCCCC"/>
                </a:solidFill>
                <a:latin typeface="Calibri" pitchFamily="34" charset="0"/>
                <a:ea typeface="Calibri" pitchFamily="34" charset="-122"/>
                <a:cs typeface="Calibri" pitchFamily="34" charset="-120"/>
              </a:rPr>
              <a:t>10 pilots — full data</a:t>
            </a:r>
            <a:endParaRPr lang="en-US" sz="900" dirty="0"/>
          </a:p>
        </p:txBody>
      </p:sp>
      <p:sp>
        <p:nvSpPr>
          <p:cNvPr id="32" name="Shape 30"/>
          <p:cNvSpPr/>
          <p:nvPr/>
        </p:nvSpPr>
        <p:spPr>
          <a:xfrm>
            <a:off x="7543800" y="3749040"/>
            <a:ext cx="164592" cy="164592"/>
          </a:xfrm>
          <a:prstGeom prst="ellipse">
            <a:avLst/>
          </a:prstGeom>
          <a:solidFill>
            <a:srgbClr val="00B37D"/>
          </a:solidFill>
          <a:ln w="12700">
            <a:solidFill>
              <a:srgbClr val="00B37D"/>
            </a:solidFill>
            <a:prstDash val="solid"/>
          </a:ln>
        </p:spPr>
      </p:sp>
      <p:sp>
        <p:nvSpPr>
          <p:cNvPr id="33" name="Text 31"/>
          <p:cNvSpPr/>
          <p:nvPr/>
        </p:nvSpPr>
        <p:spPr>
          <a:xfrm>
            <a:off x="6903720" y="3977640"/>
            <a:ext cx="1920240" cy="228600"/>
          </a:xfrm>
          <a:prstGeom prst="rect">
            <a:avLst/>
          </a:prstGeom>
          <a:noFill/>
          <a:ln/>
        </p:spPr>
        <p:txBody>
          <a:bodyPr wrap="square" rtlCol="0" anchor="ctr"/>
          <a:lstStyle/>
          <a:p>
            <a:pPr algn="ctr" indent="0" marL="0">
              <a:buNone/>
            </a:pPr>
            <a:r>
              <a:rPr lang="en-US" sz="800" b="1" dirty="0">
                <a:solidFill>
                  <a:srgbClr val="00B37D"/>
                </a:solidFill>
                <a:latin typeface="Calibri" pitchFamily="34" charset="0"/>
                <a:ea typeface="Calibri" pitchFamily="34" charset="-122"/>
                <a:cs typeface="Calibri" pitchFamily="34" charset="-120"/>
              </a:rPr>
              <a:t>Month 6</a:t>
            </a:r>
            <a:endParaRPr lang="en-US" sz="800" dirty="0"/>
          </a:p>
        </p:txBody>
      </p:sp>
      <p:sp>
        <p:nvSpPr>
          <p:cNvPr id="34" name="Text 32"/>
          <p:cNvSpPr/>
          <p:nvPr/>
        </p:nvSpPr>
        <p:spPr>
          <a:xfrm>
            <a:off x="6903720" y="4224528"/>
            <a:ext cx="1920240" cy="365760"/>
          </a:xfrm>
          <a:prstGeom prst="rect">
            <a:avLst/>
          </a:prstGeom>
          <a:noFill/>
          <a:ln/>
        </p:spPr>
        <p:txBody>
          <a:bodyPr wrap="square" rtlCol="0" anchor="ctr"/>
          <a:lstStyle/>
          <a:p>
            <a:pPr algn="ctr" indent="0" marL="0">
              <a:buNone/>
            </a:pPr>
            <a:r>
              <a:rPr lang="en-US" sz="900" dirty="0">
                <a:solidFill>
                  <a:srgbClr val="CCCCCC"/>
                </a:solidFill>
                <a:latin typeface="Calibri" pitchFamily="34" charset="0"/>
                <a:ea typeface="Calibri" pitchFamily="34" charset="-122"/>
                <a:cs typeface="Calibri" pitchFamily="34" charset="-120"/>
              </a:rPr>
              <a:t>Paid launch release</a:t>
            </a:r>
            <a:endParaRPr lang="en-US" sz="900" dirty="0"/>
          </a:p>
        </p:txBody>
      </p:sp>
      <p:sp>
        <p:nvSpPr>
          <p:cNvPr id="35" name="Text 33"/>
          <p:cNvSpPr/>
          <p:nvPr/>
        </p:nvSpPr>
        <p:spPr>
          <a:xfrm>
            <a:off x="365760" y="4846320"/>
            <a:ext cx="6400800" cy="182880"/>
          </a:xfrm>
          <a:prstGeom prst="rect">
            <a:avLst/>
          </a:prstGeom>
          <a:noFill/>
          <a:ln/>
        </p:spPr>
        <p:txBody>
          <a:bodyPr wrap="square" rtlCol="0" anchor="ctr"/>
          <a:lstStyle/>
          <a:p>
            <a:pPr algn="l" indent="0" marL="0">
              <a:buNone/>
            </a:pPr>
            <a:r>
              <a:rPr lang="en-US" sz="800" dirty="0">
                <a:solidFill>
                  <a:srgbClr val="888888"/>
                </a:solidFill>
                <a:latin typeface="Calibri" pitchFamily="34" charset="0"/>
                <a:ea typeface="Calibri" pitchFamily="34" charset="-122"/>
                <a:cs typeface="Calibri" pitchFamily="34" charset="-120"/>
              </a:rPr>
              <a:t>aviqr.com  ·  Confidential  ·  June 2026</a:t>
            </a:r>
            <a:endParaRPr lang="en-US" sz="800" dirty="0"/>
          </a:p>
        </p:txBody>
      </p:sp>
      <p:sp>
        <p:nvSpPr>
          <p:cNvPr id="36" name="Text 34"/>
          <p:cNvSpPr/>
          <p:nvPr/>
        </p:nvSpPr>
        <p:spPr>
          <a:xfrm>
            <a:off x="7772400" y="4846320"/>
            <a:ext cx="914400" cy="18288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11 / 18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rtlCol="0" anchor="ctr"/>
          <a:lstStyle/>
          <a:p>
            <a:pPr indent="0" marL="0">
              <a:buNone/>
            </a:pPr>
            <a:r>
              <a:rPr lang="en-US" sz="900" b="1" spc="400" kern="0" dirty="0">
                <a:solidFill>
                  <a:srgbClr val="00B37D"/>
                </a:solidFill>
                <a:latin typeface="Calibri" pitchFamily="34" charset="0"/>
                <a:ea typeface="Calibri" pitchFamily="34" charset="-122"/>
                <a:cs typeface="Calibri" pitchFamily="34" charset="-120"/>
              </a:rPr>
              <a:t>GO-TO-MARKET</a:t>
            </a:r>
            <a:endParaRPr lang="en-US" sz="900" dirty="0"/>
          </a:p>
        </p:txBody>
      </p:sp>
      <p:sp>
        <p:nvSpPr>
          <p:cNvPr id="3" name="Text 1"/>
          <p:cNvSpPr/>
          <p:nvPr/>
        </p:nvSpPr>
        <p:spPr>
          <a:xfrm>
            <a:off x="365760" y="502920"/>
            <a:ext cx="82296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Restaurants without POS first. POS-equipped later.</a:t>
            </a:r>
            <a:endParaRPr lang="en-US" sz="2200" dirty="0"/>
          </a:p>
        </p:txBody>
      </p:sp>
      <p:sp>
        <p:nvSpPr>
          <p:cNvPr id="4" name="Shape 2"/>
          <p:cNvSpPr/>
          <p:nvPr/>
        </p:nvSpPr>
        <p:spPr>
          <a:xfrm>
            <a:off x="320040" y="1188720"/>
            <a:ext cx="2651760" cy="3383280"/>
          </a:xfrm>
          <a:prstGeom prst="roundRect">
            <a:avLst>
              <a:gd name="adj" fmla="val 3448"/>
            </a:avLst>
          </a:prstGeom>
          <a:solidFill>
            <a:srgbClr val="1A1A1A"/>
          </a:solidFill>
          <a:ln w="25400">
            <a:solidFill>
              <a:srgbClr val="00B37D"/>
            </a:solidFill>
            <a:prstDash val="solid"/>
          </a:ln>
        </p:spPr>
      </p:sp>
      <p:sp>
        <p:nvSpPr>
          <p:cNvPr id="5" name="Shape 3"/>
          <p:cNvSpPr/>
          <p:nvPr/>
        </p:nvSpPr>
        <p:spPr>
          <a:xfrm>
            <a:off x="411480" y="1280160"/>
            <a:ext cx="777240" cy="228600"/>
          </a:xfrm>
          <a:prstGeom prst="roundRect">
            <a:avLst>
              <a:gd name="adj" fmla="val 20000"/>
            </a:avLst>
          </a:prstGeom>
          <a:solidFill>
            <a:srgbClr val="00B37D"/>
          </a:solidFill>
          <a:ln w="12700">
            <a:solidFill>
              <a:srgbClr val="000000"/>
            </a:solidFill>
            <a:prstDash val="solid"/>
          </a:ln>
        </p:spPr>
      </p:sp>
      <p:sp>
        <p:nvSpPr>
          <p:cNvPr id="6" name="Text 4"/>
          <p:cNvSpPr/>
          <p:nvPr/>
        </p:nvSpPr>
        <p:spPr>
          <a:xfrm>
            <a:off x="411480" y="1271016"/>
            <a:ext cx="777240" cy="246888"/>
          </a:xfrm>
          <a:prstGeom prst="rect">
            <a:avLst/>
          </a:prstGeom>
          <a:noFill/>
          <a:ln/>
        </p:spPr>
        <p:txBody>
          <a:bodyPr wrap="square" rtlCol="0" anchor="ctr"/>
          <a:lstStyle/>
          <a:p>
            <a:pPr algn="ctr" indent="0" marL="0">
              <a:buNone/>
            </a:pPr>
            <a:r>
              <a:rPr lang="en-US" sz="800" b="1" dirty="0">
                <a:solidFill>
                  <a:srgbClr val="111111"/>
                </a:solidFill>
                <a:latin typeface="Calibri" pitchFamily="34" charset="0"/>
                <a:ea typeface="Calibri" pitchFamily="34" charset="-122"/>
                <a:cs typeface="Calibri" pitchFamily="34" charset="-120"/>
              </a:rPr>
              <a:t>Phase 1</a:t>
            </a:r>
            <a:endParaRPr lang="en-US" sz="800" dirty="0"/>
          </a:p>
        </p:txBody>
      </p:sp>
      <p:sp>
        <p:nvSpPr>
          <p:cNvPr id="7" name="Text 5"/>
          <p:cNvSpPr/>
          <p:nvPr/>
        </p:nvSpPr>
        <p:spPr>
          <a:xfrm>
            <a:off x="411480" y="1581912"/>
            <a:ext cx="2468880" cy="228600"/>
          </a:xfrm>
          <a:prstGeom prst="rect">
            <a:avLst/>
          </a:prstGeom>
          <a:noFill/>
          <a:ln/>
        </p:spPr>
        <p:txBody>
          <a:bodyPr wrap="square" rtlCol="0" anchor="ctr"/>
          <a:lstStyle/>
          <a:p>
            <a:pPr indent="0" marL="0">
              <a:buNone/>
            </a:pPr>
            <a:r>
              <a:rPr lang="en-US" sz="900" b="1" dirty="0">
                <a:solidFill>
                  <a:srgbClr val="00B37D"/>
                </a:solidFill>
                <a:latin typeface="Calibri" pitchFamily="34" charset="0"/>
                <a:ea typeface="Calibri" pitchFamily="34" charset="-122"/>
                <a:cs typeface="Calibri" pitchFamily="34" charset="-120"/>
              </a:rPr>
              <a:t>Now — Month 6</a:t>
            </a:r>
            <a:endParaRPr lang="en-US" sz="900" dirty="0"/>
          </a:p>
        </p:txBody>
      </p:sp>
      <p:sp>
        <p:nvSpPr>
          <p:cNvPr id="8" name="Text 6"/>
          <p:cNvSpPr/>
          <p:nvPr/>
        </p:nvSpPr>
        <p:spPr>
          <a:xfrm>
            <a:off x="411480" y="1828800"/>
            <a:ext cx="24688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Bengaluru wedge</a:t>
            </a:r>
            <a:endParaRPr lang="en-US" sz="1300" dirty="0"/>
          </a:p>
        </p:txBody>
      </p:sp>
      <p:sp>
        <p:nvSpPr>
          <p:cNvPr id="9" name="Text 7"/>
          <p:cNvSpPr/>
          <p:nvPr/>
        </p:nvSpPr>
        <p:spPr>
          <a:xfrm>
            <a:off x="411480" y="2267712"/>
            <a:ext cx="2468880" cy="438912"/>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  Field sales — walk-in AI OCR demo on phone</a:t>
            </a:r>
            <a:endParaRPr lang="en-US" sz="900" dirty="0"/>
          </a:p>
        </p:txBody>
      </p:sp>
      <p:sp>
        <p:nvSpPr>
          <p:cNvPr id="10" name="Text 8"/>
          <p:cNvSpPr/>
          <p:nvPr/>
        </p:nvSpPr>
        <p:spPr>
          <a:xfrm>
            <a:off x="411480" y="2770632"/>
            <a:ext cx="2468880" cy="438912"/>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  20 free pilots → 50 paid via launch offer</a:t>
            </a:r>
            <a:endParaRPr lang="en-US" sz="900" dirty="0"/>
          </a:p>
        </p:txBody>
      </p:sp>
      <p:sp>
        <p:nvSpPr>
          <p:cNvPr id="11" name="Text 9"/>
          <p:cNvSpPr/>
          <p:nvPr/>
        </p:nvSpPr>
        <p:spPr>
          <a:xfrm>
            <a:off x="411480" y="3273552"/>
            <a:ext cx="2468880" cy="438912"/>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  Sell into single-outlet restaurants &amp; dhabas</a:t>
            </a:r>
            <a:endParaRPr lang="en-US" sz="900" dirty="0"/>
          </a:p>
        </p:txBody>
      </p:sp>
      <p:sp>
        <p:nvSpPr>
          <p:cNvPr id="12" name="Text 10"/>
          <p:cNvSpPr/>
          <p:nvPr/>
        </p:nvSpPr>
        <p:spPr>
          <a:xfrm>
            <a:off x="411480" y="3776472"/>
            <a:ext cx="2468880" cy="438912"/>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  WhatsApp-only support and onboarding</a:t>
            </a:r>
            <a:endParaRPr lang="en-US" sz="900" dirty="0"/>
          </a:p>
        </p:txBody>
      </p:sp>
      <p:sp>
        <p:nvSpPr>
          <p:cNvPr id="13" name="Shape 11"/>
          <p:cNvSpPr/>
          <p:nvPr/>
        </p:nvSpPr>
        <p:spPr>
          <a:xfrm>
            <a:off x="3200400" y="1188720"/>
            <a:ext cx="2651760" cy="3383280"/>
          </a:xfrm>
          <a:prstGeom prst="roundRect">
            <a:avLst>
              <a:gd name="adj" fmla="val 3448"/>
            </a:avLst>
          </a:prstGeom>
          <a:solidFill>
            <a:srgbClr val="1A1A1A"/>
          </a:solidFill>
          <a:ln w="12700">
            <a:solidFill>
              <a:srgbClr val="333333"/>
            </a:solidFill>
            <a:prstDash val="solid"/>
          </a:ln>
        </p:spPr>
      </p:sp>
      <p:sp>
        <p:nvSpPr>
          <p:cNvPr id="14" name="Shape 12"/>
          <p:cNvSpPr/>
          <p:nvPr/>
        </p:nvSpPr>
        <p:spPr>
          <a:xfrm>
            <a:off x="3291840" y="1280160"/>
            <a:ext cx="777240" cy="228600"/>
          </a:xfrm>
          <a:prstGeom prst="roundRect">
            <a:avLst>
              <a:gd name="adj" fmla="val 20000"/>
            </a:avLst>
          </a:prstGeom>
          <a:solidFill>
            <a:srgbClr val="222222"/>
          </a:solidFill>
          <a:ln w="12700">
            <a:solidFill>
              <a:srgbClr val="000000"/>
            </a:solidFill>
            <a:prstDash val="solid"/>
          </a:ln>
        </p:spPr>
      </p:sp>
      <p:sp>
        <p:nvSpPr>
          <p:cNvPr id="15" name="Text 13"/>
          <p:cNvSpPr/>
          <p:nvPr/>
        </p:nvSpPr>
        <p:spPr>
          <a:xfrm>
            <a:off x="3291840" y="1271016"/>
            <a:ext cx="777240" cy="246888"/>
          </a:xfrm>
          <a:prstGeom prst="rect">
            <a:avLst/>
          </a:prstGeom>
          <a:noFill/>
          <a:ln/>
        </p:spPr>
        <p:txBody>
          <a:bodyPr wrap="square" rtlCol="0" anchor="ctr"/>
          <a:lstStyle/>
          <a:p>
            <a:pPr algn="ctr" indent="0" marL="0">
              <a:buNone/>
            </a:pPr>
            <a:r>
              <a:rPr lang="en-US" sz="800" b="1" dirty="0">
                <a:solidFill>
                  <a:srgbClr val="00B37D"/>
                </a:solidFill>
                <a:latin typeface="Calibri" pitchFamily="34" charset="0"/>
                <a:ea typeface="Calibri" pitchFamily="34" charset="-122"/>
                <a:cs typeface="Calibri" pitchFamily="34" charset="-120"/>
              </a:rPr>
              <a:t>Phase 2</a:t>
            </a:r>
            <a:endParaRPr lang="en-US" sz="800" dirty="0"/>
          </a:p>
        </p:txBody>
      </p:sp>
      <p:sp>
        <p:nvSpPr>
          <p:cNvPr id="16" name="Text 14"/>
          <p:cNvSpPr/>
          <p:nvPr/>
        </p:nvSpPr>
        <p:spPr>
          <a:xfrm>
            <a:off x="3291840" y="1581912"/>
            <a:ext cx="2468880" cy="228600"/>
          </a:xfrm>
          <a:prstGeom prst="rect">
            <a:avLst/>
          </a:prstGeom>
          <a:noFill/>
          <a:ln/>
        </p:spPr>
        <p:txBody>
          <a:bodyPr wrap="square" rtlCol="0" anchor="ctr"/>
          <a:lstStyle/>
          <a:p>
            <a:pPr indent="0" marL="0">
              <a:buNone/>
            </a:pPr>
            <a:r>
              <a:rPr lang="en-US" sz="900" b="1" dirty="0">
                <a:solidFill>
                  <a:srgbClr val="00B37D"/>
                </a:solidFill>
                <a:latin typeface="Calibri" pitchFamily="34" charset="0"/>
                <a:ea typeface="Calibri" pitchFamily="34" charset="-122"/>
                <a:cs typeface="Calibri" pitchFamily="34" charset="-120"/>
              </a:rPr>
              <a:t>Month 7–18</a:t>
            </a:r>
            <a:endParaRPr lang="en-US" sz="900" dirty="0"/>
          </a:p>
        </p:txBody>
      </p:sp>
      <p:sp>
        <p:nvSpPr>
          <p:cNvPr id="17" name="Text 15"/>
          <p:cNvSpPr/>
          <p:nvPr/>
        </p:nvSpPr>
        <p:spPr>
          <a:xfrm>
            <a:off x="3291840" y="1828800"/>
            <a:ext cx="24688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3 cities + chains</a:t>
            </a:r>
            <a:endParaRPr lang="en-US" sz="1300" dirty="0"/>
          </a:p>
        </p:txBody>
      </p:sp>
      <p:sp>
        <p:nvSpPr>
          <p:cNvPr id="18" name="Text 16"/>
          <p:cNvSpPr/>
          <p:nvPr/>
        </p:nvSpPr>
        <p:spPr>
          <a:xfrm>
            <a:off x="3291840" y="2267712"/>
            <a:ext cx="2468880" cy="438912"/>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  Chennai + Pune sales executives</a:t>
            </a:r>
            <a:endParaRPr lang="en-US" sz="900" dirty="0"/>
          </a:p>
        </p:txBody>
      </p:sp>
      <p:sp>
        <p:nvSpPr>
          <p:cNvPr id="19" name="Text 17"/>
          <p:cNvSpPr/>
          <p:nvPr/>
        </p:nvSpPr>
        <p:spPr>
          <a:xfrm>
            <a:off x="3291840" y="2770632"/>
            <a:ext cx="2468880" cy="438912"/>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  Supplier deal: 50+ outlet chains</a:t>
            </a:r>
            <a:endParaRPr lang="en-US" sz="900" dirty="0"/>
          </a:p>
        </p:txBody>
      </p:sp>
      <p:sp>
        <p:nvSpPr>
          <p:cNvPr id="20" name="Text 18"/>
          <p:cNvSpPr/>
          <p:nvPr/>
        </p:nvSpPr>
        <p:spPr>
          <a:xfrm>
            <a:off x="3291840" y="3273552"/>
            <a:ext cx="2468880" cy="438912"/>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  Reseller network via printer/POS vendors</a:t>
            </a:r>
            <a:endParaRPr lang="en-US" sz="900" dirty="0"/>
          </a:p>
        </p:txBody>
      </p:sp>
      <p:sp>
        <p:nvSpPr>
          <p:cNvPr id="21" name="Text 19"/>
          <p:cNvSpPr/>
          <p:nvPr/>
        </p:nvSpPr>
        <p:spPr>
          <a:xfrm>
            <a:off x="3291840" y="3776472"/>
            <a:ext cx="2468880" cy="438912"/>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  500 paid outlets, Rs.30L ARR</a:t>
            </a:r>
            <a:endParaRPr lang="en-US" sz="900" dirty="0"/>
          </a:p>
        </p:txBody>
      </p:sp>
      <p:sp>
        <p:nvSpPr>
          <p:cNvPr id="22" name="Shape 20"/>
          <p:cNvSpPr/>
          <p:nvPr/>
        </p:nvSpPr>
        <p:spPr>
          <a:xfrm>
            <a:off x="6080760" y="1188720"/>
            <a:ext cx="2651760" cy="3383280"/>
          </a:xfrm>
          <a:prstGeom prst="roundRect">
            <a:avLst>
              <a:gd name="adj" fmla="val 3448"/>
            </a:avLst>
          </a:prstGeom>
          <a:solidFill>
            <a:srgbClr val="1A1A1A"/>
          </a:solidFill>
          <a:ln w="12700">
            <a:solidFill>
              <a:srgbClr val="333333"/>
            </a:solidFill>
            <a:prstDash val="solid"/>
          </a:ln>
        </p:spPr>
      </p:sp>
      <p:sp>
        <p:nvSpPr>
          <p:cNvPr id="23" name="Shape 21"/>
          <p:cNvSpPr/>
          <p:nvPr/>
        </p:nvSpPr>
        <p:spPr>
          <a:xfrm>
            <a:off x="6172200" y="1280160"/>
            <a:ext cx="777240" cy="228600"/>
          </a:xfrm>
          <a:prstGeom prst="roundRect">
            <a:avLst>
              <a:gd name="adj" fmla="val 20000"/>
            </a:avLst>
          </a:prstGeom>
          <a:solidFill>
            <a:srgbClr val="222222"/>
          </a:solidFill>
          <a:ln w="12700">
            <a:solidFill>
              <a:srgbClr val="000000"/>
            </a:solidFill>
            <a:prstDash val="solid"/>
          </a:ln>
        </p:spPr>
      </p:sp>
      <p:sp>
        <p:nvSpPr>
          <p:cNvPr id="24" name="Text 22"/>
          <p:cNvSpPr/>
          <p:nvPr/>
        </p:nvSpPr>
        <p:spPr>
          <a:xfrm>
            <a:off x="6172200" y="1271016"/>
            <a:ext cx="777240" cy="246888"/>
          </a:xfrm>
          <a:prstGeom prst="rect">
            <a:avLst/>
          </a:prstGeom>
          <a:noFill/>
          <a:ln/>
        </p:spPr>
        <p:txBody>
          <a:bodyPr wrap="square" rtlCol="0" anchor="ctr"/>
          <a:lstStyle/>
          <a:p>
            <a:pPr algn="ctr" indent="0" marL="0">
              <a:buNone/>
            </a:pPr>
            <a:r>
              <a:rPr lang="en-US" sz="800" b="1" dirty="0">
                <a:solidFill>
                  <a:srgbClr val="00B37D"/>
                </a:solidFill>
                <a:latin typeface="Calibri" pitchFamily="34" charset="0"/>
                <a:ea typeface="Calibri" pitchFamily="34" charset="-122"/>
                <a:cs typeface="Calibri" pitchFamily="34" charset="-120"/>
              </a:rPr>
              <a:t>Phase 3</a:t>
            </a:r>
            <a:endParaRPr lang="en-US" sz="800" dirty="0"/>
          </a:p>
        </p:txBody>
      </p:sp>
      <p:sp>
        <p:nvSpPr>
          <p:cNvPr id="25" name="Text 23"/>
          <p:cNvSpPr/>
          <p:nvPr/>
        </p:nvSpPr>
        <p:spPr>
          <a:xfrm>
            <a:off x="6172200" y="1581912"/>
            <a:ext cx="2468880" cy="228600"/>
          </a:xfrm>
          <a:prstGeom prst="rect">
            <a:avLst/>
          </a:prstGeom>
          <a:noFill/>
          <a:ln/>
        </p:spPr>
        <p:txBody>
          <a:bodyPr wrap="square" rtlCol="0" anchor="ctr"/>
          <a:lstStyle/>
          <a:p>
            <a:pPr indent="0" marL="0">
              <a:buNone/>
            </a:pPr>
            <a:r>
              <a:rPr lang="en-US" sz="900" b="1" dirty="0">
                <a:solidFill>
                  <a:srgbClr val="00B37D"/>
                </a:solidFill>
                <a:latin typeface="Calibri" pitchFamily="34" charset="0"/>
                <a:ea typeface="Calibri" pitchFamily="34" charset="-122"/>
                <a:cs typeface="Calibri" pitchFamily="34" charset="-120"/>
              </a:rPr>
              <a:t>Month 19–36</a:t>
            </a:r>
            <a:endParaRPr lang="en-US" sz="900" dirty="0"/>
          </a:p>
        </p:txBody>
      </p:sp>
      <p:sp>
        <p:nvSpPr>
          <p:cNvPr id="26" name="Text 24"/>
          <p:cNvSpPr/>
          <p:nvPr/>
        </p:nvSpPr>
        <p:spPr>
          <a:xfrm>
            <a:off x="6172200" y="1828800"/>
            <a:ext cx="24688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Hotels, malls, Series A</a:t>
            </a:r>
            <a:endParaRPr lang="en-US" sz="1300" dirty="0"/>
          </a:p>
        </p:txBody>
      </p:sp>
      <p:sp>
        <p:nvSpPr>
          <p:cNvPr id="27" name="Text 25"/>
          <p:cNvSpPr/>
          <p:nvPr/>
        </p:nvSpPr>
        <p:spPr>
          <a:xfrm>
            <a:off x="6172200" y="2267712"/>
            <a:ext cx="2468880" cy="438912"/>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  Hotel room QR (Phase 3 priority)</a:t>
            </a:r>
            <a:endParaRPr lang="en-US" sz="900" dirty="0"/>
          </a:p>
        </p:txBody>
      </p:sp>
      <p:sp>
        <p:nvSpPr>
          <p:cNvPr id="28" name="Text 26"/>
          <p:cNvSpPr/>
          <p:nvPr/>
        </p:nvSpPr>
        <p:spPr>
          <a:xfrm>
            <a:off x="6172200" y="2770632"/>
            <a:ext cx="2468880" cy="438912"/>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  Mall food court multi-vendor flow</a:t>
            </a:r>
            <a:endParaRPr lang="en-US" sz="900" dirty="0"/>
          </a:p>
        </p:txBody>
      </p:sp>
      <p:sp>
        <p:nvSpPr>
          <p:cNvPr id="29" name="Text 27"/>
          <p:cNvSpPr/>
          <p:nvPr/>
        </p:nvSpPr>
        <p:spPr>
          <a:xfrm>
            <a:off x="6172200" y="3273552"/>
            <a:ext cx="2468880" cy="438912"/>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  POS module beta with 50 pilot outlets</a:t>
            </a:r>
            <a:endParaRPr lang="en-US" sz="900" dirty="0"/>
          </a:p>
        </p:txBody>
      </p:sp>
      <p:sp>
        <p:nvSpPr>
          <p:cNvPr id="30" name="Text 28"/>
          <p:cNvSpPr/>
          <p:nvPr/>
        </p:nvSpPr>
        <p:spPr>
          <a:xfrm>
            <a:off x="6172200" y="3776472"/>
            <a:ext cx="2468880" cy="438912"/>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  Series A: Rs.8–15 Cr off traction</a:t>
            </a:r>
            <a:endParaRPr lang="en-US" sz="900" dirty="0"/>
          </a:p>
        </p:txBody>
      </p:sp>
      <p:sp>
        <p:nvSpPr>
          <p:cNvPr id="31" name="Text 29"/>
          <p:cNvSpPr/>
          <p:nvPr/>
        </p:nvSpPr>
        <p:spPr>
          <a:xfrm>
            <a:off x="365760" y="4846320"/>
            <a:ext cx="6400800" cy="182880"/>
          </a:xfrm>
          <a:prstGeom prst="rect">
            <a:avLst/>
          </a:prstGeom>
          <a:noFill/>
          <a:ln/>
        </p:spPr>
        <p:txBody>
          <a:bodyPr wrap="square" rtlCol="0" anchor="ctr"/>
          <a:lstStyle/>
          <a:p>
            <a:pPr algn="l" indent="0" marL="0">
              <a:buNone/>
            </a:pPr>
            <a:r>
              <a:rPr lang="en-US" sz="800" dirty="0">
                <a:solidFill>
                  <a:srgbClr val="888888"/>
                </a:solidFill>
                <a:latin typeface="Calibri" pitchFamily="34" charset="0"/>
                <a:ea typeface="Calibri" pitchFamily="34" charset="-122"/>
                <a:cs typeface="Calibri" pitchFamily="34" charset="-120"/>
              </a:rPr>
              <a:t>aviqr.com  ·  Confidential  ·  June 2026</a:t>
            </a:r>
            <a:endParaRPr lang="en-US" sz="800" dirty="0"/>
          </a:p>
        </p:txBody>
      </p:sp>
      <p:sp>
        <p:nvSpPr>
          <p:cNvPr id="32" name="Text 30"/>
          <p:cNvSpPr/>
          <p:nvPr/>
        </p:nvSpPr>
        <p:spPr>
          <a:xfrm>
            <a:off x="7772400" y="4846320"/>
            <a:ext cx="914400" cy="18288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12 / 18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rtlCol="0" anchor="ctr"/>
          <a:lstStyle/>
          <a:p>
            <a:pPr indent="0" marL="0">
              <a:buNone/>
            </a:pPr>
            <a:r>
              <a:rPr lang="en-US" sz="900" b="1" spc="400" kern="0" dirty="0">
                <a:solidFill>
                  <a:srgbClr val="00B37D"/>
                </a:solidFill>
                <a:latin typeface="Calibri" pitchFamily="34" charset="0"/>
                <a:ea typeface="Calibri" pitchFamily="34" charset="-122"/>
                <a:cs typeface="Calibri" pitchFamily="34" charset="-120"/>
              </a:rPr>
              <a:t>FINANCIALS</a:t>
            </a:r>
            <a:endParaRPr lang="en-US" sz="900" dirty="0"/>
          </a:p>
        </p:txBody>
      </p:sp>
      <p:sp>
        <p:nvSpPr>
          <p:cNvPr id="3" name="Text 1"/>
          <p:cNvSpPr/>
          <p:nvPr/>
        </p:nvSpPr>
        <p:spPr>
          <a:xfrm>
            <a:off x="365760" y="50292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Conservative path to Rs.18 Cr ARR.</a:t>
            </a:r>
            <a:endParaRPr lang="en-US" sz="2600" dirty="0"/>
          </a:p>
        </p:txBody>
      </p:sp>
      <p:graphicFrame>
        <p:nvGraphicFramePr>
          <p:cNvPr id="4" name="Chart 0" descr=""/>
          <p:cNvGraphicFramePr/>
          <p:nvPr/>
        </p:nvGraphicFramePr>
        <p:xfrm>
          <a:off x="365760" y="1097280"/>
          <a:ext cx="5029200" cy="27432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577840" y="1097280"/>
            <a:ext cx="3200400" cy="475488"/>
          </a:xfrm>
          <a:prstGeom prst="roundRect">
            <a:avLst>
              <a:gd name="adj" fmla="val 11538"/>
            </a:avLst>
          </a:prstGeom>
          <a:solidFill>
            <a:srgbClr val="1A1A1A"/>
          </a:solidFill>
          <a:ln w="12700">
            <a:solidFill>
              <a:srgbClr val="333333"/>
            </a:solidFill>
            <a:prstDash val="solid"/>
          </a:ln>
        </p:spPr>
      </p:sp>
      <p:sp>
        <p:nvSpPr>
          <p:cNvPr id="6" name="Text 3"/>
          <p:cNvSpPr/>
          <p:nvPr/>
        </p:nvSpPr>
        <p:spPr>
          <a:xfrm>
            <a:off x="5669280" y="1170432"/>
            <a:ext cx="1645920" cy="32004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Break-even</a:t>
            </a:r>
            <a:endParaRPr lang="en-US" sz="900" dirty="0"/>
          </a:p>
        </p:txBody>
      </p:sp>
      <p:sp>
        <p:nvSpPr>
          <p:cNvPr id="7" name="Text 4"/>
          <p:cNvSpPr/>
          <p:nvPr/>
        </p:nvSpPr>
        <p:spPr>
          <a:xfrm>
            <a:off x="7498080" y="1161288"/>
            <a:ext cx="1188720" cy="338328"/>
          </a:xfrm>
          <a:prstGeom prst="rect">
            <a:avLst/>
          </a:prstGeom>
          <a:noFill/>
          <a:ln/>
        </p:spPr>
        <p:txBody>
          <a:bodyPr wrap="square" rtlCol="0" anchor="ctr"/>
          <a:lstStyle/>
          <a:p>
            <a:pPr algn="r" indent="0" marL="0">
              <a:buNone/>
            </a:pPr>
            <a:r>
              <a:rPr lang="en-US" sz="1300" b="1" dirty="0">
                <a:solidFill>
                  <a:srgbClr val="00B37D"/>
                </a:solidFill>
                <a:latin typeface="Calibri" pitchFamily="34" charset="0"/>
                <a:ea typeface="Calibri" pitchFamily="34" charset="-122"/>
                <a:cs typeface="Calibri" pitchFamily="34" charset="-120"/>
              </a:rPr>
              <a:t>Month 22</a:t>
            </a:r>
            <a:endParaRPr lang="en-US" sz="1300" dirty="0"/>
          </a:p>
        </p:txBody>
      </p:sp>
      <p:sp>
        <p:nvSpPr>
          <p:cNvPr id="8" name="Shape 5"/>
          <p:cNvSpPr/>
          <p:nvPr/>
        </p:nvSpPr>
        <p:spPr>
          <a:xfrm>
            <a:off x="5577840" y="1664208"/>
            <a:ext cx="3200400" cy="475488"/>
          </a:xfrm>
          <a:prstGeom prst="roundRect">
            <a:avLst>
              <a:gd name="adj" fmla="val 11538"/>
            </a:avLst>
          </a:prstGeom>
          <a:solidFill>
            <a:srgbClr val="1A1A1A"/>
          </a:solidFill>
          <a:ln w="12700">
            <a:solidFill>
              <a:srgbClr val="333333"/>
            </a:solidFill>
            <a:prstDash val="solid"/>
          </a:ln>
        </p:spPr>
      </p:sp>
      <p:sp>
        <p:nvSpPr>
          <p:cNvPr id="9" name="Text 6"/>
          <p:cNvSpPr/>
          <p:nvPr/>
        </p:nvSpPr>
        <p:spPr>
          <a:xfrm>
            <a:off x="5669280" y="1737360"/>
            <a:ext cx="1645920" cy="32004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Gross margin</a:t>
            </a:r>
            <a:endParaRPr lang="en-US" sz="900" dirty="0"/>
          </a:p>
        </p:txBody>
      </p:sp>
      <p:sp>
        <p:nvSpPr>
          <p:cNvPr id="10" name="Text 7"/>
          <p:cNvSpPr/>
          <p:nvPr/>
        </p:nvSpPr>
        <p:spPr>
          <a:xfrm>
            <a:off x="7498080" y="1728216"/>
            <a:ext cx="1188720" cy="338328"/>
          </a:xfrm>
          <a:prstGeom prst="rect">
            <a:avLst/>
          </a:prstGeom>
          <a:noFill/>
          <a:ln/>
        </p:spPr>
        <p:txBody>
          <a:bodyPr wrap="square" rtlCol="0" anchor="ctr"/>
          <a:lstStyle/>
          <a:p>
            <a:pPr algn="r" indent="0" marL="0">
              <a:buNone/>
            </a:pPr>
            <a:r>
              <a:rPr lang="en-US" sz="1300" b="1" dirty="0">
                <a:solidFill>
                  <a:srgbClr val="00B37D"/>
                </a:solidFill>
                <a:latin typeface="Calibri" pitchFamily="34" charset="0"/>
                <a:ea typeface="Calibri" pitchFamily="34" charset="-122"/>
                <a:cs typeface="Calibri" pitchFamily="34" charset="-120"/>
              </a:rPr>
              <a:t>78%</a:t>
            </a:r>
            <a:endParaRPr lang="en-US" sz="1300" dirty="0"/>
          </a:p>
        </p:txBody>
      </p:sp>
      <p:sp>
        <p:nvSpPr>
          <p:cNvPr id="11" name="Shape 8"/>
          <p:cNvSpPr/>
          <p:nvPr/>
        </p:nvSpPr>
        <p:spPr>
          <a:xfrm>
            <a:off x="5577840" y="2231136"/>
            <a:ext cx="3200400" cy="475488"/>
          </a:xfrm>
          <a:prstGeom prst="roundRect">
            <a:avLst>
              <a:gd name="adj" fmla="val 11538"/>
            </a:avLst>
          </a:prstGeom>
          <a:solidFill>
            <a:srgbClr val="1A1A1A"/>
          </a:solidFill>
          <a:ln w="12700">
            <a:solidFill>
              <a:srgbClr val="333333"/>
            </a:solidFill>
            <a:prstDash val="solid"/>
          </a:ln>
        </p:spPr>
      </p:sp>
      <p:sp>
        <p:nvSpPr>
          <p:cNvPr id="12" name="Text 9"/>
          <p:cNvSpPr/>
          <p:nvPr/>
        </p:nvSpPr>
        <p:spPr>
          <a:xfrm>
            <a:off x="5669280" y="2304288"/>
            <a:ext cx="1645920" cy="32004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CAC</a:t>
            </a:r>
            <a:endParaRPr lang="en-US" sz="900" dirty="0"/>
          </a:p>
        </p:txBody>
      </p:sp>
      <p:sp>
        <p:nvSpPr>
          <p:cNvPr id="13" name="Text 10"/>
          <p:cNvSpPr/>
          <p:nvPr/>
        </p:nvSpPr>
        <p:spPr>
          <a:xfrm>
            <a:off x="7498080" y="2295144"/>
            <a:ext cx="1188720" cy="338328"/>
          </a:xfrm>
          <a:prstGeom prst="rect">
            <a:avLst/>
          </a:prstGeom>
          <a:noFill/>
          <a:ln/>
        </p:spPr>
        <p:txBody>
          <a:bodyPr wrap="square" rtlCol="0" anchor="ctr"/>
          <a:lstStyle/>
          <a:p>
            <a:pPr algn="r" indent="0" marL="0">
              <a:buNone/>
            </a:pPr>
            <a:r>
              <a:rPr lang="en-US" sz="1300" b="1" dirty="0">
                <a:solidFill>
                  <a:srgbClr val="00B37D"/>
                </a:solidFill>
                <a:latin typeface="Calibri" pitchFamily="34" charset="0"/>
                <a:ea typeface="Calibri" pitchFamily="34" charset="-122"/>
                <a:cs typeface="Calibri" pitchFamily="34" charset="-120"/>
              </a:rPr>
              <a:t>Rs.4,200</a:t>
            </a:r>
            <a:endParaRPr lang="en-US" sz="1300" dirty="0"/>
          </a:p>
        </p:txBody>
      </p:sp>
      <p:sp>
        <p:nvSpPr>
          <p:cNvPr id="14" name="Shape 11"/>
          <p:cNvSpPr/>
          <p:nvPr/>
        </p:nvSpPr>
        <p:spPr>
          <a:xfrm>
            <a:off x="5577840" y="2798064"/>
            <a:ext cx="3200400" cy="475488"/>
          </a:xfrm>
          <a:prstGeom prst="roundRect">
            <a:avLst>
              <a:gd name="adj" fmla="val 11538"/>
            </a:avLst>
          </a:prstGeom>
          <a:solidFill>
            <a:srgbClr val="1A1A1A"/>
          </a:solidFill>
          <a:ln w="12700">
            <a:solidFill>
              <a:srgbClr val="333333"/>
            </a:solidFill>
            <a:prstDash val="solid"/>
          </a:ln>
        </p:spPr>
      </p:sp>
      <p:sp>
        <p:nvSpPr>
          <p:cNvPr id="15" name="Text 12"/>
          <p:cNvSpPr/>
          <p:nvPr/>
        </p:nvSpPr>
        <p:spPr>
          <a:xfrm>
            <a:off x="5669280" y="2871216"/>
            <a:ext cx="1645920" cy="32004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LTV</a:t>
            </a:r>
            <a:endParaRPr lang="en-US" sz="900" dirty="0"/>
          </a:p>
        </p:txBody>
      </p:sp>
      <p:sp>
        <p:nvSpPr>
          <p:cNvPr id="16" name="Text 13"/>
          <p:cNvSpPr/>
          <p:nvPr/>
        </p:nvSpPr>
        <p:spPr>
          <a:xfrm>
            <a:off x="7498080" y="2862072"/>
            <a:ext cx="1188720" cy="338328"/>
          </a:xfrm>
          <a:prstGeom prst="rect">
            <a:avLst/>
          </a:prstGeom>
          <a:noFill/>
          <a:ln/>
        </p:spPr>
        <p:txBody>
          <a:bodyPr wrap="square" rtlCol="0" anchor="ctr"/>
          <a:lstStyle/>
          <a:p>
            <a:pPr algn="r" indent="0" marL="0">
              <a:buNone/>
            </a:pPr>
            <a:r>
              <a:rPr lang="en-US" sz="1300" b="1" dirty="0">
                <a:solidFill>
                  <a:srgbClr val="00B37D"/>
                </a:solidFill>
                <a:latin typeface="Calibri" pitchFamily="34" charset="0"/>
                <a:ea typeface="Calibri" pitchFamily="34" charset="-122"/>
                <a:cs typeface="Calibri" pitchFamily="34" charset="-120"/>
              </a:rPr>
              <a:t>Rs.38,400</a:t>
            </a:r>
            <a:endParaRPr lang="en-US" sz="1300" dirty="0"/>
          </a:p>
        </p:txBody>
      </p:sp>
      <p:sp>
        <p:nvSpPr>
          <p:cNvPr id="17" name="Shape 14"/>
          <p:cNvSpPr/>
          <p:nvPr/>
        </p:nvSpPr>
        <p:spPr>
          <a:xfrm>
            <a:off x="5577840" y="3364992"/>
            <a:ext cx="3200400" cy="475488"/>
          </a:xfrm>
          <a:prstGeom prst="roundRect">
            <a:avLst>
              <a:gd name="adj" fmla="val 11538"/>
            </a:avLst>
          </a:prstGeom>
          <a:solidFill>
            <a:srgbClr val="1A1A1A"/>
          </a:solidFill>
          <a:ln w="12700">
            <a:solidFill>
              <a:srgbClr val="333333"/>
            </a:solidFill>
            <a:prstDash val="solid"/>
          </a:ln>
        </p:spPr>
      </p:sp>
      <p:sp>
        <p:nvSpPr>
          <p:cNvPr id="18" name="Text 15"/>
          <p:cNvSpPr/>
          <p:nvPr/>
        </p:nvSpPr>
        <p:spPr>
          <a:xfrm>
            <a:off x="5669280" y="3438144"/>
            <a:ext cx="1645920" cy="320040"/>
          </a:xfrm>
          <a:prstGeom prst="rect">
            <a:avLst/>
          </a:prstGeom>
          <a:noFill/>
          <a:ln/>
        </p:spPr>
        <p:txBody>
          <a:bodyPr wrap="square" rtlCol="0" anchor="ctr"/>
          <a:lstStyle/>
          <a:p>
            <a:pPr indent="0" marL="0">
              <a:buNone/>
            </a:pPr>
            <a:r>
              <a:rPr lang="en-US" sz="900" dirty="0">
                <a:solidFill>
                  <a:srgbClr val="888888"/>
                </a:solidFill>
                <a:latin typeface="Calibri" pitchFamily="34" charset="0"/>
                <a:ea typeface="Calibri" pitchFamily="34" charset="-122"/>
                <a:cs typeface="Calibri" pitchFamily="34" charset="-120"/>
              </a:rPr>
              <a:t>LTV:CAC</a:t>
            </a:r>
            <a:endParaRPr lang="en-US" sz="900" dirty="0"/>
          </a:p>
        </p:txBody>
      </p:sp>
      <p:sp>
        <p:nvSpPr>
          <p:cNvPr id="19" name="Text 16"/>
          <p:cNvSpPr/>
          <p:nvPr/>
        </p:nvSpPr>
        <p:spPr>
          <a:xfrm>
            <a:off x="7498080" y="3429000"/>
            <a:ext cx="1188720" cy="338328"/>
          </a:xfrm>
          <a:prstGeom prst="rect">
            <a:avLst/>
          </a:prstGeom>
          <a:noFill/>
          <a:ln/>
        </p:spPr>
        <p:txBody>
          <a:bodyPr wrap="square" rtlCol="0" anchor="ctr"/>
          <a:lstStyle/>
          <a:p>
            <a:pPr algn="r" indent="0" marL="0">
              <a:buNone/>
            </a:pPr>
            <a:r>
              <a:rPr lang="en-US" sz="1300" b="1" dirty="0">
                <a:solidFill>
                  <a:srgbClr val="00B37D"/>
                </a:solidFill>
                <a:latin typeface="Calibri" pitchFamily="34" charset="0"/>
                <a:ea typeface="Calibri" pitchFamily="34" charset="-122"/>
                <a:cs typeface="Calibri" pitchFamily="34" charset="-120"/>
              </a:rPr>
              <a:t>9.1×</a:t>
            </a:r>
            <a:endParaRPr lang="en-US" sz="1300" dirty="0"/>
          </a:p>
        </p:txBody>
      </p:sp>
      <p:sp>
        <p:nvSpPr>
          <p:cNvPr id="20" name="Text 17"/>
          <p:cNvSpPr/>
          <p:nvPr/>
        </p:nvSpPr>
        <p:spPr>
          <a:xfrm>
            <a:off x="365760" y="3977640"/>
            <a:ext cx="8412480" cy="228600"/>
          </a:xfrm>
          <a:prstGeom prst="rect">
            <a:avLst/>
          </a:prstGeom>
          <a:noFill/>
          <a:ln/>
        </p:spPr>
        <p:txBody>
          <a:bodyPr wrap="square" rtlCol="0" anchor="ctr"/>
          <a:lstStyle/>
          <a:p>
            <a:pPr indent="0" marL="0">
              <a:buNone/>
            </a:pPr>
            <a:r>
              <a:rPr lang="en-US" sz="900" i="1" dirty="0">
                <a:solidFill>
                  <a:srgbClr val="888888"/>
                </a:solidFill>
                <a:latin typeface="Calibri" pitchFamily="34" charset="0"/>
                <a:ea typeface="Calibri" pitchFamily="34" charset="-122"/>
                <a:cs typeface="Calibri" pitchFamily="34" charset="-120"/>
              </a:rPr>
              <a:t>Blended ARPU rises as launch-offer pricing converts to standard plans.</a:t>
            </a:r>
            <a:endParaRPr lang="en-US" sz="900" dirty="0"/>
          </a:p>
        </p:txBody>
      </p:sp>
      <p:sp>
        <p:nvSpPr>
          <p:cNvPr id="21" name="Text 18"/>
          <p:cNvSpPr/>
          <p:nvPr/>
        </p:nvSpPr>
        <p:spPr>
          <a:xfrm>
            <a:off x="365760" y="4846320"/>
            <a:ext cx="6400800" cy="182880"/>
          </a:xfrm>
          <a:prstGeom prst="rect">
            <a:avLst/>
          </a:prstGeom>
          <a:noFill/>
          <a:ln/>
        </p:spPr>
        <p:txBody>
          <a:bodyPr wrap="square" rtlCol="0" anchor="ctr"/>
          <a:lstStyle/>
          <a:p>
            <a:pPr algn="l" indent="0" marL="0">
              <a:buNone/>
            </a:pPr>
            <a:r>
              <a:rPr lang="en-US" sz="800" dirty="0">
                <a:solidFill>
                  <a:srgbClr val="888888"/>
                </a:solidFill>
                <a:latin typeface="Calibri" pitchFamily="34" charset="0"/>
                <a:ea typeface="Calibri" pitchFamily="34" charset="-122"/>
                <a:cs typeface="Calibri" pitchFamily="34" charset="-120"/>
              </a:rPr>
              <a:t>aviqr.com  ·  Confidential  ·  June 2026</a:t>
            </a:r>
            <a:endParaRPr lang="en-US" sz="800" dirty="0"/>
          </a:p>
        </p:txBody>
      </p:sp>
      <p:sp>
        <p:nvSpPr>
          <p:cNvPr id="22" name="Text 19"/>
          <p:cNvSpPr/>
          <p:nvPr/>
        </p:nvSpPr>
        <p:spPr>
          <a:xfrm>
            <a:off x="7772400" y="4846320"/>
            <a:ext cx="914400" cy="18288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13 / 18</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rtlCol="0" anchor="ctr"/>
          <a:lstStyle/>
          <a:p>
            <a:pPr indent="0" marL="0">
              <a:buNone/>
            </a:pPr>
            <a:r>
              <a:rPr lang="en-US" sz="900" b="1" spc="400" kern="0" dirty="0">
                <a:solidFill>
                  <a:srgbClr val="00B37D"/>
                </a:solidFill>
                <a:latin typeface="Calibri" pitchFamily="34" charset="0"/>
                <a:ea typeface="Calibri" pitchFamily="34" charset="-122"/>
                <a:cs typeface="Calibri" pitchFamily="34" charset="-120"/>
              </a:rPr>
              <a:t>TEAM</a:t>
            </a:r>
            <a:endParaRPr lang="en-US" sz="900" dirty="0"/>
          </a:p>
        </p:txBody>
      </p:sp>
      <p:sp>
        <p:nvSpPr>
          <p:cNvPr id="3" name="Text 1"/>
          <p:cNvSpPr/>
          <p:nvPr/>
        </p:nvSpPr>
        <p:spPr>
          <a:xfrm>
            <a:off x="365760" y="502920"/>
            <a:ext cx="822960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Small, focused, and shipping.</a:t>
            </a:r>
            <a:endParaRPr lang="en-US" sz="2800" dirty="0"/>
          </a:p>
        </p:txBody>
      </p:sp>
      <p:sp>
        <p:nvSpPr>
          <p:cNvPr id="4" name="Text 2"/>
          <p:cNvSpPr/>
          <p:nvPr/>
        </p:nvSpPr>
        <p:spPr>
          <a:xfrm>
            <a:off x="365760" y="1005840"/>
            <a:ext cx="8229600" cy="274320"/>
          </a:xfrm>
          <a:prstGeom prst="rect">
            <a:avLst/>
          </a:prstGeom>
          <a:noFill/>
          <a:ln/>
        </p:spPr>
        <p:txBody>
          <a:bodyPr wrap="square" rtlCol="0" anchor="ctr"/>
          <a:lstStyle/>
          <a:p>
            <a:pPr indent="0" marL="0">
              <a:buNone/>
            </a:pPr>
            <a:r>
              <a:rPr lang="en-US" sz="1100" dirty="0">
                <a:solidFill>
                  <a:srgbClr val="CCCCCC"/>
                </a:solidFill>
                <a:latin typeface="Calibri" pitchFamily="34" charset="0"/>
                <a:ea typeface="Calibri" pitchFamily="34" charset="-122"/>
                <a:cs typeface="Calibri" pitchFamily="34" charset="-120"/>
              </a:rPr>
              <a:t>Technical depth + sales muscle. Looking for capital, not co-founders.</a:t>
            </a:r>
            <a:endParaRPr lang="en-US" sz="1100" dirty="0"/>
          </a:p>
        </p:txBody>
      </p:sp>
      <p:sp>
        <p:nvSpPr>
          <p:cNvPr id="5" name="Shape 3"/>
          <p:cNvSpPr/>
          <p:nvPr/>
        </p:nvSpPr>
        <p:spPr>
          <a:xfrm>
            <a:off x="320040" y="1417320"/>
            <a:ext cx="1965960" cy="2926080"/>
          </a:xfrm>
          <a:prstGeom prst="roundRect">
            <a:avLst>
              <a:gd name="adj" fmla="val 4651"/>
            </a:avLst>
          </a:prstGeom>
          <a:solidFill>
            <a:srgbClr val="1A1A1A"/>
          </a:solidFill>
          <a:ln w="12700">
            <a:solidFill>
              <a:srgbClr val="333333"/>
            </a:solidFill>
            <a:prstDash val="solid"/>
          </a:ln>
        </p:spPr>
      </p:sp>
      <p:sp>
        <p:nvSpPr>
          <p:cNvPr id="6" name="Shape 4"/>
          <p:cNvSpPr/>
          <p:nvPr/>
        </p:nvSpPr>
        <p:spPr>
          <a:xfrm>
            <a:off x="850392" y="1536192"/>
            <a:ext cx="868680" cy="868680"/>
          </a:xfrm>
          <a:prstGeom prst="ellipse">
            <a:avLst/>
          </a:prstGeom>
          <a:solidFill>
            <a:srgbClr val="00B37D"/>
          </a:solidFill>
          <a:ln w="12700">
            <a:solidFill>
              <a:srgbClr val="00B37D"/>
            </a:solidFill>
            <a:prstDash val="solid"/>
          </a:ln>
        </p:spPr>
      </p:sp>
      <p:sp>
        <p:nvSpPr>
          <p:cNvPr id="7" name="Text 5"/>
          <p:cNvSpPr/>
          <p:nvPr/>
        </p:nvSpPr>
        <p:spPr>
          <a:xfrm>
            <a:off x="850392" y="1554480"/>
            <a:ext cx="868680" cy="822960"/>
          </a:xfrm>
          <a:prstGeom prst="rect">
            <a:avLst/>
          </a:prstGeom>
          <a:noFill/>
          <a:ln/>
        </p:spPr>
        <p:txBody>
          <a:bodyPr wrap="square" rtlCol="0" anchor="ctr"/>
          <a:lstStyle/>
          <a:p>
            <a:pPr algn="ctr" indent="0" marL="0">
              <a:buNone/>
            </a:pPr>
            <a:r>
              <a:rPr lang="en-US" sz="1800" b="1" dirty="0">
                <a:solidFill>
                  <a:srgbClr val="111111"/>
                </a:solidFill>
                <a:latin typeface="Calibri" pitchFamily="34" charset="0"/>
                <a:ea typeface="Calibri" pitchFamily="34" charset="-122"/>
                <a:cs typeface="Calibri" pitchFamily="34" charset="-120"/>
              </a:rPr>
              <a:t>SN</a:t>
            </a:r>
            <a:endParaRPr lang="en-US" sz="1800" dirty="0"/>
          </a:p>
        </p:txBody>
      </p:sp>
      <p:sp>
        <p:nvSpPr>
          <p:cNvPr id="8" name="Text 6"/>
          <p:cNvSpPr/>
          <p:nvPr/>
        </p:nvSpPr>
        <p:spPr>
          <a:xfrm>
            <a:off x="411480" y="2468880"/>
            <a:ext cx="178308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Sujeet N</a:t>
            </a:r>
            <a:endParaRPr lang="en-US" sz="1200" dirty="0"/>
          </a:p>
        </p:txBody>
      </p:sp>
      <p:sp>
        <p:nvSpPr>
          <p:cNvPr id="9" name="Text 7"/>
          <p:cNvSpPr/>
          <p:nvPr/>
        </p:nvSpPr>
        <p:spPr>
          <a:xfrm>
            <a:off x="411480" y="2807208"/>
            <a:ext cx="1783080" cy="256032"/>
          </a:xfrm>
          <a:prstGeom prst="rect">
            <a:avLst/>
          </a:prstGeom>
          <a:noFill/>
          <a:ln/>
        </p:spPr>
        <p:txBody>
          <a:bodyPr wrap="square" rtlCol="0" anchor="ctr"/>
          <a:lstStyle/>
          <a:p>
            <a:pPr algn="ctr" indent="0" marL="0">
              <a:buNone/>
            </a:pPr>
            <a:r>
              <a:rPr lang="en-US" sz="900" dirty="0">
                <a:solidFill>
                  <a:srgbClr val="00B37D"/>
                </a:solidFill>
                <a:latin typeface="Calibri" pitchFamily="34" charset="0"/>
                <a:ea typeface="Calibri" pitchFamily="34" charset="-122"/>
                <a:cs typeface="Calibri" pitchFamily="34" charset="-120"/>
              </a:rPr>
              <a:t>Founder &amp; CEO</a:t>
            </a:r>
            <a:endParaRPr lang="en-US" sz="900" dirty="0"/>
          </a:p>
        </p:txBody>
      </p:sp>
      <p:sp>
        <p:nvSpPr>
          <p:cNvPr id="10" name="Shape 8"/>
          <p:cNvSpPr/>
          <p:nvPr/>
        </p:nvSpPr>
        <p:spPr>
          <a:xfrm>
            <a:off x="594360" y="3108960"/>
            <a:ext cx="1417320" cy="0"/>
          </a:xfrm>
          <a:prstGeom prst="line">
            <a:avLst/>
          </a:prstGeom>
          <a:noFill/>
          <a:ln w="12700">
            <a:solidFill>
              <a:srgbClr val="333333"/>
            </a:solidFill>
            <a:prstDash val="solid"/>
          </a:ln>
        </p:spPr>
      </p:sp>
      <p:sp>
        <p:nvSpPr>
          <p:cNvPr id="11" name="Text 9"/>
          <p:cNvSpPr/>
          <p:nvPr/>
        </p:nvSpPr>
        <p:spPr>
          <a:xfrm>
            <a:off x="411480" y="3200400"/>
            <a:ext cx="1783080" cy="1005840"/>
          </a:xfrm>
          <a:prstGeom prst="rect">
            <a:avLst/>
          </a:prstGeom>
          <a:noFill/>
          <a:ln/>
        </p:spPr>
        <p:txBody>
          <a:bodyPr wrap="square" rtlCol="0" anchor="ctr"/>
          <a:lstStyle/>
          <a:p>
            <a:pPr indent="0" marL="0">
              <a:buNone/>
            </a:pPr>
            <a:r>
              <a:rPr lang="en-US" sz="850" dirty="0">
                <a:solidFill>
                  <a:srgbClr val="CCCCCC"/>
                </a:solidFill>
                <a:latin typeface="Calibri" pitchFamily="34" charset="0"/>
                <a:ea typeface="Calibri" pitchFamily="34" charset="-122"/>
                <a:cs typeface="Calibri" pitchFamily="34" charset="-120"/>
              </a:rPr>
              <a:t>Built AviQR from zero. 10+ years enterprise SaaS. Owns product, engineering, and investor relations.</a:t>
            </a:r>
            <a:endParaRPr lang="en-US" sz="850" dirty="0"/>
          </a:p>
        </p:txBody>
      </p:sp>
      <p:sp>
        <p:nvSpPr>
          <p:cNvPr id="12" name="Shape 10"/>
          <p:cNvSpPr/>
          <p:nvPr/>
        </p:nvSpPr>
        <p:spPr>
          <a:xfrm>
            <a:off x="2468880" y="1417320"/>
            <a:ext cx="1965960" cy="2926080"/>
          </a:xfrm>
          <a:prstGeom prst="roundRect">
            <a:avLst>
              <a:gd name="adj" fmla="val 4651"/>
            </a:avLst>
          </a:prstGeom>
          <a:solidFill>
            <a:srgbClr val="1A1A1A"/>
          </a:solidFill>
          <a:ln w="12700">
            <a:solidFill>
              <a:srgbClr val="333333"/>
            </a:solidFill>
            <a:prstDash val="solid"/>
          </a:ln>
        </p:spPr>
      </p:sp>
      <p:sp>
        <p:nvSpPr>
          <p:cNvPr id="13" name="Shape 11"/>
          <p:cNvSpPr/>
          <p:nvPr/>
        </p:nvSpPr>
        <p:spPr>
          <a:xfrm>
            <a:off x="2999232" y="1536192"/>
            <a:ext cx="868680" cy="868680"/>
          </a:xfrm>
          <a:prstGeom prst="ellipse">
            <a:avLst/>
          </a:prstGeom>
          <a:solidFill>
            <a:srgbClr val="00B37D"/>
          </a:solidFill>
          <a:ln w="12700">
            <a:solidFill>
              <a:srgbClr val="00B37D"/>
            </a:solidFill>
            <a:prstDash val="solid"/>
          </a:ln>
        </p:spPr>
      </p:sp>
      <p:sp>
        <p:nvSpPr>
          <p:cNvPr id="14" name="Text 12"/>
          <p:cNvSpPr/>
          <p:nvPr/>
        </p:nvSpPr>
        <p:spPr>
          <a:xfrm>
            <a:off x="2999232" y="1554480"/>
            <a:ext cx="868680" cy="822960"/>
          </a:xfrm>
          <a:prstGeom prst="rect">
            <a:avLst/>
          </a:prstGeom>
          <a:noFill/>
          <a:ln/>
        </p:spPr>
        <p:txBody>
          <a:bodyPr wrap="square" rtlCol="0" anchor="ctr"/>
          <a:lstStyle/>
          <a:p>
            <a:pPr algn="ctr" indent="0" marL="0">
              <a:buNone/>
            </a:pPr>
            <a:r>
              <a:rPr lang="en-US" sz="1800" b="1" dirty="0">
                <a:solidFill>
                  <a:srgbClr val="111111"/>
                </a:solidFill>
                <a:latin typeface="Calibri" pitchFamily="34" charset="0"/>
                <a:ea typeface="Calibri" pitchFamily="34" charset="-122"/>
                <a:cs typeface="Calibri" pitchFamily="34" charset="-120"/>
              </a:rPr>
              <a:t>RK</a:t>
            </a:r>
            <a:endParaRPr lang="en-US" sz="1800" dirty="0"/>
          </a:p>
        </p:txBody>
      </p:sp>
      <p:sp>
        <p:nvSpPr>
          <p:cNvPr id="15" name="Text 13"/>
          <p:cNvSpPr/>
          <p:nvPr/>
        </p:nvSpPr>
        <p:spPr>
          <a:xfrm>
            <a:off x="2560320" y="2468880"/>
            <a:ext cx="178308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Rajan K</a:t>
            </a:r>
            <a:endParaRPr lang="en-US" sz="1200" dirty="0"/>
          </a:p>
        </p:txBody>
      </p:sp>
      <p:sp>
        <p:nvSpPr>
          <p:cNvPr id="16" name="Text 14"/>
          <p:cNvSpPr/>
          <p:nvPr/>
        </p:nvSpPr>
        <p:spPr>
          <a:xfrm>
            <a:off x="2560320" y="2807208"/>
            <a:ext cx="1783080" cy="256032"/>
          </a:xfrm>
          <a:prstGeom prst="rect">
            <a:avLst/>
          </a:prstGeom>
          <a:noFill/>
          <a:ln/>
        </p:spPr>
        <p:txBody>
          <a:bodyPr wrap="square" rtlCol="0" anchor="ctr"/>
          <a:lstStyle/>
          <a:p>
            <a:pPr algn="ctr" indent="0" marL="0">
              <a:buNone/>
            </a:pPr>
            <a:r>
              <a:rPr lang="en-US" sz="900" dirty="0">
                <a:solidFill>
                  <a:srgbClr val="00B37D"/>
                </a:solidFill>
                <a:latin typeface="Calibri" pitchFamily="34" charset="0"/>
                <a:ea typeface="Calibri" pitchFamily="34" charset="-122"/>
                <a:cs typeface="Calibri" pitchFamily="34" charset="-120"/>
              </a:rPr>
              <a:t>CTO</a:t>
            </a:r>
            <a:endParaRPr lang="en-US" sz="900" dirty="0"/>
          </a:p>
        </p:txBody>
      </p:sp>
      <p:sp>
        <p:nvSpPr>
          <p:cNvPr id="17" name="Shape 15"/>
          <p:cNvSpPr/>
          <p:nvPr/>
        </p:nvSpPr>
        <p:spPr>
          <a:xfrm>
            <a:off x="2743200" y="3108960"/>
            <a:ext cx="1417320" cy="0"/>
          </a:xfrm>
          <a:prstGeom prst="line">
            <a:avLst/>
          </a:prstGeom>
          <a:noFill/>
          <a:ln w="12700">
            <a:solidFill>
              <a:srgbClr val="333333"/>
            </a:solidFill>
            <a:prstDash val="solid"/>
          </a:ln>
        </p:spPr>
      </p:sp>
      <p:sp>
        <p:nvSpPr>
          <p:cNvPr id="18" name="Text 16"/>
          <p:cNvSpPr/>
          <p:nvPr/>
        </p:nvSpPr>
        <p:spPr>
          <a:xfrm>
            <a:off x="2560320" y="3200400"/>
            <a:ext cx="1783080" cy="1005840"/>
          </a:xfrm>
          <a:prstGeom prst="rect">
            <a:avLst/>
          </a:prstGeom>
          <a:noFill/>
          <a:ln/>
        </p:spPr>
        <p:txBody>
          <a:bodyPr wrap="square" rtlCol="0" anchor="ctr"/>
          <a:lstStyle/>
          <a:p>
            <a:pPr indent="0" marL="0">
              <a:buNone/>
            </a:pPr>
            <a:r>
              <a:rPr lang="en-US" sz="850" dirty="0">
                <a:solidFill>
                  <a:srgbClr val="CCCCCC"/>
                </a:solidFill>
                <a:latin typeface="Calibri" pitchFamily="34" charset="0"/>
                <a:ea typeface="Calibri" pitchFamily="34" charset="-122"/>
                <a:cs typeface="Calibri" pitchFamily="34" charset="-120"/>
              </a:rPr>
              <a:t>Spring Boot + ML backend. Built and scaled backend systems for 2M+ daily active users.</a:t>
            </a:r>
            <a:endParaRPr lang="en-US" sz="850" dirty="0"/>
          </a:p>
        </p:txBody>
      </p:sp>
      <p:sp>
        <p:nvSpPr>
          <p:cNvPr id="19" name="Shape 17"/>
          <p:cNvSpPr/>
          <p:nvPr/>
        </p:nvSpPr>
        <p:spPr>
          <a:xfrm>
            <a:off x="4617720" y="1417320"/>
            <a:ext cx="1965960" cy="2926080"/>
          </a:xfrm>
          <a:prstGeom prst="roundRect">
            <a:avLst>
              <a:gd name="adj" fmla="val 4651"/>
            </a:avLst>
          </a:prstGeom>
          <a:solidFill>
            <a:srgbClr val="1A1A1A"/>
          </a:solidFill>
          <a:ln w="12700">
            <a:solidFill>
              <a:srgbClr val="333333"/>
            </a:solidFill>
            <a:prstDash val="solid"/>
          </a:ln>
        </p:spPr>
      </p:sp>
      <p:sp>
        <p:nvSpPr>
          <p:cNvPr id="20" name="Shape 18"/>
          <p:cNvSpPr/>
          <p:nvPr/>
        </p:nvSpPr>
        <p:spPr>
          <a:xfrm>
            <a:off x="5148072" y="1536192"/>
            <a:ext cx="868680" cy="868680"/>
          </a:xfrm>
          <a:prstGeom prst="ellipse">
            <a:avLst/>
          </a:prstGeom>
          <a:solidFill>
            <a:srgbClr val="00B37D"/>
          </a:solidFill>
          <a:ln w="12700">
            <a:solidFill>
              <a:srgbClr val="00B37D"/>
            </a:solidFill>
            <a:prstDash val="solid"/>
          </a:ln>
        </p:spPr>
      </p:sp>
      <p:sp>
        <p:nvSpPr>
          <p:cNvPr id="21" name="Text 19"/>
          <p:cNvSpPr/>
          <p:nvPr/>
        </p:nvSpPr>
        <p:spPr>
          <a:xfrm>
            <a:off x="5148072" y="1554480"/>
            <a:ext cx="868680" cy="822960"/>
          </a:xfrm>
          <a:prstGeom prst="rect">
            <a:avLst/>
          </a:prstGeom>
          <a:noFill/>
          <a:ln/>
        </p:spPr>
        <p:txBody>
          <a:bodyPr wrap="square" rtlCol="0" anchor="ctr"/>
          <a:lstStyle/>
          <a:p>
            <a:pPr algn="ctr" indent="0" marL="0">
              <a:buNone/>
            </a:pPr>
            <a:r>
              <a:rPr lang="en-US" sz="1800" b="1" dirty="0">
                <a:solidFill>
                  <a:srgbClr val="111111"/>
                </a:solidFill>
                <a:latin typeface="Calibri" pitchFamily="34" charset="0"/>
                <a:ea typeface="Calibri" pitchFamily="34" charset="-122"/>
                <a:cs typeface="Calibri" pitchFamily="34" charset="-120"/>
              </a:rPr>
              <a:t>PM</a:t>
            </a:r>
            <a:endParaRPr lang="en-US" sz="1800" dirty="0"/>
          </a:p>
        </p:txBody>
      </p:sp>
      <p:sp>
        <p:nvSpPr>
          <p:cNvPr id="22" name="Text 20"/>
          <p:cNvSpPr/>
          <p:nvPr/>
        </p:nvSpPr>
        <p:spPr>
          <a:xfrm>
            <a:off x="4709160" y="2468880"/>
            <a:ext cx="178308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Priya M</a:t>
            </a:r>
            <a:endParaRPr lang="en-US" sz="1200" dirty="0"/>
          </a:p>
        </p:txBody>
      </p:sp>
      <p:sp>
        <p:nvSpPr>
          <p:cNvPr id="23" name="Text 21"/>
          <p:cNvSpPr/>
          <p:nvPr/>
        </p:nvSpPr>
        <p:spPr>
          <a:xfrm>
            <a:off x="4709160" y="2807208"/>
            <a:ext cx="1783080" cy="256032"/>
          </a:xfrm>
          <a:prstGeom prst="rect">
            <a:avLst/>
          </a:prstGeom>
          <a:noFill/>
          <a:ln/>
        </p:spPr>
        <p:txBody>
          <a:bodyPr wrap="square" rtlCol="0" anchor="ctr"/>
          <a:lstStyle/>
          <a:p>
            <a:pPr algn="ctr" indent="0" marL="0">
              <a:buNone/>
            </a:pPr>
            <a:r>
              <a:rPr lang="en-US" sz="900" dirty="0">
                <a:solidFill>
                  <a:srgbClr val="00B37D"/>
                </a:solidFill>
                <a:latin typeface="Calibri" pitchFamily="34" charset="0"/>
                <a:ea typeface="Calibri" pitchFamily="34" charset="-122"/>
                <a:cs typeface="Calibri" pitchFamily="34" charset="-120"/>
              </a:rPr>
              <a:t>Head of Sales</a:t>
            </a:r>
            <a:endParaRPr lang="en-US" sz="900" dirty="0"/>
          </a:p>
        </p:txBody>
      </p:sp>
      <p:sp>
        <p:nvSpPr>
          <p:cNvPr id="24" name="Shape 22"/>
          <p:cNvSpPr/>
          <p:nvPr/>
        </p:nvSpPr>
        <p:spPr>
          <a:xfrm>
            <a:off x="4892040" y="3108960"/>
            <a:ext cx="1417320" cy="0"/>
          </a:xfrm>
          <a:prstGeom prst="line">
            <a:avLst/>
          </a:prstGeom>
          <a:noFill/>
          <a:ln w="12700">
            <a:solidFill>
              <a:srgbClr val="333333"/>
            </a:solidFill>
            <a:prstDash val="solid"/>
          </a:ln>
        </p:spPr>
      </p:sp>
      <p:sp>
        <p:nvSpPr>
          <p:cNvPr id="25" name="Text 23"/>
          <p:cNvSpPr/>
          <p:nvPr/>
        </p:nvSpPr>
        <p:spPr>
          <a:xfrm>
            <a:off x="4709160" y="3200400"/>
            <a:ext cx="1783080" cy="1005840"/>
          </a:xfrm>
          <a:prstGeom prst="rect">
            <a:avLst/>
          </a:prstGeom>
          <a:noFill/>
          <a:ln/>
        </p:spPr>
        <p:txBody>
          <a:bodyPr wrap="square" rtlCol="0" anchor="ctr"/>
          <a:lstStyle/>
          <a:p>
            <a:pPr indent="0" marL="0">
              <a:buNone/>
            </a:pPr>
            <a:r>
              <a:rPr lang="en-US" sz="850" dirty="0">
                <a:solidFill>
                  <a:srgbClr val="CCCCCC"/>
                </a:solidFill>
                <a:latin typeface="Calibri" pitchFamily="34" charset="0"/>
                <a:ea typeface="Calibri" pitchFamily="34" charset="-122"/>
                <a:cs typeface="Calibri" pitchFamily="34" charset="-120"/>
              </a:rPr>
              <a:t>Grew up in her family's restaurant in Chennai. Knows every owner objection — and the answer.</a:t>
            </a:r>
            <a:endParaRPr lang="en-US" sz="850" dirty="0"/>
          </a:p>
        </p:txBody>
      </p:sp>
      <p:sp>
        <p:nvSpPr>
          <p:cNvPr id="26" name="Shape 24"/>
          <p:cNvSpPr/>
          <p:nvPr/>
        </p:nvSpPr>
        <p:spPr>
          <a:xfrm>
            <a:off x="6766560" y="1417320"/>
            <a:ext cx="1965960" cy="2926080"/>
          </a:xfrm>
          <a:prstGeom prst="roundRect">
            <a:avLst>
              <a:gd name="adj" fmla="val 4651"/>
            </a:avLst>
          </a:prstGeom>
          <a:solidFill>
            <a:srgbClr val="1A1A1A"/>
          </a:solidFill>
          <a:ln w="12700">
            <a:solidFill>
              <a:srgbClr val="333333"/>
            </a:solidFill>
            <a:prstDash val="solid"/>
          </a:ln>
        </p:spPr>
      </p:sp>
      <p:sp>
        <p:nvSpPr>
          <p:cNvPr id="27" name="Shape 25"/>
          <p:cNvSpPr/>
          <p:nvPr/>
        </p:nvSpPr>
        <p:spPr>
          <a:xfrm>
            <a:off x="7296912" y="1536192"/>
            <a:ext cx="868680" cy="868680"/>
          </a:xfrm>
          <a:prstGeom prst="ellipse">
            <a:avLst/>
          </a:prstGeom>
          <a:solidFill>
            <a:srgbClr val="00B37D"/>
          </a:solidFill>
          <a:ln w="12700">
            <a:solidFill>
              <a:srgbClr val="00B37D"/>
            </a:solidFill>
            <a:prstDash val="solid"/>
          </a:ln>
        </p:spPr>
      </p:sp>
      <p:sp>
        <p:nvSpPr>
          <p:cNvPr id="28" name="Text 26"/>
          <p:cNvSpPr/>
          <p:nvPr/>
        </p:nvSpPr>
        <p:spPr>
          <a:xfrm>
            <a:off x="7296912" y="1554480"/>
            <a:ext cx="868680" cy="822960"/>
          </a:xfrm>
          <a:prstGeom prst="rect">
            <a:avLst/>
          </a:prstGeom>
          <a:noFill/>
          <a:ln/>
        </p:spPr>
        <p:txBody>
          <a:bodyPr wrap="square" rtlCol="0" anchor="ctr"/>
          <a:lstStyle/>
          <a:p>
            <a:pPr algn="ctr" indent="0" marL="0">
              <a:buNone/>
            </a:pPr>
            <a:r>
              <a:rPr lang="en-US" sz="1800" b="1" dirty="0">
                <a:solidFill>
                  <a:srgbClr val="111111"/>
                </a:solidFill>
                <a:latin typeface="Calibri" pitchFamily="34" charset="0"/>
                <a:ea typeface="Calibri" pitchFamily="34" charset="-122"/>
                <a:cs typeface="Calibri" pitchFamily="34" charset="-120"/>
              </a:rPr>
              <a:t>AS</a:t>
            </a:r>
            <a:endParaRPr lang="en-US" sz="1800" dirty="0"/>
          </a:p>
        </p:txBody>
      </p:sp>
      <p:sp>
        <p:nvSpPr>
          <p:cNvPr id="29" name="Text 27"/>
          <p:cNvSpPr/>
          <p:nvPr/>
        </p:nvSpPr>
        <p:spPr>
          <a:xfrm>
            <a:off x="6858000" y="2468880"/>
            <a:ext cx="1783080" cy="3200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Arjun S</a:t>
            </a:r>
            <a:endParaRPr lang="en-US" sz="1200" dirty="0"/>
          </a:p>
        </p:txBody>
      </p:sp>
      <p:sp>
        <p:nvSpPr>
          <p:cNvPr id="30" name="Text 28"/>
          <p:cNvSpPr/>
          <p:nvPr/>
        </p:nvSpPr>
        <p:spPr>
          <a:xfrm>
            <a:off x="6858000" y="2807208"/>
            <a:ext cx="1783080" cy="256032"/>
          </a:xfrm>
          <a:prstGeom prst="rect">
            <a:avLst/>
          </a:prstGeom>
          <a:noFill/>
          <a:ln/>
        </p:spPr>
        <p:txBody>
          <a:bodyPr wrap="square" rtlCol="0" anchor="ctr"/>
          <a:lstStyle/>
          <a:p>
            <a:pPr algn="ctr" indent="0" marL="0">
              <a:buNone/>
            </a:pPr>
            <a:r>
              <a:rPr lang="en-US" sz="900" dirty="0">
                <a:solidFill>
                  <a:srgbClr val="00B37D"/>
                </a:solidFill>
                <a:latin typeface="Calibri" pitchFamily="34" charset="0"/>
                <a:ea typeface="Calibri" pitchFamily="34" charset="-122"/>
                <a:cs typeface="Calibri" pitchFamily="34" charset="-120"/>
              </a:rPr>
              <a:t>Product Design</a:t>
            </a:r>
            <a:endParaRPr lang="en-US" sz="900" dirty="0"/>
          </a:p>
        </p:txBody>
      </p:sp>
      <p:sp>
        <p:nvSpPr>
          <p:cNvPr id="31" name="Shape 29"/>
          <p:cNvSpPr/>
          <p:nvPr/>
        </p:nvSpPr>
        <p:spPr>
          <a:xfrm>
            <a:off x="7040880" y="3108960"/>
            <a:ext cx="1417320" cy="0"/>
          </a:xfrm>
          <a:prstGeom prst="line">
            <a:avLst/>
          </a:prstGeom>
          <a:noFill/>
          <a:ln w="12700">
            <a:solidFill>
              <a:srgbClr val="333333"/>
            </a:solidFill>
            <a:prstDash val="solid"/>
          </a:ln>
        </p:spPr>
      </p:sp>
      <p:sp>
        <p:nvSpPr>
          <p:cNvPr id="32" name="Text 30"/>
          <p:cNvSpPr/>
          <p:nvPr/>
        </p:nvSpPr>
        <p:spPr>
          <a:xfrm>
            <a:off x="6858000" y="3200400"/>
            <a:ext cx="1783080" cy="1005840"/>
          </a:xfrm>
          <a:prstGeom prst="rect">
            <a:avLst/>
          </a:prstGeom>
          <a:noFill/>
          <a:ln/>
        </p:spPr>
        <p:txBody>
          <a:bodyPr wrap="square" rtlCol="0" anchor="ctr"/>
          <a:lstStyle/>
          <a:p>
            <a:pPr indent="0" marL="0">
              <a:buNone/>
            </a:pPr>
            <a:r>
              <a:rPr lang="en-US" sz="850" dirty="0">
                <a:solidFill>
                  <a:srgbClr val="CCCCCC"/>
                </a:solidFill>
                <a:latin typeface="Calibri" pitchFamily="34" charset="0"/>
                <a:ea typeface="Calibri" pitchFamily="34" charset="-122"/>
                <a:cs typeface="Calibri" pitchFamily="34" charset="-120"/>
              </a:rPr>
              <a:t>Designed POS UX for a 50+ outlet QSR chain. Now building the product he always wished existed.</a:t>
            </a:r>
            <a:endParaRPr lang="en-US" sz="850" dirty="0"/>
          </a:p>
        </p:txBody>
      </p:sp>
      <p:sp>
        <p:nvSpPr>
          <p:cNvPr id="33" name="Text 31"/>
          <p:cNvSpPr/>
          <p:nvPr/>
        </p:nvSpPr>
        <p:spPr>
          <a:xfrm>
            <a:off x="365760" y="4846320"/>
            <a:ext cx="6400800" cy="182880"/>
          </a:xfrm>
          <a:prstGeom prst="rect">
            <a:avLst/>
          </a:prstGeom>
          <a:noFill/>
          <a:ln/>
        </p:spPr>
        <p:txBody>
          <a:bodyPr wrap="square" rtlCol="0" anchor="ctr"/>
          <a:lstStyle/>
          <a:p>
            <a:pPr algn="l" indent="0" marL="0">
              <a:buNone/>
            </a:pPr>
            <a:r>
              <a:rPr lang="en-US" sz="800" dirty="0">
                <a:solidFill>
                  <a:srgbClr val="888888"/>
                </a:solidFill>
                <a:latin typeface="Calibri" pitchFamily="34" charset="0"/>
                <a:ea typeface="Calibri" pitchFamily="34" charset="-122"/>
                <a:cs typeface="Calibri" pitchFamily="34" charset="-120"/>
              </a:rPr>
              <a:t>aviqr.com  ·  Confidential  ·  June 2026</a:t>
            </a:r>
            <a:endParaRPr lang="en-US" sz="800" dirty="0"/>
          </a:p>
        </p:txBody>
      </p:sp>
      <p:sp>
        <p:nvSpPr>
          <p:cNvPr id="34" name="Text 32"/>
          <p:cNvSpPr/>
          <p:nvPr/>
        </p:nvSpPr>
        <p:spPr>
          <a:xfrm>
            <a:off x="7772400" y="4846320"/>
            <a:ext cx="914400" cy="18288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14 / 18</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rtlCol="0" anchor="ctr"/>
          <a:lstStyle/>
          <a:p>
            <a:pPr indent="0" marL="0">
              <a:buNone/>
            </a:pPr>
            <a:r>
              <a:rPr lang="en-US" sz="900" b="1" spc="400" kern="0" dirty="0">
                <a:solidFill>
                  <a:srgbClr val="00B37D"/>
                </a:solidFill>
                <a:latin typeface="Calibri" pitchFamily="34" charset="0"/>
                <a:ea typeface="Calibri" pitchFamily="34" charset="-122"/>
                <a:cs typeface="Calibri" pitchFamily="34" charset="-120"/>
              </a:rPr>
              <a:t>FOR INVESTORS</a:t>
            </a:r>
            <a:endParaRPr lang="en-US" sz="900" dirty="0"/>
          </a:p>
        </p:txBody>
      </p:sp>
      <p:sp>
        <p:nvSpPr>
          <p:cNvPr id="3" name="Text 1"/>
          <p:cNvSpPr/>
          <p:nvPr/>
        </p:nvSpPr>
        <p:spPr>
          <a:xfrm>
            <a:off x="365760" y="502920"/>
            <a:ext cx="8229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questions we expect — answered.</a:t>
            </a:r>
            <a:endParaRPr lang="en-US" sz="2400" dirty="0"/>
          </a:p>
        </p:txBody>
      </p:sp>
      <p:sp>
        <p:nvSpPr>
          <p:cNvPr id="4" name="Shape 2"/>
          <p:cNvSpPr/>
          <p:nvPr/>
        </p:nvSpPr>
        <p:spPr>
          <a:xfrm>
            <a:off x="320040" y="1188720"/>
            <a:ext cx="4114800" cy="1645920"/>
          </a:xfrm>
          <a:prstGeom prst="roundRect">
            <a:avLst>
              <a:gd name="adj" fmla="val 5556"/>
            </a:avLst>
          </a:prstGeom>
          <a:solidFill>
            <a:srgbClr val="1A1A1A"/>
          </a:solidFill>
          <a:ln w="12700">
            <a:solidFill>
              <a:srgbClr val="333333"/>
            </a:solidFill>
            <a:prstDash val="solid"/>
          </a:ln>
        </p:spPr>
      </p:sp>
      <p:sp>
        <p:nvSpPr>
          <p:cNvPr id="5" name="Text 3"/>
          <p:cNvSpPr/>
          <p:nvPr/>
        </p:nvSpPr>
        <p:spPr>
          <a:xfrm>
            <a:off x="457200" y="1280160"/>
            <a:ext cx="3840480" cy="50292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Q:  What about Online eMenu? They have 5,000 restaurants.</a:t>
            </a:r>
            <a:endParaRPr lang="en-US" sz="1000" dirty="0"/>
          </a:p>
        </p:txBody>
      </p:sp>
      <p:sp>
        <p:nvSpPr>
          <p:cNvPr id="6" name="Shape 4"/>
          <p:cNvSpPr/>
          <p:nvPr/>
        </p:nvSpPr>
        <p:spPr>
          <a:xfrm>
            <a:off x="457200" y="1828800"/>
            <a:ext cx="3657600" cy="0"/>
          </a:xfrm>
          <a:prstGeom prst="line">
            <a:avLst/>
          </a:prstGeom>
          <a:noFill/>
          <a:ln w="12700">
            <a:solidFill>
              <a:srgbClr val="00B37D"/>
            </a:solidFill>
            <a:prstDash val="solid"/>
          </a:ln>
        </p:spPr>
      </p:sp>
      <p:sp>
        <p:nvSpPr>
          <p:cNvPr id="7" name="Text 5"/>
          <p:cNvSpPr/>
          <p:nvPr/>
        </p:nvSpPr>
        <p:spPr>
          <a:xfrm>
            <a:off x="457200" y="1920240"/>
            <a:ext cx="3840480" cy="82296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A:  Online eMenu is a full POS for restaurants that already bought POS — typically GCC-based mid-market chains. We sell into the 97% of Indian restaurants that don't have POS and never will. Our wedge is the 15-minute AI OCR install.</a:t>
            </a:r>
            <a:endParaRPr lang="en-US" sz="900" dirty="0"/>
          </a:p>
        </p:txBody>
      </p:sp>
      <p:sp>
        <p:nvSpPr>
          <p:cNvPr id="8" name="Shape 6"/>
          <p:cNvSpPr/>
          <p:nvPr/>
        </p:nvSpPr>
        <p:spPr>
          <a:xfrm>
            <a:off x="4663440" y="1188720"/>
            <a:ext cx="4114800" cy="1645920"/>
          </a:xfrm>
          <a:prstGeom prst="roundRect">
            <a:avLst>
              <a:gd name="adj" fmla="val 5556"/>
            </a:avLst>
          </a:prstGeom>
          <a:solidFill>
            <a:srgbClr val="1A1A1A"/>
          </a:solidFill>
          <a:ln w="12700">
            <a:solidFill>
              <a:srgbClr val="333333"/>
            </a:solidFill>
            <a:prstDash val="solid"/>
          </a:ln>
        </p:spPr>
      </p:sp>
      <p:sp>
        <p:nvSpPr>
          <p:cNvPr id="9" name="Text 7"/>
          <p:cNvSpPr/>
          <p:nvPr/>
        </p:nvSpPr>
        <p:spPr>
          <a:xfrm>
            <a:off x="4800600" y="1280160"/>
            <a:ext cx="3840480" cy="50292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Q:  Why launch FREE for 90 days? Aren't you giving away value?</a:t>
            </a:r>
            <a:endParaRPr lang="en-US" sz="1000" dirty="0"/>
          </a:p>
        </p:txBody>
      </p:sp>
      <p:sp>
        <p:nvSpPr>
          <p:cNvPr id="10" name="Shape 8"/>
          <p:cNvSpPr/>
          <p:nvPr/>
        </p:nvSpPr>
        <p:spPr>
          <a:xfrm>
            <a:off x="4800600" y="1828800"/>
            <a:ext cx="3657600" cy="0"/>
          </a:xfrm>
          <a:prstGeom prst="line">
            <a:avLst/>
          </a:prstGeom>
          <a:noFill/>
          <a:ln w="12700">
            <a:solidFill>
              <a:srgbClr val="00B37D"/>
            </a:solidFill>
            <a:prstDash val="solid"/>
          </a:ln>
        </p:spPr>
      </p:sp>
      <p:sp>
        <p:nvSpPr>
          <p:cNvPr id="11" name="Text 9"/>
          <p:cNvSpPr/>
          <p:nvPr/>
        </p:nvSpPr>
        <p:spPr>
          <a:xfrm>
            <a:off x="4800600" y="1920240"/>
            <a:ext cx="3840480" cy="82296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A:  AI OCR gets better with volume. Every menu we process trains our model on Indian dishes and scripts. The launch offer is a data acquisition strategy disguised as a discount. After 90 days, retained customers convert at standard price.</a:t>
            </a:r>
            <a:endParaRPr lang="en-US" sz="900" dirty="0"/>
          </a:p>
        </p:txBody>
      </p:sp>
      <p:sp>
        <p:nvSpPr>
          <p:cNvPr id="12" name="Shape 10"/>
          <p:cNvSpPr/>
          <p:nvPr/>
        </p:nvSpPr>
        <p:spPr>
          <a:xfrm>
            <a:off x="320040" y="3017520"/>
            <a:ext cx="4114800" cy="1645920"/>
          </a:xfrm>
          <a:prstGeom prst="roundRect">
            <a:avLst>
              <a:gd name="adj" fmla="val 5556"/>
            </a:avLst>
          </a:prstGeom>
          <a:solidFill>
            <a:srgbClr val="1A1A1A"/>
          </a:solidFill>
          <a:ln w="12700">
            <a:solidFill>
              <a:srgbClr val="333333"/>
            </a:solidFill>
            <a:prstDash val="solid"/>
          </a:ln>
        </p:spPr>
      </p:sp>
      <p:sp>
        <p:nvSpPr>
          <p:cNvPr id="13" name="Text 11"/>
          <p:cNvSpPr/>
          <p:nvPr/>
        </p:nvSpPr>
        <p:spPr>
          <a:xfrm>
            <a:off x="457200" y="3108960"/>
            <a:ext cx="3840480" cy="50292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Q:  What stops a competitor from copying AI OCR?</a:t>
            </a:r>
            <a:endParaRPr lang="en-US" sz="1000" dirty="0"/>
          </a:p>
        </p:txBody>
      </p:sp>
      <p:sp>
        <p:nvSpPr>
          <p:cNvPr id="14" name="Shape 12"/>
          <p:cNvSpPr/>
          <p:nvPr/>
        </p:nvSpPr>
        <p:spPr>
          <a:xfrm>
            <a:off x="457200" y="3657600"/>
            <a:ext cx="3657600" cy="0"/>
          </a:xfrm>
          <a:prstGeom prst="line">
            <a:avLst/>
          </a:prstGeom>
          <a:noFill/>
          <a:ln w="12700">
            <a:solidFill>
              <a:srgbClr val="00B37D"/>
            </a:solidFill>
            <a:prstDash val="solid"/>
          </a:ln>
        </p:spPr>
      </p:sp>
      <p:sp>
        <p:nvSpPr>
          <p:cNvPr id="15" name="Text 13"/>
          <p:cNvSpPr/>
          <p:nvPr/>
        </p:nvSpPr>
        <p:spPr>
          <a:xfrm>
            <a:off x="457200" y="3749040"/>
            <a:ext cx="3840480" cy="82296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A:  Nothing technically. But OCR for Indian menus needs Indian-language model training, real Indian menu photos (handwritten, smudged, multi-script), and 6–12 months of correction loops. We start that clock today.</a:t>
            </a:r>
            <a:endParaRPr lang="en-US" sz="900" dirty="0"/>
          </a:p>
        </p:txBody>
      </p:sp>
      <p:sp>
        <p:nvSpPr>
          <p:cNvPr id="16" name="Shape 14"/>
          <p:cNvSpPr/>
          <p:nvPr/>
        </p:nvSpPr>
        <p:spPr>
          <a:xfrm>
            <a:off x="4663440" y="3017520"/>
            <a:ext cx="4114800" cy="1645920"/>
          </a:xfrm>
          <a:prstGeom prst="roundRect">
            <a:avLst>
              <a:gd name="adj" fmla="val 5556"/>
            </a:avLst>
          </a:prstGeom>
          <a:solidFill>
            <a:srgbClr val="1A1A1A"/>
          </a:solidFill>
          <a:ln w="12700">
            <a:solidFill>
              <a:srgbClr val="333333"/>
            </a:solidFill>
            <a:prstDash val="solid"/>
          </a:ln>
        </p:spPr>
      </p:sp>
      <p:sp>
        <p:nvSpPr>
          <p:cNvPr id="17" name="Text 15"/>
          <p:cNvSpPr/>
          <p:nvPr/>
        </p:nvSpPr>
        <p:spPr>
          <a:xfrm>
            <a:off x="4800600" y="3108960"/>
            <a:ext cx="3840480" cy="50292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Q:  Why won't Zomato or Swiggy just build this?</a:t>
            </a:r>
            <a:endParaRPr lang="en-US" sz="1000" dirty="0"/>
          </a:p>
        </p:txBody>
      </p:sp>
      <p:sp>
        <p:nvSpPr>
          <p:cNvPr id="18" name="Shape 16"/>
          <p:cNvSpPr/>
          <p:nvPr/>
        </p:nvSpPr>
        <p:spPr>
          <a:xfrm>
            <a:off x="4800600" y="3657600"/>
            <a:ext cx="3657600" cy="0"/>
          </a:xfrm>
          <a:prstGeom prst="line">
            <a:avLst/>
          </a:prstGeom>
          <a:noFill/>
          <a:ln w="12700">
            <a:solidFill>
              <a:srgbClr val="00B37D"/>
            </a:solidFill>
            <a:prstDash val="solid"/>
          </a:ln>
        </p:spPr>
      </p:sp>
      <p:sp>
        <p:nvSpPr>
          <p:cNvPr id="19" name="Text 17"/>
          <p:cNvSpPr/>
          <p:nvPr/>
        </p:nvSpPr>
        <p:spPr>
          <a:xfrm>
            <a:off x="4800600" y="3749040"/>
            <a:ext cx="3840480" cy="82296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A:  They could. They won't. Their business is order GMV, not restaurant tooling. They've tried adjacent products (Zomato POS, Swiggy POS, Dotpe) and walked away. We're infrastructure they'd rather acquire than build.</a:t>
            </a:r>
            <a:endParaRPr lang="en-US" sz="900" dirty="0"/>
          </a:p>
        </p:txBody>
      </p:sp>
      <p:sp>
        <p:nvSpPr>
          <p:cNvPr id="20" name="Text 18"/>
          <p:cNvSpPr/>
          <p:nvPr/>
        </p:nvSpPr>
        <p:spPr>
          <a:xfrm>
            <a:off x="365760" y="4846320"/>
            <a:ext cx="6400800" cy="182880"/>
          </a:xfrm>
          <a:prstGeom prst="rect">
            <a:avLst/>
          </a:prstGeom>
          <a:noFill/>
          <a:ln/>
        </p:spPr>
        <p:txBody>
          <a:bodyPr wrap="square" rtlCol="0" anchor="ctr"/>
          <a:lstStyle/>
          <a:p>
            <a:pPr algn="l" indent="0" marL="0">
              <a:buNone/>
            </a:pPr>
            <a:r>
              <a:rPr lang="en-US" sz="800" dirty="0">
                <a:solidFill>
                  <a:srgbClr val="888888"/>
                </a:solidFill>
                <a:latin typeface="Calibri" pitchFamily="34" charset="0"/>
                <a:ea typeface="Calibri" pitchFamily="34" charset="-122"/>
                <a:cs typeface="Calibri" pitchFamily="34" charset="-120"/>
              </a:rPr>
              <a:t>aviqr.com  ·  Confidential  ·  June 2026</a:t>
            </a:r>
            <a:endParaRPr lang="en-US" sz="800" dirty="0"/>
          </a:p>
        </p:txBody>
      </p:sp>
      <p:sp>
        <p:nvSpPr>
          <p:cNvPr id="21" name="Text 19"/>
          <p:cNvSpPr/>
          <p:nvPr/>
        </p:nvSpPr>
        <p:spPr>
          <a:xfrm>
            <a:off x="7772400" y="4846320"/>
            <a:ext cx="914400" cy="18288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15 / 18</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rtlCol="0" anchor="ctr"/>
          <a:lstStyle/>
          <a:p>
            <a:pPr indent="0" marL="0">
              <a:buNone/>
            </a:pPr>
            <a:r>
              <a:rPr lang="en-US" sz="900" b="1" spc="400" kern="0" dirty="0">
                <a:solidFill>
                  <a:srgbClr val="00B37D"/>
                </a:solidFill>
                <a:latin typeface="Calibri" pitchFamily="34" charset="0"/>
                <a:ea typeface="Calibri" pitchFamily="34" charset="-122"/>
                <a:cs typeface="Calibri" pitchFamily="34" charset="-120"/>
              </a:rPr>
              <a:t>THE ASK</a:t>
            </a:r>
            <a:endParaRPr lang="en-US" sz="900" dirty="0"/>
          </a:p>
        </p:txBody>
      </p:sp>
      <p:sp>
        <p:nvSpPr>
          <p:cNvPr id="3" name="Text 1"/>
          <p:cNvSpPr/>
          <p:nvPr/>
        </p:nvSpPr>
        <p:spPr>
          <a:xfrm>
            <a:off x="365760" y="502920"/>
            <a:ext cx="82296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Rs.1.5 Cr seed. 18 months. Own the AI wedge.</a:t>
            </a:r>
            <a:endParaRPr lang="en-US" sz="2400" dirty="0"/>
          </a:p>
        </p:txBody>
      </p:sp>
      <p:sp>
        <p:nvSpPr>
          <p:cNvPr id="4" name="Shape 2"/>
          <p:cNvSpPr/>
          <p:nvPr/>
        </p:nvSpPr>
        <p:spPr>
          <a:xfrm>
            <a:off x="365760" y="1234440"/>
            <a:ext cx="8412480" cy="777240"/>
          </a:xfrm>
          <a:prstGeom prst="roundRect">
            <a:avLst>
              <a:gd name="adj" fmla="val 9412"/>
            </a:avLst>
          </a:prstGeom>
          <a:solidFill>
            <a:srgbClr val="1A1A1A"/>
          </a:solidFill>
          <a:ln w="12700">
            <a:solidFill>
              <a:srgbClr val="333333"/>
            </a:solidFill>
            <a:prstDash val="solid"/>
          </a:ln>
        </p:spPr>
      </p:sp>
      <p:sp>
        <p:nvSpPr>
          <p:cNvPr id="5" name="Shape 3"/>
          <p:cNvSpPr/>
          <p:nvPr/>
        </p:nvSpPr>
        <p:spPr>
          <a:xfrm>
            <a:off x="365760" y="1234440"/>
            <a:ext cx="3364992" cy="54864"/>
          </a:xfrm>
          <a:prstGeom prst="roundRect">
            <a:avLst>
              <a:gd name="adj" fmla="val 50000"/>
            </a:avLst>
          </a:prstGeom>
          <a:solidFill>
            <a:srgbClr val="00B37D"/>
          </a:solidFill>
          <a:ln w="12700">
            <a:solidFill>
              <a:srgbClr val="00B37D"/>
            </a:solidFill>
            <a:prstDash val="solid"/>
          </a:ln>
        </p:spPr>
      </p:sp>
      <p:sp>
        <p:nvSpPr>
          <p:cNvPr id="6" name="Text 4"/>
          <p:cNvSpPr/>
          <p:nvPr/>
        </p:nvSpPr>
        <p:spPr>
          <a:xfrm>
            <a:off x="475488" y="1344168"/>
            <a:ext cx="777240" cy="411480"/>
          </a:xfrm>
          <a:prstGeom prst="rect">
            <a:avLst/>
          </a:prstGeom>
          <a:noFill/>
          <a:ln/>
        </p:spPr>
        <p:txBody>
          <a:bodyPr wrap="square" rtlCol="0" anchor="ctr"/>
          <a:lstStyle/>
          <a:p>
            <a:pPr indent="0" marL="0">
              <a:buNone/>
            </a:pPr>
            <a:r>
              <a:rPr lang="en-US" sz="2200" b="1" dirty="0">
                <a:solidFill>
                  <a:srgbClr val="00B37D"/>
                </a:solidFill>
                <a:latin typeface="Calibri" pitchFamily="34" charset="0"/>
                <a:ea typeface="Calibri" pitchFamily="34" charset="-122"/>
                <a:cs typeface="Calibri" pitchFamily="34" charset="-120"/>
              </a:rPr>
              <a:t>40%</a:t>
            </a:r>
            <a:endParaRPr lang="en-US" sz="2200" dirty="0"/>
          </a:p>
        </p:txBody>
      </p:sp>
      <p:sp>
        <p:nvSpPr>
          <p:cNvPr id="7" name="Text 5"/>
          <p:cNvSpPr/>
          <p:nvPr/>
        </p:nvSpPr>
        <p:spPr>
          <a:xfrm>
            <a:off x="1325880" y="1325880"/>
            <a:ext cx="27432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Engineering</a:t>
            </a:r>
            <a:endParaRPr lang="en-US" sz="1200" dirty="0"/>
          </a:p>
        </p:txBody>
      </p:sp>
      <p:sp>
        <p:nvSpPr>
          <p:cNvPr id="8" name="Text 6"/>
          <p:cNvSpPr/>
          <p:nvPr/>
        </p:nvSpPr>
        <p:spPr>
          <a:xfrm>
            <a:off x="1325880" y="1664208"/>
            <a:ext cx="7132320" cy="27432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2 devs — AI OCR model, owner dashboard, scale infra.</a:t>
            </a:r>
            <a:endParaRPr lang="en-US" sz="900" dirty="0"/>
          </a:p>
        </p:txBody>
      </p:sp>
      <p:sp>
        <p:nvSpPr>
          <p:cNvPr id="9" name="Shape 7"/>
          <p:cNvSpPr/>
          <p:nvPr/>
        </p:nvSpPr>
        <p:spPr>
          <a:xfrm>
            <a:off x="365760" y="2148840"/>
            <a:ext cx="8412480" cy="777240"/>
          </a:xfrm>
          <a:prstGeom prst="roundRect">
            <a:avLst>
              <a:gd name="adj" fmla="val 9412"/>
            </a:avLst>
          </a:prstGeom>
          <a:solidFill>
            <a:srgbClr val="1A1A1A"/>
          </a:solidFill>
          <a:ln w="12700">
            <a:solidFill>
              <a:srgbClr val="333333"/>
            </a:solidFill>
            <a:prstDash val="solid"/>
          </a:ln>
        </p:spPr>
      </p:sp>
      <p:sp>
        <p:nvSpPr>
          <p:cNvPr id="10" name="Shape 8"/>
          <p:cNvSpPr/>
          <p:nvPr/>
        </p:nvSpPr>
        <p:spPr>
          <a:xfrm>
            <a:off x="365760" y="2148840"/>
            <a:ext cx="2523744" cy="54864"/>
          </a:xfrm>
          <a:prstGeom prst="roundRect">
            <a:avLst>
              <a:gd name="adj" fmla="val 50000"/>
            </a:avLst>
          </a:prstGeom>
          <a:solidFill>
            <a:srgbClr val="00D696"/>
          </a:solidFill>
          <a:ln w="12700">
            <a:solidFill>
              <a:srgbClr val="00D696"/>
            </a:solidFill>
            <a:prstDash val="solid"/>
          </a:ln>
        </p:spPr>
      </p:sp>
      <p:sp>
        <p:nvSpPr>
          <p:cNvPr id="11" name="Text 9"/>
          <p:cNvSpPr/>
          <p:nvPr/>
        </p:nvSpPr>
        <p:spPr>
          <a:xfrm>
            <a:off x="475488" y="2258568"/>
            <a:ext cx="777240" cy="411480"/>
          </a:xfrm>
          <a:prstGeom prst="rect">
            <a:avLst/>
          </a:prstGeom>
          <a:noFill/>
          <a:ln/>
        </p:spPr>
        <p:txBody>
          <a:bodyPr wrap="square" rtlCol="0" anchor="ctr"/>
          <a:lstStyle/>
          <a:p>
            <a:pPr indent="0" marL="0">
              <a:buNone/>
            </a:pPr>
            <a:r>
              <a:rPr lang="en-US" sz="2200" b="1" dirty="0">
                <a:solidFill>
                  <a:srgbClr val="00D696"/>
                </a:solidFill>
                <a:latin typeface="Calibri" pitchFamily="34" charset="0"/>
                <a:ea typeface="Calibri" pitchFamily="34" charset="-122"/>
                <a:cs typeface="Calibri" pitchFamily="34" charset="-120"/>
              </a:rPr>
              <a:t>30%</a:t>
            </a:r>
            <a:endParaRPr lang="en-US" sz="2200" dirty="0"/>
          </a:p>
        </p:txBody>
      </p:sp>
      <p:sp>
        <p:nvSpPr>
          <p:cNvPr id="12" name="Text 10"/>
          <p:cNvSpPr/>
          <p:nvPr/>
        </p:nvSpPr>
        <p:spPr>
          <a:xfrm>
            <a:off x="1325880" y="2240280"/>
            <a:ext cx="27432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Sales &amp; Marketing</a:t>
            </a:r>
            <a:endParaRPr lang="en-US" sz="1200" dirty="0"/>
          </a:p>
        </p:txBody>
      </p:sp>
      <p:sp>
        <p:nvSpPr>
          <p:cNvPr id="13" name="Text 11"/>
          <p:cNvSpPr/>
          <p:nvPr/>
        </p:nvSpPr>
        <p:spPr>
          <a:xfrm>
            <a:off x="1325880" y="2578608"/>
            <a:ext cx="7132320" cy="27432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2 city sales executives. Hit 500 paying outlets by M18.</a:t>
            </a:r>
            <a:endParaRPr lang="en-US" sz="900" dirty="0"/>
          </a:p>
        </p:txBody>
      </p:sp>
      <p:sp>
        <p:nvSpPr>
          <p:cNvPr id="14" name="Shape 12"/>
          <p:cNvSpPr/>
          <p:nvPr/>
        </p:nvSpPr>
        <p:spPr>
          <a:xfrm>
            <a:off x="365760" y="3063240"/>
            <a:ext cx="8412480" cy="777240"/>
          </a:xfrm>
          <a:prstGeom prst="roundRect">
            <a:avLst>
              <a:gd name="adj" fmla="val 9412"/>
            </a:avLst>
          </a:prstGeom>
          <a:solidFill>
            <a:srgbClr val="1A1A1A"/>
          </a:solidFill>
          <a:ln w="12700">
            <a:solidFill>
              <a:srgbClr val="333333"/>
            </a:solidFill>
            <a:prstDash val="solid"/>
          </a:ln>
        </p:spPr>
      </p:sp>
      <p:sp>
        <p:nvSpPr>
          <p:cNvPr id="15" name="Shape 13"/>
          <p:cNvSpPr/>
          <p:nvPr/>
        </p:nvSpPr>
        <p:spPr>
          <a:xfrm>
            <a:off x="365760" y="3063240"/>
            <a:ext cx="1682496" cy="54864"/>
          </a:xfrm>
          <a:prstGeom prst="roundRect">
            <a:avLst>
              <a:gd name="adj" fmla="val 50000"/>
            </a:avLst>
          </a:prstGeom>
          <a:solidFill>
            <a:srgbClr val="007A54"/>
          </a:solidFill>
          <a:ln w="12700">
            <a:solidFill>
              <a:srgbClr val="007A54"/>
            </a:solidFill>
            <a:prstDash val="solid"/>
          </a:ln>
        </p:spPr>
      </p:sp>
      <p:sp>
        <p:nvSpPr>
          <p:cNvPr id="16" name="Text 14"/>
          <p:cNvSpPr/>
          <p:nvPr/>
        </p:nvSpPr>
        <p:spPr>
          <a:xfrm>
            <a:off x="475488" y="3172968"/>
            <a:ext cx="777240" cy="411480"/>
          </a:xfrm>
          <a:prstGeom prst="rect">
            <a:avLst/>
          </a:prstGeom>
          <a:noFill/>
          <a:ln/>
        </p:spPr>
        <p:txBody>
          <a:bodyPr wrap="square" rtlCol="0" anchor="ctr"/>
          <a:lstStyle/>
          <a:p>
            <a:pPr indent="0" marL="0">
              <a:buNone/>
            </a:pPr>
            <a:r>
              <a:rPr lang="en-US" sz="2200" b="1" dirty="0">
                <a:solidFill>
                  <a:srgbClr val="007A54"/>
                </a:solidFill>
                <a:latin typeface="Calibri" pitchFamily="34" charset="0"/>
                <a:ea typeface="Calibri" pitchFamily="34" charset="-122"/>
                <a:cs typeface="Calibri" pitchFamily="34" charset="-120"/>
              </a:rPr>
              <a:t>20%</a:t>
            </a:r>
            <a:endParaRPr lang="en-US" sz="2200" dirty="0"/>
          </a:p>
        </p:txBody>
      </p:sp>
      <p:sp>
        <p:nvSpPr>
          <p:cNvPr id="17" name="Text 15"/>
          <p:cNvSpPr/>
          <p:nvPr/>
        </p:nvSpPr>
        <p:spPr>
          <a:xfrm>
            <a:off x="1325880" y="3154680"/>
            <a:ext cx="27432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Infra + AI OCR API</a:t>
            </a:r>
            <a:endParaRPr lang="en-US" sz="1200" dirty="0"/>
          </a:p>
        </p:txBody>
      </p:sp>
      <p:sp>
        <p:nvSpPr>
          <p:cNvPr id="18" name="Text 16"/>
          <p:cNvSpPr/>
          <p:nvPr/>
        </p:nvSpPr>
        <p:spPr>
          <a:xfrm>
            <a:off x="1325880" y="3493008"/>
            <a:ext cx="7132320" cy="27432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AWS, Google Vision API usage, monitoring, OCR fine-tuning.</a:t>
            </a:r>
            <a:endParaRPr lang="en-US" sz="900" dirty="0"/>
          </a:p>
        </p:txBody>
      </p:sp>
      <p:sp>
        <p:nvSpPr>
          <p:cNvPr id="19" name="Shape 17"/>
          <p:cNvSpPr/>
          <p:nvPr/>
        </p:nvSpPr>
        <p:spPr>
          <a:xfrm>
            <a:off x="365760" y="3977640"/>
            <a:ext cx="8412480" cy="777240"/>
          </a:xfrm>
          <a:prstGeom prst="roundRect">
            <a:avLst>
              <a:gd name="adj" fmla="val 9412"/>
            </a:avLst>
          </a:prstGeom>
          <a:solidFill>
            <a:srgbClr val="1A1A1A"/>
          </a:solidFill>
          <a:ln w="12700">
            <a:solidFill>
              <a:srgbClr val="333333"/>
            </a:solidFill>
            <a:prstDash val="solid"/>
          </a:ln>
        </p:spPr>
      </p:sp>
      <p:sp>
        <p:nvSpPr>
          <p:cNvPr id="20" name="Shape 18"/>
          <p:cNvSpPr/>
          <p:nvPr/>
        </p:nvSpPr>
        <p:spPr>
          <a:xfrm>
            <a:off x="365760" y="3977640"/>
            <a:ext cx="841248" cy="54864"/>
          </a:xfrm>
          <a:prstGeom prst="roundRect">
            <a:avLst>
              <a:gd name="adj" fmla="val 50000"/>
            </a:avLst>
          </a:prstGeom>
          <a:solidFill>
            <a:srgbClr val="005C3E"/>
          </a:solidFill>
          <a:ln w="12700">
            <a:solidFill>
              <a:srgbClr val="005C3E"/>
            </a:solidFill>
            <a:prstDash val="solid"/>
          </a:ln>
        </p:spPr>
      </p:sp>
      <p:sp>
        <p:nvSpPr>
          <p:cNvPr id="21" name="Text 19"/>
          <p:cNvSpPr/>
          <p:nvPr/>
        </p:nvSpPr>
        <p:spPr>
          <a:xfrm>
            <a:off x="475488" y="4087368"/>
            <a:ext cx="777240" cy="411480"/>
          </a:xfrm>
          <a:prstGeom prst="rect">
            <a:avLst/>
          </a:prstGeom>
          <a:noFill/>
          <a:ln/>
        </p:spPr>
        <p:txBody>
          <a:bodyPr wrap="square" rtlCol="0" anchor="ctr"/>
          <a:lstStyle/>
          <a:p>
            <a:pPr indent="0" marL="0">
              <a:buNone/>
            </a:pPr>
            <a:r>
              <a:rPr lang="en-US" sz="2200" b="1" dirty="0">
                <a:solidFill>
                  <a:srgbClr val="005C3E"/>
                </a:solidFill>
                <a:latin typeface="Calibri" pitchFamily="34" charset="0"/>
                <a:ea typeface="Calibri" pitchFamily="34" charset="-122"/>
                <a:cs typeface="Calibri" pitchFamily="34" charset="-120"/>
              </a:rPr>
              <a:t>10%</a:t>
            </a:r>
            <a:endParaRPr lang="en-US" sz="2200" dirty="0"/>
          </a:p>
        </p:txBody>
      </p:sp>
      <p:sp>
        <p:nvSpPr>
          <p:cNvPr id="22" name="Text 20"/>
          <p:cNvSpPr/>
          <p:nvPr/>
        </p:nvSpPr>
        <p:spPr>
          <a:xfrm>
            <a:off x="1325880" y="4069080"/>
            <a:ext cx="2743200" cy="3200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Legal &amp; Admin</a:t>
            </a:r>
            <a:endParaRPr lang="en-US" sz="1200" dirty="0"/>
          </a:p>
        </p:txBody>
      </p:sp>
      <p:sp>
        <p:nvSpPr>
          <p:cNvPr id="23" name="Text 21"/>
          <p:cNvSpPr/>
          <p:nvPr/>
        </p:nvSpPr>
        <p:spPr>
          <a:xfrm>
            <a:off x="1325880" y="4407408"/>
            <a:ext cx="7132320" cy="27432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Trademark, compliance, accountancy, Startup India DPIIT.</a:t>
            </a:r>
            <a:endParaRPr lang="en-US" sz="900" dirty="0"/>
          </a:p>
        </p:txBody>
      </p:sp>
      <p:sp>
        <p:nvSpPr>
          <p:cNvPr id="24" name="Shape 22"/>
          <p:cNvSpPr/>
          <p:nvPr/>
        </p:nvSpPr>
        <p:spPr>
          <a:xfrm>
            <a:off x="365760" y="4663440"/>
            <a:ext cx="8412480" cy="320040"/>
          </a:xfrm>
          <a:prstGeom prst="roundRect">
            <a:avLst>
              <a:gd name="adj" fmla="val 17143"/>
            </a:avLst>
          </a:prstGeom>
          <a:solidFill>
            <a:srgbClr val="00B37D"/>
          </a:solidFill>
          <a:ln w="12700">
            <a:solidFill>
              <a:srgbClr val="00B37D"/>
            </a:solidFill>
            <a:prstDash val="solid"/>
          </a:ln>
        </p:spPr>
      </p:sp>
      <p:sp>
        <p:nvSpPr>
          <p:cNvPr id="25" name="Text 23"/>
          <p:cNvSpPr/>
          <p:nvPr/>
        </p:nvSpPr>
        <p:spPr>
          <a:xfrm>
            <a:off x="365760" y="4709160"/>
            <a:ext cx="8412480" cy="246888"/>
          </a:xfrm>
          <a:prstGeom prst="rect">
            <a:avLst/>
          </a:prstGeom>
          <a:noFill/>
          <a:ln/>
        </p:spPr>
        <p:txBody>
          <a:bodyPr wrap="square" rtlCol="0" anchor="ctr"/>
          <a:lstStyle/>
          <a:p>
            <a:pPr algn="ctr" indent="0" marL="0">
              <a:buNone/>
            </a:pPr>
            <a:r>
              <a:rPr lang="en-US" sz="900" b="1" dirty="0">
                <a:solidFill>
                  <a:srgbClr val="111111"/>
                </a:solidFill>
                <a:latin typeface="Calibri" pitchFamily="34" charset="0"/>
                <a:ea typeface="Calibri" pitchFamily="34" charset="-122"/>
                <a:cs typeface="Calibri" pitchFamily="34" charset="-120"/>
              </a:rPr>
              <a:t>Valuation: Rs.6–8 Cr post-money  ·  CCPS or equity  ·  18-month runway  ·  AviQR Technologies Pvt Ltd</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365760" y="228600"/>
            <a:ext cx="8229600" cy="274320"/>
          </a:xfrm>
          <a:prstGeom prst="rect">
            <a:avLst/>
          </a:prstGeom>
          <a:noFill/>
          <a:ln/>
        </p:spPr>
        <p:txBody>
          <a:bodyPr wrap="square" rtlCol="0" anchor="ctr"/>
          <a:lstStyle/>
          <a:p>
            <a:pPr indent="0" marL="0">
              <a:buNone/>
            </a:pPr>
            <a:r>
              <a:rPr lang="en-US" sz="900" b="1" spc="400" kern="0" dirty="0">
                <a:solidFill>
                  <a:srgbClr val="00B37D"/>
                </a:solidFill>
                <a:latin typeface="Calibri" pitchFamily="34" charset="0"/>
                <a:ea typeface="Calibri" pitchFamily="34" charset="-122"/>
                <a:cs typeface="Calibri" pitchFamily="34" charset="-120"/>
              </a:rPr>
              <a:t>WHY NOW</a:t>
            </a:r>
            <a:endParaRPr lang="en-US" sz="900" dirty="0"/>
          </a:p>
        </p:txBody>
      </p:sp>
      <p:sp>
        <p:nvSpPr>
          <p:cNvPr id="3" name="Text 1"/>
          <p:cNvSpPr/>
          <p:nvPr/>
        </p:nvSpPr>
        <p:spPr>
          <a:xfrm>
            <a:off x="365760" y="502920"/>
            <a:ext cx="8229600" cy="50292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The market is ready. The AI just caught up.</a:t>
            </a:r>
            <a:endParaRPr lang="en-US" sz="2600" dirty="0"/>
          </a:p>
        </p:txBody>
      </p:sp>
      <p:sp>
        <p:nvSpPr>
          <p:cNvPr id="4" name="Shape 2"/>
          <p:cNvSpPr/>
          <p:nvPr/>
        </p:nvSpPr>
        <p:spPr>
          <a:xfrm>
            <a:off x="320040" y="1188720"/>
            <a:ext cx="2651760" cy="1508760"/>
          </a:xfrm>
          <a:prstGeom prst="roundRect">
            <a:avLst>
              <a:gd name="adj" fmla="val 6061"/>
            </a:avLst>
          </a:prstGeom>
          <a:solidFill>
            <a:srgbClr val="1A1A1A"/>
          </a:solidFill>
          <a:ln w="12700">
            <a:solidFill>
              <a:srgbClr val="333333"/>
            </a:solidFill>
            <a:prstDash val="solid"/>
          </a:ln>
        </p:spPr>
      </p:sp>
      <p:sp>
        <p:nvSpPr>
          <p:cNvPr id="5" name="Text 3"/>
          <p:cNvSpPr/>
          <p:nvPr/>
        </p:nvSpPr>
        <p:spPr>
          <a:xfrm>
            <a:off x="429768" y="1280160"/>
            <a:ext cx="411480" cy="347472"/>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6" name="Text 4"/>
          <p:cNvSpPr/>
          <p:nvPr/>
        </p:nvSpPr>
        <p:spPr>
          <a:xfrm>
            <a:off x="429768" y="1691640"/>
            <a:ext cx="2432304"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Smartphone penetration at 79%</a:t>
            </a:r>
            <a:endParaRPr lang="en-US" sz="1000" dirty="0"/>
          </a:p>
        </p:txBody>
      </p:sp>
      <p:sp>
        <p:nvSpPr>
          <p:cNvPr id="7" name="Text 5"/>
          <p:cNvSpPr/>
          <p:nvPr/>
        </p:nvSpPr>
        <p:spPr>
          <a:xfrm>
            <a:off x="429768" y="2075688"/>
            <a:ext cx="2432304" cy="54864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QR menus failed in 2018 because half the base couldn't use them. Not anymore.</a:t>
            </a:r>
            <a:endParaRPr lang="en-US" sz="900" dirty="0"/>
          </a:p>
        </p:txBody>
      </p:sp>
      <p:sp>
        <p:nvSpPr>
          <p:cNvPr id="8" name="Shape 6"/>
          <p:cNvSpPr/>
          <p:nvPr/>
        </p:nvSpPr>
        <p:spPr>
          <a:xfrm>
            <a:off x="3200400" y="1188720"/>
            <a:ext cx="2651760" cy="1508760"/>
          </a:xfrm>
          <a:prstGeom prst="roundRect">
            <a:avLst>
              <a:gd name="adj" fmla="val 6061"/>
            </a:avLst>
          </a:prstGeom>
          <a:solidFill>
            <a:srgbClr val="1A1A1A"/>
          </a:solidFill>
          <a:ln w="12700">
            <a:solidFill>
              <a:srgbClr val="333333"/>
            </a:solidFill>
            <a:prstDash val="solid"/>
          </a:ln>
        </p:spPr>
      </p:sp>
      <p:sp>
        <p:nvSpPr>
          <p:cNvPr id="9" name="Text 7"/>
          <p:cNvSpPr/>
          <p:nvPr/>
        </p:nvSpPr>
        <p:spPr>
          <a:xfrm>
            <a:off x="3310128" y="1280160"/>
            <a:ext cx="411480" cy="347472"/>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10" name="Text 8"/>
          <p:cNvSpPr/>
          <p:nvPr/>
        </p:nvSpPr>
        <p:spPr>
          <a:xfrm>
            <a:off x="3310128" y="1691640"/>
            <a:ext cx="2432304"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AI OCR accuracy crossed 95%</a:t>
            </a:r>
            <a:endParaRPr lang="en-US" sz="1000" dirty="0"/>
          </a:p>
        </p:txBody>
      </p:sp>
      <p:sp>
        <p:nvSpPr>
          <p:cNvPr id="11" name="Text 9"/>
          <p:cNvSpPr/>
          <p:nvPr/>
        </p:nvSpPr>
        <p:spPr>
          <a:xfrm>
            <a:off x="3310128" y="2075688"/>
            <a:ext cx="2432304" cy="54864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Google Vision and Textract now read Indian-language menus reliably — including Hindi, Tamil, and handwritten.</a:t>
            </a:r>
            <a:endParaRPr lang="en-US" sz="900" dirty="0"/>
          </a:p>
        </p:txBody>
      </p:sp>
      <p:sp>
        <p:nvSpPr>
          <p:cNvPr id="12" name="Shape 10"/>
          <p:cNvSpPr/>
          <p:nvPr/>
        </p:nvSpPr>
        <p:spPr>
          <a:xfrm>
            <a:off x="6080760" y="1188720"/>
            <a:ext cx="2651760" cy="1508760"/>
          </a:xfrm>
          <a:prstGeom prst="roundRect">
            <a:avLst>
              <a:gd name="adj" fmla="val 6061"/>
            </a:avLst>
          </a:prstGeom>
          <a:solidFill>
            <a:srgbClr val="1A1A1A"/>
          </a:solidFill>
          <a:ln w="12700">
            <a:solidFill>
              <a:srgbClr val="333333"/>
            </a:solidFill>
            <a:prstDash val="solid"/>
          </a:ln>
        </p:spPr>
      </p:sp>
      <p:sp>
        <p:nvSpPr>
          <p:cNvPr id="13" name="Text 11"/>
          <p:cNvSpPr/>
          <p:nvPr/>
        </p:nvSpPr>
        <p:spPr>
          <a:xfrm>
            <a:off x="6190488" y="1280160"/>
            <a:ext cx="411480" cy="347472"/>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14" name="Text 12"/>
          <p:cNvSpPr/>
          <p:nvPr/>
        </p:nvSpPr>
        <p:spPr>
          <a:xfrm>
            <a:off x="6190488" y="1691640"/>
            <a:ext cx="2432304"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WhatsApp-native India</a:t>
            </a:r>
            <a:endParaRPr lang="en-US" sz="1000" dirty="0"/>
          </a:p>
        </p:txBody>
      </p:sp>
      <p:sp>
        <p:nvSpPr>
          <p:cNvPr id="15" name="Text 13"/>
          <p:cNvSpPr/>
          <p:nvPr/>
        </p:nvSpPr>
        <p:spPr>
          <a:xfrm>
            <a:off x="6190488" y="2075688"/>
            <a:ext cx="2432304" cy="54864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Our sales, onboarding, and support run on WhatsApp. Zero friction for owners.</a:t>
            </a:r>
            <a:endParaRPr lang="en-US" sz="900" dirty="0"/>
          </a:p>
        </p:txBody>
      </p:sp>
      <p:sp>
        <p:nvSpPr>
          <p:cNvPr id="16" name="Shape 14"/>
          <p:cNvSpPr/>
          <p:nvPr/>
        </p:nvSpPr>
        <p:spPr>
          <a:xfrm>
            <a:off x="320040" y="2880360"/>
            <a:ext cx="2651760" cy="1508760"/>
          </a:xfrm>
          <a:prstGeom prst="roundRect">
            <a:avLst>
              <a:gd name="adj" fmla="val 6061"/>
            </a:avLst>
          </a:prstGeom>
          <a:solidFill>
            <a:srgbClr val="1A1A1A"/>
          </a:solidFill>
          <a:ln w="12700">
            <a:solidFill>
              <a:srgbClr val="333333"/>
            </a:solidFill>
            <a:prstDash val="solid"/>
          </a:ln>
        </p:spPr>
      </p:sp>
      <p:sp>
        <p:nvSpPr>
          <p:cNvPr id="17" name="Text 15"/>
          <p:cNvSpPr/>
          <p:nvPr/>
        </p:nvSpPr>
        <p:spPr>
          <a:xfrm>
            <a:off x="429768" y="2971800"/>
            <a:ext cx="411480" cy="347472"/>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18" name="Text 16"/>
          <p:cNvSpPr/>
          <p:nvPr/>
        </p:nvSpPr>
        <p:spPr>
          <a:xfrm>
            <a:off x="429768" y="3383280"/>
            <a:ext cx="2432304"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UPI is mainstream</a:t>
            </a:r>
            <a:endParaRPr lang="en-US" sz="1000" dirty="0"/>
          </a:p>
        </p:txBody>
      </p:sp>
      <p:sp>
        <p:nvSpPr>
          <p:cNvPr id="19" name="Text 17"/>
          <p:cNvSpPr/>
          <p:nvPr/>
        </p:nvSpPr>
        <p:spPr>
          <a:xfrm>
            <a:off x="429768" y="3767328"/>
            <a:ext cx="2432304" cy="54864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97% of smartphones have a UPI app. Online payment for food is a habit, not a novelty.</a:t>
            </a:r>
            <a:endParaRPr lang="en-US" sz="900" dirty="0"/>
          </a:p>
        </p:txBody>
      </p:sp>
      <p:sp>
        <p:nvSpPr>
          <p:cNvPr id="20" name="Shape 18"/>
          <p:cNvSpPr/>
          <p:nvPr/>
        </p:nvSpPr>
        <p:spPr>
          <a:xfrm>
            <a:off x="3200400" y="2880360"/>
            <a:ext cx="2651760" cy="1508760"/>
          </a:xfrm>
          <a:prstGeom prst="roundRect">
            <a:avLst>
              <a:gd name="adj" fmla="val 6061"/>
            </a:avLst>
          </a:prstGeom>
          <a:solidFill>
            <a:srgbClr val="1A1A1A"/>
          </a:solidFill>
          <a:ln w="12700">
            <a:solidFill>
              <a:srgbClr val="333333"/>
            </a:solidFill>
            <a:prstDash val="solid"/>
          </a:ln>
        </p:spPr>
      </p:sp>
      <p:sp>
        <p:nvSpPr>
          <p:cNvPr id="21" name="Text 19"/>
          <p:cNvSpPr/>
          <p:nvPr/>
        </p:nvSpPr>
        <p:spPr>
          <a:xfrm>
            <a:off x="3310128" y="2971800"/>
            <a:ext cx="411480" cy="347472"/>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22" name="Text 20"/>
          <p:cNvSpPr/>
          <p:nvPr/>
        </p:nvSpPr>
        <p:spPr>
          <a:xfrm>
            <a:off x="3310128" y="3383280"/>
            <a:ext cx="2432304"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Post-COVID hygiene shift</a:t>
            </a:r>
            <a:endParaRPr lang="en-US" sz="1000" dirty="0"/>
          </a:p>
        </p:txBody>
      </p:sp>
      <p:sp>
        <p:nvSpPr>
          <p:cNvPr id="23" name="Text 21"/>
          <p:cNvSpPr/>
          <p:nvPr/>
        </p:nvSpPr>
        <p:spPr>
          <a:xfrm>
            <a:off x="3310128" y="3767328"/>
            <a:ext cx="2432304" cy="54864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72% of diners prefer contactless menus. Owners are actively looking for solutions.</a:t>
            </a:r>
            <a:endParaRPr lang="en-US" sz="900" dirty="0"/>
          </a:p>
        </p:txBody>
      </p:sp>
      <p:sp>
        <p:nvSpPr>
          <p:cNvPr id="24" name="Shape 22"/>
          <p:cNvSpPr/>
          <p:nvPr/>
        </p:nvSpPr>
        <p:spPr>
          <a:xfrm>
            <a:off x="6080760" y="2880360"/>
            <a:ext cx="2651760" cy="1508760"/>
          </a:xfrm>
          <a:prstGeom prst="roundRect">
            <a:avLst>
              <a:gd name="adj" fmla="val 6061"/>
            </a:avLst>
          </a:prstGeom>
          <a:solidFill>
            <a:srgbClr val="1A1A1A"/>
          </a:solidFill>
          <a:ln w="12700">
            <a:solidFill>
              <a:srgbClr val="333333"/>
            </a:solidFill>
            <a:prstDash val="solid"/>
          </a:ln>
        </p:spPr>
      </p:sp>
      <p:sp>
        <p:nvSpPr>
          <p:cNvPr id="25" name="Text 23"/>
          <p:cNvSpPr/>
          <p:nvPr/>
        </p:nvSpPr>
        <p:spPr>
          <a:xfrm>
            <a:off x="6190488" y="2971800"/>
            <a:ext cx="411480" cy="347472"/>
          </a:xfrm>
          <a:prstGeom prst="rect">
            <a:avLst/>
          </a:prstGeom>
          <a:noFill/>
          <a:ln/>
        </p:spPr>
        <p:txBody>
          <a:bodyPr wrap="square" rtlCol="0" anchor="ctr"/>
          <a:lstStyle/>
          <a:p>
            <a:pPr indent="0" marL="0">
              <a:buNone/>
            </a:pPr>
            <a:r>
              <a:rPr lang="en-US" sz="1800" dirty="0">
                <a:solidFill>
                  <a:srgbClr val="000000"/>
                </a:solidFill>
              </a:rPr>
              <a:t>🏁</a:t>
            </a:r>
            <a:endParaRPr lang="en-US" sz="1800" dirty="0"/>
          </a:p>
        </p:txBody>
      </p:sp>
      <p:sp>
        <p:nvSpPr>
          <p:cNvPr id="26" name="Text 24"/>
          <p:cNvSpPr/>
          <p:nvPr/>
        </p:nvSpPr>
        <p:spPr>
          <a:xfrm>
            <a:off x="6190488" y="3383280"/>
            <a:ext cx="2432304" cy="34747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No dominant AI player yet</a:t>
            </a:r>
            <a:endParaRPr lang="en-US" sz="1000" dirty="0"/>
          </a:p>
        </p:txBody>
      </p:sp>
      <p:sp>
        <p:nvSpPr>
          <p:cNvPr id="27" name="Text 25"/>
          <p:cNvSpPr/>
          <p:nvPr/>
        </p:nvSpPr>
        <p:spPr>
          <a:xfrm>
            <a:off x="6190488" y="3767328"/>
            <a:ext cx="2432304" cy="548640"/>
          </a:xfrm>
          <a:prstGeom prst="rect">
            <a:avLst/>
          </a:prstGeom>
          <a:noFill/>
          <a:ln/>
        </p:spPr>
        <p:txBody>
          <a:bodyPr wrap="square" rtlCol="0" anchor="ctr"/>
          <a:lstStyle/>
          <a:p>
            <a:pPr indent="0" marL="0">
              <a:buNone/>
            </a:pPr>
            <a:r>
              <a:rPr lang="en-US" sz="900" dirty="0">
                <a:solidFill>
                  <a:srgbClr val="CCCCCC"/>
                </a:solidFill>
                <a:latin typeface="Calibri" pitchFamily="34" charset="0"/>
                <a:ea typeface="Calibri" pitchFamily="34" charset="-122"/>
                <a:cs typeface="Calibri" pitchFamily="34" charset="-120"/>
              </a:rPr>
              <a:t>Dotpe has funding but no AI OCR, no permanent QR, no hotel vertical. The race is still open.</a:t>
            </a:r>
            <a:endParaRPr lang="en-US" sz="900" dirty="0"/>
          </a:p>
        </p:txBody>
      </p:sp>
      <p:sp>
        <p:nvSpPr>
          <p:cNvPr id="28" name="Text 26"/>
          <p:cNvSpPr/>
          <p:nvPr/>
        </p:nvSpPr>
        <p:spPr>
          <a:xfrm>
            <a:off x="365760" y="4846320"/>
            <a:ext cx="6400800" cy="182880"/>
          </a:xfrm>
          <a:prstGeom prst="rect">
            <a:avLst/>
          </a:prstGeom>
          <a:noFill/>
          <a:ln/>
        </p:spPr>
        <p:txBody>
          <a:bodyPr wrap="square" rtlCol="0" anchor="ctr"/>
          <a:lstStyle/>
          <a:p>
            <a:pPr algn="l" indent="0" marL="0">
              <a:buNone/>
            </a:pPr>
            <a:r>
              <a:rPr lang="en-US" sz="800" dirty="0">
                <a:solidFill>
                  <a:srgbClr val="888888"/>
                </a:solidFill>
                <a:latin typeface="Calibri" pitchFamily="34" charset="0"/>
                <a:ea typeface="Calibri" pitchFamily="34" charset="-122"/>
                <a:cs typeface="Calibri" pitchFamily="34" charset="-120"/>
              </a:rPr>
              <a:t>aviqr.com  ·  Confidential  ·  June 2026</a:t>
            </a:r>
            <a:endParaRPr lang="en-US" sz="800" dirty="0"/>
          </a:p>
        </p:txBody>
      </p:sp>
      <p:sp>
        <p:nvSpPr>
          <p:cNvPr id="29" name="Text 27"/>
          <p:cNvSpPr/>
          <p:nvPr/>
        </p:nvSpPr>
        <p:spPr>
          <a:xfrm>
            <a:off x="7772400" y="4846320"/>
            <a:ext cx="914400" cy="182880"/>
          </a:xfrm>
          <a:prstGeom prst="rect">
            <a:avLst/>
          </a:prstGeom>
          <a:noFill/>
          <a:ln/>
        </p:spPr>
        <p:txBody>
          <a:bodyPr wrap="square" rtlCol="0" anchor="ctr"/>
          <a:lstStyle/>
          <a:p>
            <a:pPr algn="r" indent="0" marL="0">
              <a:buNone/>
            </a:pPr>
            <a:r>
              <a:rPr lang="en-US" sz="800" dirty="0">
                <a:solidFill>
                  <a:srgbClr val="888888"/>
                </a:solidFill>
                <a:latin typeface="Calibri" pitchFamily="34" charset="0"/>
                <a:ea typeface="Calibri" pitchFamily="34" charset="-122"/>
                <a:cs typeface="Calibri" pitchFamily="34" charset="-120"/>
              </a:rPr>
              <a:t>17 / 18</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111"/>
        </a:solidFill>
      </p:bgPr>
    </p:bg>
    <p:spTree>
      <p:nvGrpSpPr>
        <p:cNvPr id="1" name=""/>
        <p:cNvGrpSpPr/>
        <p:nvPr/>
      </p:nvGrpSpPr>
      <p:grpSpPr>
        <a:xfrm>
          <a:off x="0" y="0"/>
          <a:ext cx="0" cy="0"/>
          <a:chOff x="0" y="0"/>
          <a:chExt cx="0" cy="0"/>
        </a:xfrm>
      </p:grpSpPr>
      <p:sp>
        <p:nvSpPr>
          <p:cNvPr id="2" name="Shape 0"/>
          <p:cNvSpPr/>
          <p:nvPr/>
        </p:nvSpPr>
        <p:spPr>
          <a:xfrm>
            <a:off x="5943600" y="-1371600"/>
            <a:ext cx="5486400" cy="5486400"/>
          </a:xfrm>
          <a:prstGeom prst="ellipse">
            <a:avLst/>
          </a:prstGeom>
          <a:solidFill>
            <a:srgbClr val="00B37D">
              <a:alpha val="12000"/>
            </a:srgbClr>
          </a:solidFill>
          <a:ln w="12700">
            <a:solidFill>
              <a:srgbClr val="00B37D"/>
            </a:solidFill>
            <a:prstDash val="solid"/>
          </a:ln>
        </p:spPr>
      </p:sp>
      <p:sp>
        <p:nvSpPr>
          <p:cNvPr id="3" name="Text 1"/>
          <p:cNvSpPr/>
          <p:nvPr/>
        </p:nvSpPr>
        <p:spPr>
          <a:xfrm>
            <a:off x="457200" y="457200"/>
            <a:ext cx="1280160" cy="640080"/>
          </a:xfrm>
          <a:prstGeom prst="rect">
            <a:avLst/>
          </a:prstGeom>
          <a:noFill/>
          <a:ln/>
        </p:spPr>
        <p:txBody>
          <a:bodyPr wrap="square" lIns="0" tIns="0" rIns="0" bIns="0" rtlCol="0" anchor="ctr"/>
          <a:lstStyle/>
          <a:p>
            <a:pPr indent="0" marL="0">
              <a:buNone/>
            </a:pPr>
            <a:r>
              <a:rPr lang="en-US" sz="4200" b="1" dirty="0">
                <a:solidFill>
                  <a:srgbClr val="FFFFFF"/>
                </a:solidFill>
                <a:latin typeface="Calibri" pitchFamily="34" charset="0"/>
                <a:ea typeface="Calibri" pitchFamily="34" charset="-122"/>
                <a:cs typeface="Calibri" pitchFamily="34" charset="-120"/>
              </a:rPr>
              <a:t>Avi</a:t>
            </a:r>
            <a:endParaRPr lang="en-US" sz="4200" dirty="0"/>
          </a:p>
        </p:txBody>
      </p:sp>
      <p:sp>
        <p:nvSpPr>
          <p:cNvPr id="4" name="Text 2"/>
          <p:cNvSpPr/>
          <p:nvPr/>
        </p:nvSpPr>
        <p:spPr>
          <a:xfrm>
            <a:off x="1463040" y="457200"/>
            <a:ext cx="822960" cy="640080"/>
          </a:xfrm>
          <a:prstGeom prst="rect">
            <a:avLst/>
          </a:prstGeom>
          <a:noFill/>
          <a:ln/>
        </p:spPr>
        <p:txBody>
          <a:bodyPr wrap="square" lIns="0" tIns="0" rIns="0" bIns="0" rtlCol="0" anchor="ctr"/>
          <a:lstStyle/>
          <a:p>
            <a:pPr indent="0" marL="0">
              <a:buNone/>
            </a:pPr>
            <a:r>
              <a:rPr lang="en-US" sz="4200" b="1" dirty="0">
                <a:solidFill>
                  <a:srgbClr val="00B37D"/>
                </a:solidFill>
                <a:latin typeface="Calibri" pitchFamily="34" charset="0"/>
                <a:ea typeface="Calibri" pitchFamily="34" charset="-122"/>
                <a:cs typeface="Calibri" pitchFamily="34" charset="-120"/>
              </a:rPr>
              <a:t>QR</a:t>
            </a:r>
            <a:endParaRPr lang="en-US" sz="4200" dirty="0"/>
          </a:p>
        </p:txBody>
      </p:sp>
      <p:sp>
        <p:nvSpPr>
          <p:cNvPr id="5" name="Text 3"/>
          <p:cNvSpPr/>
          <p:nvPr/>
        </p:nvSpPr>
        <p:spPr>
          <a:xfrm>
            <a:off x="457200" y="1078992"/>
            <a:ext cx="3657600" cy="256032"/>
          </a:xfrm>
          <a:prstGeom prst="rect">
            <a:avLst/>
          </a:prstGeom>
          <a:noFill/>
          <a:ln/>
        </p:spPr>
        <p:txBody>
          <a:bodyPr wrap="square" rtlCol="0" anchor="ctr"/>
          <a:lstStyle/>
          <a:p>
            <a:pPr indent="0" marL="0">
              <a:buNone/>
            </a:pPr>
            <a:r>
              <a:rPr lang="en-US" sz="1100" dirty="0">
                <a:solidFill>
                  <a:srgbClr val="888888"/>
                </a:solidFill>
                <a:latin typeface="Calibri" pitchFamily="34" charset="0"/>
                <a:ea typeface="Calibri" pitchFamily="34" charset="-122"/>
                <a:cs typeface="Calibri" pitchFamily="34" charset="-120"/>
              </a:rPr>
              <a:t>Technologies Pvt Ltd</a:t>
            </a:r>
            <a:endParaRPr lang="en-US" sz="1100" dirty="0"/>
          </a:p>
        </p:txBody>
      </p:sp>
      <p:sp>
        <p:nvSpPr>
          <p:cNvPr id="6" name="Text 4"/>
          <p:cNvSpPr/>
          <p:nvPr/>
        </p:nvSpPr>
        <p:spPr>
          <a:xfrm>
            <a:off x="457200" y="1554480"/>
            <a:ext cx="6858000" cy="11887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Let's build the AI-QR menu layer</a:t>
            </a:r>
            <a:endParaRPr lang="en-US" sz="2800" dirty="0"/>
          </a:p>
          <a:p>
            <a:pPr indent="0" marL="0">
              <a:buNone/>
            </a:pPr>
            <a:r>
              <a:rPr lang="en-US" sz="2800" b="1" dirty="0">
                <a:solidFill>
                  <a:srgbClr val="FFFFFF"/>
                </a:solidFill>
                <a:latin typeface="Calibri" pitchFamily="34" charset="0"/>
                <a:ea typeface="Calibri" pitchFamily="34" charset="-122"/>
                <a:cs typeface="Calibri" pitchFamily="34" charset="-120"/>
              </a:rPr>
              <a:t>for India's 7.5 million restaurants.</a:t>
            </a:r>
            <a:endParaRPr lang="en-US" sz="2800" dirty="0"/>
          </a:p>
        </p:txBody>
      </p:sp>
      <p:sp>
        <p:nvSpPr>
          <p:cNvPr id="7" name="Text 5"/>
          <p:cNvSpPr/>
          <p:nvPr/>
        </p:nvSpPr>
        <p:spPr>
          <a:xfrm>
            <a:off x="457200" y="2834640"/>
            <a:ext cx="6400800" cy="320040"/>
          </a:xfrm>
          <a:prstGeom prst="rect">
            <a:avLst/>
          </a:prstGeom>
          <a:noFill/>
          <a:ln/>
        </p:spPr>
        <p:txBody>
          <a:bodyPr wrap="square" rtlCol="0" anchor="ctr"/>
          <a:lstStyle/>
          <a:p>
            <a:pPr indent="0" marL="0">
              <a:buNone/>
            </a:pPr>
            <a:r>
              <a:rPr lang="en-US" sz="1200" dirty="0">
                <a:solidFill>
                  <a:srgbClr val="00B37D"/>
                </a:solidFill>
                <a:latin typeface="Calibri" pitchFamily="34" charset="0"/>
                <a:ea typeface="Calibri" pitchFamily="34" charset="-122"/>
                <a:cs typeface="Calibri" pitchFamily="34" charset="-120"/>
              </a:rPr>
              <a:t>Seed Round  ·  Rs.1.5 Cr  ·  CCPS  ·  18-month runway</a:t>
            </a:r>
            <a:endParaRPr lang="en-US" sz="1200" dirty="0"/>
          </a:p>
        </p:txBody>
      </p:sp>
      <p:sp>
        <p:nvSpPr>
          <p:cNvPr id="8" name="Text 6"/>
          <p:cNvSpPr/>
          <p:nvPr/>
        </p:nvSpPr>
        <p:spPr>
          <a:xfrm>
            <a:off x="457200" y="3337560"/>
            <a:ext cx="1188720" cy="301752"/>
          </a:xfrm>
          <a:prstGeom prst="rect">
            <a:avLst/>
          </a:prstGeom>
          <a:noFill/>
          <a:ln/>
        </p:spPr>
        <p:txBody>
          <a:bodyPr wrap="square" rtlCol="0" anchor="ctr"/>
          <a:lstStyle/>
          <a:p>
            <a:pPr indent="0" marL="0">
              <a:buNone/>
            </a:pPr>
            <a:r>
              <a:rPr lang="en-US" sz="1000" dirty="0">
                <a:solidFill>
                  <a:srgbClr val="888888"/>
                </a:solidFill>
                <a:latin typeface="Calibri" pitchFamily="34" charset="0"/>
                <a:ea typeface="Calibri" pitchFamily="34" charset="-122"/>
                <a:cs typeface="Calibri" pitchFamily="34" charset="-120"/>
              </a:rPr>
              <a:t>WhatsApp:</a:t>
            </a:r>
            <a:endParaRPr lang="en-US" sz="1000" dirty="0"/>
          </a:p>
        </p:txBody>
      </p:sp>
      <p:sp>
        <p:nvSpPr>
          <p:cNvPr id="9" name="Text 7"/>
          <p:cNvSpPr/>
          <p:nvPr/>
        </p:nvSpPr>
        <p:spPr>
          <a:xfrm>
            <a:off x="1691640" y="3337560"/>
            <a:ext cx="3657600" cy="30175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+91 88729 47878</a:t>
            </a:r>
            <a:endParaRPr lang="en-US" sz="1000" dirty="0"/>
          </a:p>
        </p:txBody>
      </p:sp>
      <p:sp>
        <p:nvSpPr>
          <p:cNvPr id="10" name="Text 8"/>
          <p:cNvSpPr/>
          <p:nvPr/>
        </p:nvSpPr>
        <p:spPr>
          <a:xfrm>
            <a:off x="457200" y="3685032"/>
            <a:ext cx="1188720" cy="301752"/>
          </a:xfrm>
          <a:prstGeom prst="rect">
            <a:avLst/>
          </a:prstGeom>
          <a:noFill/>
          <a:ln/>
        </p:spPr>
        <p:txBody>
          <a:bodyPr wrap="square" rtlCol="0" anchor="ctr"/>
          <a:lstStyle/>
          <a:p>
            <a:pPr indent="0" marL="0">
              <a:buNone/>
            </a:pPr>
            <a:r>
              <a:rPr lang="en-US" sz="1000" dirty="0">
                <a:solidFill>
                  <a:srgbClr val="888888"/>
                </a:solidFill>
                <a:latin typeface="Calibri" pitchFamily="34" charset="0"/>
                <a:ea typeface="Calibri" pitchFamily="34" charset="-122"/>
                <a:cs typeface="Calibri" pitchFamily="34" charset="-120"/>
              </a:rPr>
              <a:t>Email:</a:t>
            </a:r>
            <a:endParaRPr lang="en-US" sz="1000" dirty="0"/>
          </a:p>
        </p:txBody>
      </p:sp>
      <p:sp>
        <p:nvSpPr>
          <p:cNvPr id="11" name="Text 9"/>
          <p:cNvSpPr/>
          <p:nvPr/>
        </p:nvSpPr>
        <p:spPr>
          <a:xfrm>
            <a:off x="1691640" y="3685032"/>
            <a:ext cx="3657600" cy="30175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sujeetn75@gmail.com</a:t>
            </a:r>
            <a:endParaRPr lang="en-US" sz="1000" dirty="0"/>
          </a:p>
        </p:txBody>
      </p:sp>
      <p:sp>
        <p:nvSpPr>
          <p:cNvPr id="12" name="Text 10"/>
          <p:cNvSpPr/>
          <p:nvPr/>
        </p:nvSpPr>
        <p:spPr>
          <a:xfrm>
            <a:off x="457200" y="4032504"/>
            <a:ext cx="1188720" cy="301752"/>
          </a:xfrm>
          <a:prstGeom prst="rect">
            <a:avLst/>
          </a:prstGeom>
          <a:noFill/>
          <a:ln/>
        </p:spPr>
        <p:txBody>
          <a:bodyPr wrap="square" rtlCol="0" anchor="ctr"/>
          <a:lstStyle/>
          <a:p>
            <a:pPr indent="0" marL="0">
              <a:buNone/>
            </a:pPr>
            <a:r>
              <a:rPr lang="en-US" sz="1000" dirty="0">
                <a:solidFill>
                  <a:srgbClr val="888888"/>
                </a:solidFill>
                <a:latin typeface="Calibri" pitchFamily="34" charset="0"/>
                <a:ea typeface="Calibri" pitchFamily="34" charset="-122"/>
                <a:cs typeface="Calibri" pitchFamily="34" charset="-120"/>
              </a:rPr>
              <a:t>Office:</a:t>
            </a:r>
            <a:endParaRPr lang="en-US" sz="1000" dirty="0"/>
          </a:p>
        </p:txBody>
      </p:sp>
      <p:sp>
        <p:nvSpPr>
          <p:cNvPr id="13" name="Text 11"/>
          <p:cNvSpPr/>
          <p:nvPr/>
        </p:nvSpPr>
        <p:spPr>
          <a:xfrm>
            <a:off x="1691640" y="4032504"/>
            <a:ext cx="3657600" cy="30175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Koramangala, Bengaluru</a:t>
            </a:r>
            <a:endParaRPr lang="en-US" sz="1000" dirty="0"/>
          </a:p>
        </p:txBody>
      </p:sp>
      <p:sp>
        <p:nvSpPr>
          <p:cNvPr id="14" name="Text 12"/>
          <p:cNvSpPr/>
          <p:nvPr/>
        </p:nvSpPr>
        <p:spPr>
          <a:xfrm>
            <a:off x="457200" y="4379976"/>
            <a:ext cx="1188720" cy="301752"/>
          </a:xfrm>
          <a:prstGeom prst="rect">
            <a:avLst/>
          </a:prstGeom>
          <a:noFill/>
          <a:ln/>
        </p:spPr>
        <p:txBody>
          <a:bodyPr wrap="square" rtlCol="0" anchor="ctr"/>
          <a:lstStyle/>
          <a:p>
            <a:pPr indent="0" marL="0">
              <a:buNone/>
            </a:pPr>
            <a:r>
              <a:rPr lang="en-US" sz="1000" dirty="0">
                <a:solidFill>
                  <a:srgbClr val="888888"/>
                </a:solidFill>
                <a:latin typeface="Calibri" pitchFamily="34" charset="0"/>
                <a:ea typeface="Calibri" pitchFamily="34" charset="-122"/>
                <a:cs typeface="Calibri" pitchFamily="34" charset="-120"/>
              </a:rPr>
              <a:t>Web:</a:t>
            </a:r>
            <a:endParaRPr lang="en-US" sz="1000" dirty="0"/>
          </a:p>
        </p:txBody>
      </p:sp>
      <p:sp>
        <p:nvSpPr>
          <p:cNvPr id="15" name="Text 13"/>
          <p:cNvSpPr/>
          <p:nvPr/>
        </p:nvSpPr>
        <p:spPr>
          <a:xfrm>
            <a:off x="1691640" y="4379976"/>
            <a:ext cx="3657600" cy="301752"/>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aviqr.com</a:t>
            </a:r>
            <a:endParaRPr lang="en-US" sz="1000" dirty="0"/>
          </a:p>
        </p:txBody>
      </p:sp>
      <p:sp>
        <p:nvSpPr>
          <p:cNvPr id="16" name="Shape 14"/>
          <p:cNvSpPr/>
          <p:nvPr/>
        </p:nvSpPr>
        <p:spPr>
          <a:xfrm>
            <a:off x="457200" y="4663440"/>
            <a:ext cx="3200400" cy="320040"/>
          </a:xfrm>
          <a:prstGeom prst="roundRect">
            <a:avLst>
              <a:gd name="adj" fmla="val 17143"/>
            </a:avLst>
          </a:prstGeom>
          <a:solidFill>
            <a:srgbClr val="00B37D"/>
          </a:solidFill>
          <a:ln w="12700">
            <a:solidFill>
              <a:srgbClr val="00B37D"/>
            </a:solidFill>
            <a:prstDash val="solid"/>
          </a:ln>
        </p:spPr>
      </p:sp>
      <p:sp>
        <p:nvSpPr>
          <p:cNvPr id="17" name="Text 15"/>
          <p:cNvSpPr/>
          <p:nvPr/>
        </p:nvSpPr>
        <p:spPr>
          <a:xfrm>
            <a:off x="457200" y="4700016"/>
            <a:ext cx="3200400" cy="237744"/>
          </a:xfrm>
          <a:prstGeom prst="rect">
            <a:avLst/>
          </a:prstGeom>
          <a:noFill/>
          <a:ln/>
        </p:spPr>
        <p:txBody>
          <a:bodyPr wrap="square" rtlCol="0" anchor="ctr"/>
          <a:lstStyle/>
          <a:p>
            <a:pPr algn="ctr" indent="0" marL="0">
              <a:buNone/>
            </a:pPr>
            <a:r>
              <a:rPr lang="en-US" sz="800" b="1" dirty="0">
                <a:solidFill>
                  <a:srgbClr val="111111"/>
                </a:solidFill>
                <a:latin typeface="Calibri" pitchFamily="34" charset="0"/>
                <a:ea typeface="Calibri" pitchFamily="34" charset="-122"/>
                <a:cs typeface="Calibri" pitchFamily="34" charset="-120"/>
              </a:rPr>
              <a:t>aviqr.com  ·  Confidential  ·  June 2026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AviQR - Investor Pitch Deck</dc:title>
  <dc:subject>PptxGenJS Presentation</dc:subject>
  <dc:creator>AviQR Technologies Pvt Ltd</dc:creator>
  <cp:lastModifiedBy>AviQR Technologies Pvt Ltd</cp:lastModifiedBy>
  <cp:revision>1</cp:revision>
  <dcterms:created xsi:type="dcterms:W3CDTF">2026-06-14T18:48:43Z</dcterms:created>
  <dcterms:modified xsi:type="dcterms:W3CDTF">2026-06-14T18:48:43Z</dcterms:modified>
</cp:coreProperties>
</file>