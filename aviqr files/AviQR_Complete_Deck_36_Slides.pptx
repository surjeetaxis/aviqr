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QR-powered ordering for every food business  ·  pronounced A·V·I·Q·R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+  BUSINESS PLAN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turns any restaurant, hotel, or food court into a QR-powered AI ordering machine — no app download, no login, live in 10 minutes.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 N  |  sujeetn75@gmail.com  |  +91 88729 47878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14173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Rs.1.5Cr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14173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Rs.18Cr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ARR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14173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8952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0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menu. One scan.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206240" y="4160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slides  |  Bengaluru, India  |  June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menus are broken.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knows it. No one fixed it.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743200" cy="26517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1901952"/>
            <a:ext cx="731520" cy="7315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901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download apps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diners abandon ordering if asked to install an app. Your app has 12 reviews and a 3.1 star rating.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783080"/>
            <a:ext cx="2743200" cy="26517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0248" y="1901952"/>
            <a:ext cx="731520" cy="7315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270248" y="1901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1568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digitisation is a nightmare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01568" y="32918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owners are asked to type every item manually. A 200-item menu takes a full day. It never gets done.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1783080"/>
            <a:ext cx="2743200" cy="26517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14616" y="1901952"/>
            <a:ext cx="731520" cy="7315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214616" y="1901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45936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change, QR codes break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45936" y="32918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print a QR code, change their prices, and the code shows the wrong menu. So they stop using it.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million restaurants in India. Fewer than 3% have a working digital menu that customers actually use.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239926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239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Order. Done.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2651760" cy="3200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536192"/>
            <a:ext cx="822960" cy="82296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menu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 PDF to live digital menu in 15 min via AI OCR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389888"/>
            <a:ext cx="2651760" cy="3200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536192"/>
            <a:ext cx="822960" cy="82296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QR codes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per table, room, or counter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389888"/>
            <a:ext cx="2651760" cy="3200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1536192"/>
            <a:ext cx="822960" cy="82296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 No login. Scan, browse, pay.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29968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6" name="Text 24"/>
          <p:cNvSpPr/>
          <p:nvPr/>
        </p:nvSpPr>
        <p:spPr>
          <a:xfrm>
            <a:off x="2029968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URL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39896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8" name="Text 26"/>
          <p:cNvSpPr/>
          <p:nvPr/>
        </p:nvSpPr>
        <p:spPr>
          <a:xfrm>
            <a:off x="3739896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in 15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9824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5449824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59752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2" name="Text 30"/>
          <p:cNvSpPr/>
          <p:nvPr/>
        </p:nvSpPr>
        <p:spPr>
          <a:xfrm>
            <a:off x="7159752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phone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underpenetrated market.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834640" cy="2834640"/>
          </a:xfrm>
          <a:prstGeom prst="oval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7053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722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03763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F&amp;B digital ordering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1691640"/>
            <a:ext cx="2103120" cy="2103120"/>
          </a:xfrm>
          <a:prstGeom prst="oval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0071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24277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$820M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99557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table ordering SaaS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0" y="2103120"/>
            <a:ext cx="1371600" cy="1371600"/>
          </a:xfrm>
          <a:prstGeom prst="oval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23088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25831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953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Y3 (5k outlets)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7.5M+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in India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87168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32888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$9.5B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38728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ordering by 2027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54296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0016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05856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with no digital menu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21424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67144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Rs.2,499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72984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ARPU — Growth plan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food businesses.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AI-powered features that make AviQR the only complete QR ordering platform in the market.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73936"/>
            <a:ext cx="8229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WEDGE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25880" y="17373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Menu Upload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to live digital menu in 15 minutes. No typing.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1664208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773936"/>
            <a:ext cx="8229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41848" y="17373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AI Pricing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41848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hours, weekend rates, festival pricing — automated.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459736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569464"/>
            <a:ext cx="82296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69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25880" y="253288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Codes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never changes. Update menu anytime, same link.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2459736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2569464"/>
            <a:ext cx="82296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48" y="2569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41848" y="253288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41848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Kitchen, cashier, manager each see exactly what they need.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255264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364992"/>
            <a:ext cx="8229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364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325880" y="33284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Menu Suggestions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2588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missing items, popular combos &amp; price benchmarks.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36008" y="3255264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27448" y="3364992"/>
            <a:ext cx="8229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6" name="Text 34"/>
          <p:cNvSpPr/>
          <p:nvPr/>
        </p:nvSpPr>
        <p:spPr>
          <a:xfrm>
            <a:off x="4727448" y="3364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641848" y="33284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Prediction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41848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alerts, smart staffing, reorder recommendations.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050792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" y="4160520"/>
            <a:ext cx="822960" cy="20116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325880" y="412394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 &amp; OTP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325880" y="4398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role types. Every staff member has their own login.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36008" y="4050792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27448" y="4160520"/>
            <a:ext cx="822960" cy="20116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6" name="Text 44"/>
          <p:cNvSpPr/>
          <p:nvPr/>
        </p:nvSpPr>
        <p:spPr>
          <a:xfrm>
            <a:off x="4727448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41848" y="412394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Multi-outlet / Chain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41848" y="4398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menus between outlets. Central brand analytics.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400861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4008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+ transaction fee.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LAUNCH OFFER: First 500 restaurants — FREE for 90 days, then Rs.499/mo  |  No credit card  |  WhatsApp: +91 88729 47878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801368"/>
            <a:ext cx="2011680" cy="2971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Rs.999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 &amp; dhabas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127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QR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35112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orders/day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" y="3895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reports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41448" y="1801368"/>
            <a:ext cx="2011680" cy="2971800"/>
          </a:xfrm>
          <a:prstGeom prst="rect">
            <a:avLst/>
          </a:prstGeom>
          <a:solidFill>
            <a:srgbClr val="1A203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41448" y="1801368"/>
            <a:ext cx="2011680" cy="2560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2441448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2888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32888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Rs.2,499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532888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32888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51176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Dynamic AI pricing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51176" y="3694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OCR upload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51176" y="4078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roles &amp; analytics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54296" y="1801368"/>
            <a:ext cx="2011680" cy="2971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4573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45736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Rs.4,999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45736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45736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resorts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64024" y="3127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Room QR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64024" y="35112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domain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64024" y="3895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67144" y="1801368"/>
            <a:ext cx="2011680" cy="2971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58584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58584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Rs.1,999x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58584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58584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5+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76872" y="3127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 dashboard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76872" y="35112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Menu sync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76872" y="3895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 analytics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+ 0.5% transaction fee on online orders (waived on Growth+ with own Razorpay account)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 is strong.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outlets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87168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at 8 weeks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4296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4296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54296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orders/day/outlet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21424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Rs.3.2L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21424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487168"/>
            <a:ext cx="8503920" cy="11887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22960" y="2560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uploaded our menu photo on a Monday. By Tuesday lunch we had QR codes on every table. Our staff stopped taking orders by hand that same week.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Rajan K., Spice Route, Bengaluru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15568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334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filed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3913632"/>
            <a:ext cx="566928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91840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8" name="Text 26"/>
          <p:cNvSpPr/>
          <p:nvPr/>
        </p:nvSpPr>
        <p:spPr>
          <a:xfrm>
            <a:off x="2633472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33472" y="4334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87952" y="3913632"/>
            <a:ext cx="566928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468112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9744" y="4334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pilots live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64224" y="3913632"/>
            <a:ext cx="566928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644384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36" name="Text 34"/>
          <p:cNvSpPr/>
          <p:nvPr/>
        </p:nvSpPr>
        <p:spPr>
          <a:xfrm>
            <a:off x="6986016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86016" y="4334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launch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239926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239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City-by-city, then chain-by-chain.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43200" cy="34290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2743200" cy="2926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Now - Month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validation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 field sales — walk-in AI demos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free pilots then 20 paid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Restaurant association pitch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078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Referral: Rs.2k credit per conversion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1417320"/>
            <a:ext cx="2743200" cy="34290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417320"/>
            <a:ext cx="2743200" cy="2926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355848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 7-18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5848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revenue expansion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city execs — Chennai, Pune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Supplier chain deals 50+ outlets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Reseller partner network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4078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Target: 500 outlets, Rs.30L ARR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1417320"/>
            <a:ext cx="2743200" cy="34290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1417320"/>
            <a:ext cx="2743200" cy="2926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 19-36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0216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Series 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0216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cities with City GMs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216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Hotel and resort vertical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Mall and food court packages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0216" y="4078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Series A: Rs.8-15 Cr off traction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on speed to live.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274320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1389888"/>
            <a:ext cx="1371600" cy="274320"/>
          </a:xfrm>
          <a:prstGeom prst="rect">
            <a:avLst/>
          </a:prstGeom>
          <a:solidFill>
            <a:srgbClr val="009E78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389888"/>
            <a:ext cx="164592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eMenu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89888"/>
            <a:ext cx="128016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Petpooja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1389888"/>
            <a:ext cx="128016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menu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70078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7007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upload (photo to live)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71800" y="170078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17007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170078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17007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170078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700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69480" y="170078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1700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206654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0665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required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206654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0" y="2066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3400" y="206654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20665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206654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69480" y="206654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28600" y="243230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24323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— no reprint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71800" y="243230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41" name="Text 39"/>
          <p:cNvSpPr/>
          <p:nvPr/>
        </p:nvSpPr>
        <p:spPr>
          <a:xfrm>
            <a:off x="3017520" y="24323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43400" y="243230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0" y="24323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9320" y="243230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45" name="Text 43"/>
          <p:cNvSpPr/>
          <p:nvPr/>
        </p:nvSpPr>
        <p:spPr>
          <a:xfrm>
            <a:off x="6035040" y="24323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69480" y="243230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0" y="24323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28600" y="279806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time-based pricing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971800" y="279806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51" name="Text 49"/>
          <p:cNvSpPr/>
          <p:nvPr/>
        </p:nvSpPr>
        <p:spPr>
          <a:xfrm>
            <a:off x="3017520" y="27980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343400" y="279806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53" name="Text 51"/>
          <p:cNvSpPr/>
          <p:nvPr/>
        </p:nvSpPr>
        <p:spPr>
          <a:xfrm>
            <a:off x="4389120" y="27980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989320" y="279806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55" name="Text 53"/>
          <p:cNvSpPr/>
          <p:nvPr/>
        </p:nvSpPr>
        <p:spPr>
          <a:xfrm>
            <a:off x="6035040" y="27980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69480" y="279806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0" y="27980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28600" y="316382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3163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prediction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61" name="Text 59"/>
          <p:cNvSpPr/>
          <p:nvPr/>
        </p:nvSpPr>
        <p:spPr>
          <a:xfrm>
            <a:off x="3017520" y="31638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343400" y="316382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63" name="Text 61"/>
          <p:cNvSpPr/>
          <p:nvPr/>
        </p:nvSpPr>
        <p:spPr>
          <a:xfrm>
            <a:off x="4389120" y="31638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989320" y="316382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65" name="Text 63"/>
          <p:cNvSpPr/>
          <p:nvPr/>
        </p:nvSpPr>
        <p:spPr>
          <a:xfrm>
            <a:off x="6035040" y="31638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269480" y="316382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67" name="Text 65"/>
          <p:cNvSpPr/>
          <p:nvPr/>
        </p:nvSpPr>
        <p:spPr>
          <a:xfrm>
            <a:off x="7315200" y="31638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28600" y="352958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35295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and resort room QR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971800" y="352958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71" name="Text 69"/>
          <p:cNvSpPr/>
          <p:nvPr/>
        </p:nvSpPr>
        <p:spPr>
          <a:xfrm>
            <a:off x="3017520" y="35295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343400" y="352958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3" name="Text 71"/>
          <p:cNvSpPr/>
          <p:nvPr/>
        </p:nvSpPr>
        <p:spPr>
          <a:xfrm>
            <a:off x="4389120" y="3529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989320" y="352958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5" name="Text 73"/>
          <p:cNvSpPr/>
          <p:nvPr/>
        </p:nvSpPr>
        <p:spPr>
          <a:xfrm>
            <a:off x="6035040" y="35295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269480" y="352958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7" name="Text 75"/>
          <p:cNvSpPr/>
          <p:nvPr/>
        </p:nvSpPr>
        <p:spPr>
          <a:xfrm>
            <a:off x="7315200" y="35295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28600" y="389534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38953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Multi-outlet chain dash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71800" y="389534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81" name="Text 79"/>
          <p:cNvSpPr/>
          <p:nvPr/>
        </p:nvSpPr>
        <p:spPr>
          <a:xfrm>
            <a:off x="3017520" y="38953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343400" y="389534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83" name="Text 81"/>
          <p:cNvSpPr/>
          <p:nvPr/>
        </p:nvSpPr>
        <p:spPr>
          <a:xfrm>
            <a:off x="4389120" y="38953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989320" y="389534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85" name="Text 83"/>
          <p:cNvSpPr/>
          <p:nvPr/>
        </p:nvSpPr>
        <p:spPr>
          <a:xfrm>
            <a:off x="6035040" y="38953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269480" y="389534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87" name="Text 85"/>
          <p:cNvSpPr/>
          <p:nvPr/>
        </p:nvSpPr>
        <p:spPr>
          <a:xfrm>
            <a:off x="7315200" y="38953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228600" y="426110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89" name="Text 87"/>
          <p:cNvSpPr/>
          <p:nvPr/>
        </p:nvSpPr>
        <p:spPr>
          <a:xfrm>
            <a:off x="274320" y="42611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971800" y="426110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91" name="Text 89"/>
          <p:cNvSpPr/>
          <p:nvPr/>
        </p:nvSpPr>
        <p:spPr>
          <a:xfrm>
            <a:off x="3017520" y="42611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343400" y="426110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93" name="Text 91"/>
          <p:cNvSpPr/>
          <p:nvPr/>
        </p:nvSpPr>
        <p:spPr>
          <a:xfrm>
            <a:off x="4389120" y="4261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day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989320" y="426110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95" name="Text 93"/>
          <p:cNvSpPr/>
          <p:nvPr/>
        </p:nvSpPr>
        <p:spPr>
          <a:xfrm>
            <a:off x="6035040" y="4261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269480" y="426110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97" name="Text 95"/>
          <p:cNvSpPr/>
          <p:nvPr/>
        </p:nvSpPr>
        <p:spPr>
          <a:xfrm>
            <a:off x="7315200" y="4261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done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28600" y="462686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99" name="Text 97"/>
          <p:cNvSpPr/>
          <p:nvPr/>
        </p:nvSpPr>
        <p:spPr>
          <a:xfrm>
            <a:off x="274320" y="46268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 India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971800" y="462686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101" name="Text 99"/>
          <p:cNvSpPr/>
          <p:nvPr/>
        </p:nvSpPr>
        <p:spPr>
          <a:xfrm>
            <a:off x="3017520" y="46268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Rs.499/mo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343400" y="462686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03" name="Text 101"/>
          <p:cNvSpPr/>
          <p:nvPr/>
        </p:nvSpPr>
        <p:spPr>
          <a:xfrm>
            <a:off x="4389120" y="46268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Rs.799/mo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989320" y="462686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05" name="Text 103"/>
          <p:cNvSpPr/>
          <p:nvPr/>
        </p:nvSpPr>
        <p:spPr>
          <a:xfrm>
            <a:off x="6035040" y="4626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Rs.1,200/mo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269480" y="462686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7315200" y="4626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path to Rs.18 Cr ARR.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Rs.2,200 blended ARPU  |  70% Growth-plan mix  |  5% monthly churn modelled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56032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011680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011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outlets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0644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468880"/>
            <a:ext cx="2560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468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Rs.1,800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4340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Rs.2,100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644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Rs.2,300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6948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Rs.2,500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2926080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29260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8036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2" name="Text 40"/>
          <p:cNvSpPr/>
          <p:nvPr/>
        </p:nvSpPr>
        <p:spPr>
          <a:xfrm>
            <a:off x="292608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Rs.1.08L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4340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Rs.3.15L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80644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Rs.16.1L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6948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Rs.1.25Cr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3383280"/>
            <a:ext cx="2560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33832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8036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92608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Rs.13L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34340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38912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Rs.37.8L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80644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85216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Rs.1.93Cr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26948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31520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Rs.15Cr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0040" y="3840480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38404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88036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2" name="Text 60"/>
          <p:cNvSpPr/>
          <p:nvPr/>
        </p:nvSpPr>
        <p:spPr>
          <a:xfrm>
            <a:off x="292608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34340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4" name="Text 62"/>
          <p:cNvSpPr/>
          <p:nvPr/>
        </p:nvSpPr>
        <p:spPr>
          <a:xfrm>
            <a:off x="438912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80644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6" name="Text 64"/>
          <p:cNvSpPr/>
          <p:nvPr/>
        </p:nvSpPr>
        <p:spPr>
          <a:xfrm>
            <a:off x="585216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26948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8" name="Text 66"/>
          <p:cNvSpPr/>
          <p:nvPr/>
        </p:nvSpPr>
        <p:spPr>
          <a:xfrm>
            <a:off x="731520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4370832"/>
            <a:ext cx="8503920" cy="502920"/>
          </a:xfrm>
          <a:prstGeom prst="rect">
            <a:avLst/>
          </a:prstGeom>
          <a:solidFill>
            <a:srgbClr val="E8FD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20040" y="43708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Month 22  |  Gross margin: 78% at scale  |  CAC: Rs.4,200  |  LTV: Rs.38,400  |  LTV:CAC = 9.1x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Rs.1.5 Cr seed round.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2011680" cy="2560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 — supplier dashboard, hotel module, scalability.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1417320"/>
            <a:ext cx="201168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city sales execs. Target 150 paid outlets by M18.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45736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417320"/>
            <a:ext cx="2011680" cy="25603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37176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AI OCR API (Google Vision), Razorpay, monitoring.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58584" y="1417320"/>
            <a:ext cx="2011680" cy="256032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50024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Admin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50024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Trademark, compliance, accountancy, Startup India.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 18 months  |  Valuation: Rs.6-8 Cr post-money  |  CCPS or equity  |  AviQR Technologies Pvt Ltd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focused, and shipping.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commercial skills to execute. Looking for capital, not co-founders.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 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057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AviQR from zero. 10+ years enterprise SaaS. Owns product, engineering, and investor relations.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6008" y="160020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92024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96128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96128" y="2057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96128" y="2286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and React Native specialist. Built and scaled backend systems for 2M+ daily active users.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5760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794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up in her family's restaurant in Chennai. Knows every objection an owner can raise — and the answer.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36008" y="333756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365760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96128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96128" y="3794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96128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POS and ordering UX for a 50+ outlet QSR chain. Now building the product he always wished existed.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2 advisors: former VP at a leading Indian restaurant chain and an ex-partner at a Bengaluru SaaS fund.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ready.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just caught up.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198424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556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 at 79%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07568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menus failed in 2018 because half the base couldn't use them. Not anymore.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36008" y="166420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198424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7556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accuracy crossed 95%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93208" y="207568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 and Textract now read Indian-language menus reliably.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1576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303580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07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India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12724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sales, onboarding, and support run on WhatsApp. Zero friction for owners.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36008" y="271576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45736" y="303580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807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mainstream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3208" y="312724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smartphones have a UPI app. Online payment for food is a habit.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408736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8587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hygiene shift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17880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diners prefer contactless menus. Owners are actively looking.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6008" y="376732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45736" y="408736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38587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AI player yet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93208" y="417880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Dotpe has funding but no AI OCR, no permanent QR, no hotel vertical.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AI-powered QR menu layer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7.5 million restaurants.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1920240"/>
            <a:ext cx="4572000" cy="14173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313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sujeetn75@gmail.com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615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Koramangala, Bengaluru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916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15-36: Full Business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action plan  |  Company structure  |  Revenue model  |  Hiring plan  |  Risk framework  |  Social &amp; contact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Technologies Pvt Ltd  ·  Bengaluru, Karnataka  · 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Technologies Pvt Ltd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850392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44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office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4447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Koramangala, Bengaluru, Karnataka — 560034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83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8836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|  CIN: U74999KA2026PTC000000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850392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22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status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3225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Limited Company  |  DPIIT Startup India Recognised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06624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7614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45536"/>
            <a:ext cx="850392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contact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200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  |  sujeetn75@gmail.com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39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6393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subscription + payment transaction fee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850392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78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40782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hotels, malls, food courts — India (SME to chain)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462272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17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target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45171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Rs.1.5 Crore  |  18-month runway  |  CCPS preferred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1594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Vision. Mission. Values.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107899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201168" cy="10789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operating system for ordering in every Indian food business — from a 5-table dhaba in Bengaluru to a 500-room resort in Goa.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8503920" cy="107899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87752"/>
            <a:ext cx="201168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79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999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digital ordering so fast and effortless that no restaurant owner ever has to hand a customer a laminated menu again.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58184"/>
            <a:ext cx="8503920" cy="107899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58184"/>
            <a:ext cx="201168" cy="107899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49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mindset — ship fast, fix fast. India-first — every feature designed for Indian payment, language, and culture. Customer obsession — 15-minute response on WhatsApp, always.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803197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8031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ACTION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execution.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069080" cy="107899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572768"/>
            <a:ext cx="640080" cy="64008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Foundation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17922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 Ltd filed. Spring Boot + Postgres schema. OTP auth + JWT. Deploy to AWS with CI/CD.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1389888"/>
            <a:ext cx="4069080" cy="107899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572768"/>
            <a:ext cx="640080" cy="64008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58968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Working Product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58968" y="17922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web app: QR scan, menu, cart, order. Owner app: login, menu CRUD, QR generate. Razorpay.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78608"/>
            <a:ext cx="4069080" cy="107899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761488"/>
            <a:ext cx="640080" cy="64008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— 10 Pilot Outlets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298094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demos in Bengaluru. Sign 10 free pilots. AI OCR upload live. WhatsApp group with pilots.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6008" y="2578608"/>
            <a:ext cx="4069080" cy="107899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2761488"/>
            <a:ext cx="640080" cy="64008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8968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— Iterate on Feedback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58968" y="298094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critical bugs. AI Dynamic pricing engine live. Staff roles. Sales report. Video testimonials.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767328"/>
            <a:ext cx="4069080" cy="107899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950208"/>
            <a:ext cx="640080" cy="64008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950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30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 — Pricing &amp; Legal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43000" y="41696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Pilot-to-paid conversations. Finalise Starter/Growth/Business tiers. ToS and Privacy Policy.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36008" y="3767328"/>
            <a:ext cx="4069080" cy="107899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27448" y="3950208"/>
            <a:ext cx="640080" cy="64008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35" name="Text 33"/>
          <p:cNvSpPr/>
          <p:nvPr/>
        </p:nvSpPr>
        <p:spPr>
          <a:xfrm>
            <a:off x="4727448" y="3950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58968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— Paid Launch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58968" y="41696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7-10 pilots to paid. Cold outreach to 50 restaurants. Target: 20 paying outlets, Rs.3-5L MRR.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481328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 and when.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16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phase — every feature tied to a revenue or retention milestone.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743200" cy="331012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2743200" cy="2926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72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1-3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 scan to live menu (no login)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OTP auth for owners and staff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Menu CRUD + toggle availability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198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Razorpay payment + cash option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04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 QR + order 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sales report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1572768"/>
            <a:ext cx="2743200" cy="331012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572768"/>
            <a:ext cx="274320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355848" y="1572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4-6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19659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OCR menu upload (photo/PDF)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24505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Dynamic pricing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935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roles: kitchen, cashier, waiter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34198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 rating and feedback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1568" y="3904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Supplier multi-outlet 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4389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notification on new order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1572768"/>
            <a:ext cx="2743200" cy="331012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572768"/>
            <a:ext cx="2743200" cy="29260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1572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7-12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5936" y="19659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Hotel room QR and room billing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24505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Mall and food court multi-shop 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2935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Menu copy/sync across outlets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34198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analytics and export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3904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Delivery and pickup mode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45936" y="4389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demand prediction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Enterprise-grade. India-cost.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630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Mobile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Expo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from one codebase. NativeWind (Tailwind). Expo Router.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36008" y="1389888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4630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73168" y="16642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Java 21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9202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multi-module. Spring Security + RS256 JWT. Springdoc OpenAPI 3. AWS ECS.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359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Liquibase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16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transactional data. Schema migrations by Liquibase. AWS RDS ap-south-1 Mumbai.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36008" y="2286000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2359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Audit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73168" y="2560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2816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logs, audit trail, AI OCR logs, QR scan analytics, payment webhook logs.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182112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2552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Engine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456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7124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photo to JSON extraction. Pluggable adapter — can switch to AWS Textract. 95%+ accuracy.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36008" y="3182112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32552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3456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37124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cards, net banking, wallets. Webhook signature verified. Subscription billing. 0.5% fee.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078224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1513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3525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 (Java)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6085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QR codes server-side. Permanent code URL never changes. Downloadable from owner app.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36008" y="4078224"/>
            <a:ext cx="4069080" cy="80467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73168" y="41513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73168" y="43525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Docker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73168" y="46085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for backend. S3 for images. CloudFront CDN. Prometheus + Grafana monitoring.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72273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722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HIRING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hire and when.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hires funded from the Rs.1.5 Cr seed round. Engineering first, sales second.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47548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Founder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719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equity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 N — CEO &amp; Product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0" y="1901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product, tech, and investor relations.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57984"/>
            <a:ext cx="8503920" cy="475488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49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Co-founder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2249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equity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1945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K — CTO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24323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infra, React Native. Ships the MVP.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88336"/>
            <a:ext cx="8503920" cy="47548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797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0" y="27797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Rs.60-80k/mo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27249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 — Engineer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0" y="296265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Spring Boot. Ship faster, cover more features.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8503920" cy="475488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Rs.35k + commission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0" y="32552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 x2 — Sales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0" y="34930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demos in Bengaluru and Chennai.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8503920" cy="47548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Rs.40k/mo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0" y="37856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— CS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31920" y="40233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churn. Onboard every new paid outlet personally.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8503920" cy="475488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94560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Rs.55k/mo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43159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— Design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31920" y="45537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app and owner UX based on feedback data.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2527402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2527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 — DETAIL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Rs.0 to Rs.18 Cr ARR in 36 months.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56032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298448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298448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1298448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682496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682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outlets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16824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1682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16824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1682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16824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1682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16824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1682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139696"/>
            <a:ext cx="2560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1396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80360" y="21396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0" y="2139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Rs.1,800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21396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2139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Rs.2,100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21396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2139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Rs.2,300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69480" y="21396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21396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Rs.2,500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2596896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5968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80360" y="25968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0" y="2596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Rs.1.08L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25968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0" y="2596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Rs.3.15L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06440" y="25968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2596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Rs.16.1L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69480" y="25968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0" y="2596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Rs.1.25Cr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3054096"/>
            <a:ext cx="2560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0540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880360" y="30540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926080" y="3054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Rs.13L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343400" y="30540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389120" y="3054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Rs.37.8L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06440" y="30540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5852160" y="3054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Rs.1.93Cr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269480" y="3054096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0" y="3054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Rs.15Cr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" y="3511296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5112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880360" y="35112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1" name="Text 59"/>
          <p:cNvSpPr/>
          <p:nvPr/>
        </p:nvSpPr>
        <p:spPr>
          <a:xfrm>
            <a:off x="2926080" y="35112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343400" y="35112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3" name="Text 61"/>
          <p:cNvSpPr/>
          <p:nvPr/>
        </p:nvSpPr>
        <p:spPr>
          <a:xfrm>
            <a:off x="4389120" y="35112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806440" y="35112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5" name="Text 63"/>
          <p:cNvSpPr/>
          <p:nvPr/>
        </p:nvSpPr>
        <p:spPr>
          <a:xfrm>
            <a:off x="5852160" y="35112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269480" y="3511296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7" name="Text 65"/>
          <p:cNvSpPr/>
          <p:nvPr/>
        </p:nvSpPr>
        <p:spPr>
          <a:xfrm>
            <a:off x="7315200" y="35112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20040" y="4069080"/>
            <a:ext cx="8503920" cy="502920"/>
          </a:xfrm>
          <a:prstGeom prst="rect">
            <a:avLst/>
          </a:prstGeom>
          <a:solidFill>
            <a:srgbClr val="E8FD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20040" y="40690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Month 22  |  CAC: Rs.4,200  |  LTV: Rs.38,400  |  LTV:CAC = 9.1x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400861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4008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work.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743200" cy="12618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4996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Rs.2,499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ARPU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(Growth plan)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389888"/>
            <a:ext cx="2743200" cy="12618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14996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Rs.4,200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21031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1389888"/>
            <a:ext cx="2743200" cy="12618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08776" y="14996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Rs.38,400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45936" y="21031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(24-month avg)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2743200" cy="12618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9169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&gt;3x)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2807208"/>
            <a:ext cx="2743200" cy="12618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64408" y="29169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401568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700 outlets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2807208"/>
            <a:ext cx="2743200" cy="12618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08776" y="29169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45936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break-even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breakdown: Rs.1,800 field sales time + Rs.1,200 digital ads + Rs.1,200 infrastructure per new outlet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2205533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22055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DEEP DIVE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acquisition channels.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ROI. Field sales is the highest-converting channel in year 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8503920" cy="7132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28216"/>
            <a:ext cx="502920" cy="5029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6550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field 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655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close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9476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into restaurants with a live AI demo on phone. Demo takes 90 seconds. Owner sees their own menu as a QR in real time. Close on the spot with a WhatsApp sign-up.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8503920" cy="7132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32888"/>
            <a:ext cx="502920" cy="5029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459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459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Rs.2,000 credit/referral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75234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paying owner gets a unique referral link. Rs.2,000 account credit when the referred outlet converts to paid. Restaurant owners talk constantly — this compounds.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09544"/>
            <a:ext cx="8503920" cy="7132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337560"/>
            <a:ext cx="502920" cy="5029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264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 / agent network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rev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557016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vendors, digital menu printers, food photographers already have trusted relationships with owners. We white-label or co-brand for them.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014216"/>
            <a:ext cx="8503920" cy="7132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4142232"/>
            <a:ext cx="502920" cy="5029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4069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SEO + content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4069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 payback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3616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'Digital menu for restaurants India' — low competition, high intent. One case study per month with real order numbers drives 15-20% of inbound.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320394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320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handle them.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65836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640080" cy="6583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716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142646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— Dotpe or Zomato launches AI OCR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AI OCR alone is not a moat. The moat is permanent QR + hotel vertical + multi-outlet workflow + WhatsApp-first support. Build the full system fast.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8503920" cy="65836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03120"/>
            <a:ext cx="640080" cy="6583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031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1560" y="215798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if product is buggy at launch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423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Limit paid launch to 50 outlets while QA is active. Assign a named customer success contact to every pilot. Weekly call for first 8 weeks.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8503920" cy="65836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640080" cy="6583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8346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288950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sales cycle for hotels and malls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15468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Keep cash flow healthy with SME restaurant revenue. Treat hotel deals as upside. One hotel deal = 8x ARR of one restaurant outlet.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8503920" cy="65836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66160"/>
            <a:ext cx="640080" cy="6583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5661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1560" y="362102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accuracy on handwritten menus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88620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Google Vision handles printed menus at 95%+. For handwritten: flag low-confidence items for owner review. Never auto-publish without approval.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297680"/>
            <a:ext cx="8503920" cy="65836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297680"/>
            <a:ext cx="640080" cy="6583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2976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" y="435254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scaling at 10k+ orders/day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61772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Spring Boot + PostgreSQL architecture is proven at 100x this load. Move to Kubernetes at Month 8 as precaution. Load test monthly.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2607869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26078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 &amp; STRUCTURE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order before first rupee.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89888"/>
            <a:ext cx="406908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89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Private Limited Company — MCA filed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4-year founder vesting, 1-year cliff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IP assignment from all contractors and employees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Shareholders agreement between all founders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6008" y="138988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6008" y="1389888"/>
            <a:ext cx="406908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389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Finance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737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GST registration from Day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20574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DPIIT Startup India — 3-year tax holiday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2377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account with Razorpay or HDFC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26974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CA-reviewed books from Month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17296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72968"/>
            <a:ext cx="406908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729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Privacy Policy and Terms of Service live before first paid user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stored in India (AWS Mumbai ap-south-1)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PCI-DSS compliance for payment flows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PDPB (Personal Data Protection) compliant architecture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36008" y="317296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36008" y="3172968"/>
            <a:ext cx="406908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1729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520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'AviQR' trademark filed in Class 42 (software) and Class 43 (food services)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3168" y="38404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Domain: aviqr.com and aviqr.app registered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41605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code ownership: all code is company IP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4480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open-source GPL code in commercial product layer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239926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239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AviQR lives online.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8503920" cy="6400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@aviqr.com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 followers by M12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144475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Before/after: paper menu vs QR demo. Pilot owner reels. 3 posts/week. Target: F&amp;B owners and food influencers in metro cities.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8503920" cy="6400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Technologies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2157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followers by M6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215798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posts on Indian restaurant tech, startup journey, product decisions. Investor and enterprise buyer audience. 5 posts/week.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16352"/>
            <a:ext cx="8503920" cy="6400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871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163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@aviqr_in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followers by M12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28712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product updates, founder opinion on F&amp;B tech, reply to restaurant owners. Quick and raw. Daily posting.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529584"/>
            <a:ext cx="8503920" cy="6400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@aviqr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3584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subscribers by M6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58444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setup walkthroughs. AI OCR demo. Pilot owner testimonials. Evergreen content for 'how does AviQR work' searches.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242816"/>
            <a:ext cx="8503920" cy="6400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03120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sales channel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42976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inbound leads, support, and onboarding run on WhatsApp. Pre-written message templates for demos, trial start, and issue resolution.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post. Why it works.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serves one goal: make restaurant owners trust AviQR before they ever speak to 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4069080" cy="10058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Website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214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pilot outlet. Real order numbers. Real quote from owner. Published by Month 4. Single highest-converting content piece.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36008" y="1572768"/>
            <a:ext cx="4069080" cy="10058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645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walkthrough video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04888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weeks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92024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+ Instagram Reel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3168" y="21214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recording: owner uploads menu photo, AI OCR runs, QR generated, customer scans. Under 3 minutes. Gets shared in owner WhatsApp groups.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88336"/>
            <a:ext cx="4069080" cy="10058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daily post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5x/week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0358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Twitter/X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369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is working and what is not. Build the audience before Series A. Investors read this.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36008" y="2688336"/>
            <a:ext cx="4069080" cy="10058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reel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04888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0358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2369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owner typing menu manually vs. AI OCR upload completing in 15 seconds. No narration needed.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803904"/>
            <a:ext cx="4069080" cy="10058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877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 post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88920" y="3877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release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1513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3525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feature gets a short demo post. Shows momentum. Keeps the community engaged between major launches.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36008" y="3803904"/>
            <a:ext cx="4069080" cy="10058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3877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04888" y="3877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73168" y="41513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43525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per month to all pilot and paid users. Update on new features, upcoming training, referral programme reminder. Open rate 95%+.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SOCIAL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way to reach AviQR.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069080" cy="33832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(fastest)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720" y="1755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Call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23042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852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2852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sujeetn75@gmail.com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34015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Koramangala, Bengaluru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— 560034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950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325880"/>
            <a:ext cx="4069080" cy="33832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channels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17556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@aviqr.com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1938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restaurant owners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304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Technologies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487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 and partners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2852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8529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@aviqr_in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3035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 and tech updates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401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3401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@aviqr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3584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walkthroughs and demos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3950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3950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4133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support, and onboarding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320394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320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expect. Answers we have.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63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will you win against Dotpe?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two features they don't: AI OCR menu upload and permanent QR codes. AI OCR removes the biggest barrier to adoption. Permanent QR removes the biggest reason owners quit.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138988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1463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93208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94% retention real with only 10 pilots?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3168" y="2011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93208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early, we acknowledge that. But 10 real outlets, paying nothing (no lock-in incentive), actively using the product 8 weeks in. We have the order logs to prove 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17296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246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path to Series A?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paying outlets and Rs.30L ARR by Month 18. That is a Rs.3.6 Cr ARR run rate with 80%+ gross margin. At a 5x ARR multiple that is an Rs.18 Cr valuation.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6008" y="3172968"/>
            <a:ext cx="4069080" cy="1627632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73168" y="3246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93208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your valuation Rs.6-8 Cr pre-Series A?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794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93208" y="3794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seed-stage Indian B2B SaaS companies raise at 6-10x ARR or 8-15x forward ARR. We are asking for Rs.1.5 Cr at an Rs.8 Cr post-money cap — conservative for this stage.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883664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raise the Rs.1.5 Cr.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fit for a B2B SaaS India-first startup at pre-seed / seed stage.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98755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27632"/>
            <a:ext cx="1188720" cy="98755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27632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choice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719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Angel Networks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0391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Angels, Chennai Angels, ah! Ventures, LetsVenture. Rs.25-75L per angel. Target: close 4-6 angels at Rs.25L each. Warm intros via pilot owners and CA network.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24912"/>
            <a:ext cx="8503920" cy="98755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24912"/>
            <a:ext cx="1188720" cy="9875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724912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choice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8163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Accelerators — Apply now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Combinator (batch Jan 2027), Antler India, Surge by Sequoia, GrowthX. All accept pre-revenue or early traction. YC is the prize — apply regardless of stage.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98755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22192"/>
            <a:ext cx="1188720" cy="9875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822192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choice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9136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VCs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423367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Beenext, Lightspeed Emerge, Titan Capital, Blume Ventures. Rs.50L-2Cr cheques at seed. Need Rs.15L ARR traction before approaching. Target approach: Month 8.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raise when you have retention data, not just product. 94% at 8 weeks is your story. Use it.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400861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4008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to paid in one conversation.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guide for Month 5 — when pilots become paying customers.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7315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1188720" cy="7315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57276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16642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 been using AviQR for [X] weeks now. I can see from the dashboard that you have processed [N] orders. How has it been?" — Let them talk first. They will tell you what they love. That is your anchor.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8503920" cy="7315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95728"/>
            <a:ext cx="1188720" cy="7315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39572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48716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sounds like the [AI OCR upload / happy hour pricing / order dashboard] has been the most useful. Is there anything that has not worked the way you expected?" — Fix blockers before asking for money.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18688"/>
            <a:ext cx="8503920" cy="7315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18688"/>
            <a:ext cx="1188720" cy="7315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2186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pricing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331012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launching our paid plans next week. Because you have been a pilot partner, we want to offer you 50% off the first 6 months. The Growth plan you are on is Rs.2,499 — you would pay Rs.1,250 until [date]."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8503920" cy="7315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41648"/>
            <a:ext cx="1188720" cy="7315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0416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413308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"Great. I will send the payment link on WhatsApp right now. Once you pay, you are on the Growth plan and nothing changes — same QR codes, same menu, same dashboard." — Do not overcomplicate 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solidFill>
            <a:srgbClr val="E8FDF7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objection is price. The answer is always ROI, not features. Rs.12k/mo waiter salary vs Rs.2,499/mo AviQR.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measure. Why it matters.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069080" cy="162763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89888"/>
            <a:ext cx="406908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89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MRR — measured weekly, reported monthly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482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ARR — reported quarterly to investors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ARPU — tracked by plan tier separately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Net Revenue Retention — target &gt;110%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36008" y="1389888"/>
            <a:ext cx="4069080" cy="162763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6008" y="1389888"/>
            <a:ext cx="406908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389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Monthly outlet churn rate — target &lt;5%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20482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8-week retention (pilot to paid test)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23591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Days since last order per outlet (activity)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3168" y="26700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NPS score from owner app — monthly survey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72968"/>
            <a:ext cx="4069080" cy="162763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72968"/>
            <a:ext cx="406908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729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Time from signup to first QR — target &lt;15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831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OCR confidence score — flag &lt;80%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142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Order-to-payment conversion rate per outlet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453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Menu load time — target &lt;1.5 seconds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36008" y="3172968"/>
            <a:ext cx="4069080" cy="162763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36008" y="3172968"/>
            <a:ext cx="406908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1729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520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Walk-in demos per day per sales exec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3831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Demo-to-trial rate — target &gt;40%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3168" y="4142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Trial-to-paid rate — target &gt;60%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4453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CAC by channel: field vs digital vs referral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803197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8031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MILESTONES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board metrics. Every milestone has a specific number and a specific date.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4069080" cy="1572768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406908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727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pilot outlets actively using AviQR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OCR menu upload working end-to-end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Owner app available on iOS and Android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8163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critical bugs in production for 7 days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6008" y="1572768"/>
            <a:ext cx="4069080" cy="1572768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6008" y="1572768"/>
            <a:ext cx="406908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5727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938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 paying outlets — Rs.3-5L MRR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22311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sales executive hired and ramped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25237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Case study published with real order data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73168" y="28163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30-day trial launched on Growth plan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310128"/>
            <a:ext cx="4069080" cy="1572768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10128"/>
            <a:ext cx="406908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10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6758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paying outlets — Rs.15L MRR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968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Supplier multi-outlet dashboard launched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2611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Second city (Chennai or Pune) added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5537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 signed LOIs from hotel groups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6008" y="3310128"/>
            <a:ext cx="4069080" cy="1572768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36008" y="3310128"/>
            <a:ext cx="406908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310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36758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150-200 paying outlets — Rs.25-30L MRR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3968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Hotel and resort module live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42611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Series A materials ready (deck + data room)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45537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Second full-stack developer hired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642262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6422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FOUNDER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9560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  ·  AviQR Technologies Pvt Ltd  ·  Confidential  · 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 N — Founder &amp; CEO.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371600" cy="1371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25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090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sujeetn75@gmail.com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0" y="1325880"/>
            <a:ext cx="6995160" cy="822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1380744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16459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building enterprise SaaS products. Previously worked as senior software engineer and product manager at B2B SaaS companies serving Indian SMEs.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2258568"/>
            <a:ext cx="6995160" cy="822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65960" y="2313432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AviQR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257860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his cousin spend an entire Sunday retyping a 180-item restaurant menu into a competitor's app — only to abandon it when the prices changed and the QR broke. Built AviQR to fix that specific problem.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3191256"/>
            <a:ext cx="6995160" cy="822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65960" y="3246120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3511296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technical ownership (Spring Boot + React Native). Product strategy and UX instinct built from 10 years of watching real users. Investor relations and fundraising — comfortable in front of angels and VCs.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4123944"/>
            <a:ext cx="6995160" cy="822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65960" y="4178808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looking for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4443984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Rs.1.5 Cr seed capital. Two engineers. Two sales people. And advisors who have sold B2B SaaS to Indian restaurant owners before.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0" y="365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AI-powered QR menu layer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7.5 million restaurants.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1920240"/>
            <a:ext cx="4572000" cy="14173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313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sujeetn75@gmail.com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615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Koramangala, Bengaluru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916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Rs.1.5 Cr  |  CCPS  |  18-month runway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858768"/>
            <a:ext cx="7315200" cy="658368"/>
          </a:xfrm>
          <a:prstGeom prst="rect">
            <a:avLst/>
          </a:prstGeom>
          <a:solidFill>
            <a:srgbClr val="009E7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LAUNCH OFFER: First 500 restaurants FREE for 90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69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88729 47878  ·  aviqr.com  ·  No credit card required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864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Technologies Pvt Ltd  ·  Confidential  ·  June 2026  |  36 / 36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2026-06-15T00:07:57Z</dcterms:created>
  <dcterms:modified xsi:type="dcterms:W3CDTF">2026-06-15T00:07:57Z</dcterms:modified>
</cp:coreProperties>
</file>